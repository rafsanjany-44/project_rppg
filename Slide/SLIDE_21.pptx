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622" r:id="rId3"/>
    <p:sldId id="618" r:id="rId4"/>
    <p:sldId id="626" r:id="rId5"/>
    <p:sldId id="623" r:id="rId6"/>
    <p:sldId id="624" r:id="rId7"/>
    <p:sldId id="627" r:id="rId8"/>
    <p:sldId id="628" r:id="rId9"/>
    <p:sldId id="629" r:id="rId10"/>
    <p:sldId id="630" r:id="rId11"/>
    <p:sldId id="631" r:id="rId12"/>
    <p:sldId id="632" r:id="rId13"/>
    <p:sldId id="625" r:id="rId14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8B03"/>
    <a:srgbClr val="FB7405"/>
    <a:srgbClr val="FF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47" autoAdjust="0"/>
  </p:normalViewPr>
  <p:slideViewPr>
    <p:cSldViewPr>
      <p:cViewPr varScale="1">
        <p:scale>
          <a:sx n="117" d="100"/>
          <a:sy n="117" d="100"/>
        </p:scale>
        <p:origin x="1543" y="48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097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349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165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745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791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868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561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805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553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786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381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eurradiolexp.springeropen.com/articles/10.1186/s41747-023-00363-8?utm_source=chatgpt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1648-9144/59/8/1479?utm_source=chatgpt.com" TargetMode="External"/><Relationship Id="rId5" Type="http://schemas.openxmlformats.org/officeDocument/2006/relationships/hyperlink" Target="https://pmc.ncbi.nlm.nih.gov/articles/PMC9424264/?utm_source=chatgpt.com" TargetMode="Externa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https://openaccess.thecvf.com/content_CVPRW_2020/papers/w19/Yoshioka_Analysis_of_Pulse_Transit_Time_Derived_From_Imaging_Photoplethysmography_and_CVPRW_2020_paper.pdf" TargetMode="External"/><Relationship Id="rId4" Type="http://schemas.openxmlformats.org/officeDocument/2006/relationships/hyperlink" Target="https://www.nature.com/articles/s41598-020-73143-8" TargetMode="External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hyperlink" Target="https://openaccess.thecvf.com/content_CVPRW_2020/papers/w19/Yoshioka_Analysis_of_Pulse_Transit_Time_Derived_From_Imaging_Photoplethysmography_and_CVPRW_2020_paper.pdf" TargetMode="External"/><Relationship Id="rId4" Type="http://schemas.openxmlformats.org/officeDocument/2006/relationships/hyperlink" Target="https://www.nature.com/articles/s41598-020-73143-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91560" y="3535281"/>
            <a:ext cx="56886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Rafsan</a:t>
            </a:r>
            <a:r>
              <a:rPr lang="ko-KR" altLang="en-US" sz="2500" dirty="0">
                <a:latin typeface="Caladea" panose="020B0600000101010101" charset="0"/>
                <a:ea typeface="HY중고딕" pitchFamily="18" charset="-127"/>
              </a:rPr>
              <a:t> </a:t>
            </a:r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Jany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adea" panose="020B0600000101010101" charset="0"/>
                <a:cs typeface="Assistant" pitchFamily="2" charset="-79"/>
              </a:rPr>
              <a:t>Korean Convergence Medical Science</a:t>
            </a:r>
            <a:endParaRPr lang="en-US" sz="2400" b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810195" y="1980431"/>
            <a:ext cx="9251361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Phase Lag Experiment </a:t>
            </a:r>
          </a:p>
          <a:p>
            <a:pPr algn="ct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Breaking Down </a:t>
            </a:r>
            <a:r>
              <a:rPr lang="en-US" altLang="ko-KR" sz="2800" dirty="0" err="1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rPPG-ToolBox</a:t>
            </a:r>
            <a:endParaRPr lang="en-US" altLang="ko-KR" sz="2800" dirty="0">
              <a:solidFill>
                <a:srgbClr val="000000"/>
              </a:solidFill>
              <a:latin typeface="Caladea" panose="020B0600000101010101" charset="0"/>
              <a:ea typeface="HY견고딕" pitchFamily="18" charset="-127"/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GT </a:t>
            </a:r>
            <a:r>
              <a:rPr lang="en-US" altLang="ko-KR" sz="2400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Resampler</a:t>
            </a: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 Mechanism from </a:t>
            </a:r>
            <a:r>
              <a:rPr lang="en-US" altLang="ko-KR" sz="2400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rPPG</a:t>
            </a: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-toolbox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D7593-5CB4-5077-E5BF-353F81D79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32" y="970082"/>
            <a:ext cx="3055197" cy="1080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7B9253-44F7-D601-BB75-B834E68DE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532" y="995884"/>
            <a:ext cx="3024336" cy="10713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2016CB-6267-292D-3986-EA5F0FF3B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9774" y="974840"/>
            <a:ext cx="3052111" cy="10801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ABF25B-94C7-CE12-F3B1-607168D457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32" y="2153213"/>
            <a:ext cx="3055197" cy="10801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44A426-011D-30FC-53CB-56E0CAC5A1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4532" y="2157387"/>
            <a:ext cx="3024336" cy="10713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765830-357D-C4FE-6D00-B5B3CF5322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9774" y="2153213"/>
            <a:ext cx="3024336" cy="10702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248E94-9232-46A7-8271-65CA6A7BE6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132" y="3345726"/>
            <a:ext cx="3055197" cy="10801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5A1B9B-198C-C71D-2164-FBB19F29CD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1770" y="3345726"/>
            <a:ext cx="3024337" cy="10713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D8114C-9488-B30A-4BDB-72763B4563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1717" y="3349263"/>
            <a:ext cx="3024337" cy="107029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4C4BDA4-82BD-7A70-BD1E-E951C838A0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4319" y="4707947"/>
            <a:ext cx="6701361" cy="258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00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Lag: Biological Impact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420F15-D8A9-F8ED-1799-8797F0969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7" y="1001325"/>
            <a:ext cx="6332533" cy="3678410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665D2B3-16CA-AF12-3B1D-A6C2E7DA5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800893"/>
              </p:ext>
            </p:extLst>
          </p:nvPr>
        </p:nvGraphicFramePr>
        <p:xfrm>
          <a:off x="6207610" y="1293081"/>
          <a:ext cx="4444052" cy="2487550"/>
        </p:xfrm>
        <a:graphic>
          <a:graphicData uri="http://schemas.openxmlformats.org/drawingml/2006/table">
            <a:tbl>
              <a:tblPr/>
              <a:tblGrid>
                <a:gridCol w="1111013">
                  <a:extLst>
                    <a:ext uri="{9D8B030D-6E8A-4147-A177-3AD203B41FA5}">
                      <a16:colId xmlns:a16="http://schemas.microsoft.com/office/drawing/2014/main" val="540015006"/>
                    </a:ext>
                  </a:extLst>
                </a:gridCol>
                <a:gridCol w="1211928">
                  <a:extLst>
                    <a:ext uri="{9D8B030D-6E8A-4147-A177-3AD203B41FA5}">
                      <a16:colId xmlns:a16="http://schemas.microsoft.com/office/drawing/2014/main" val="3959126003"/>
                    </a:ext>
                  </a:extLst>
                </a:gridCol>
                <a:gridCol w="1010098">
                  <a:extLst>
                    <a:ext uri="{9D8B030D-6E8A-4147-A177-3AD203B41FA5}">
                      <a16:colId xmlns:a16="http://schemas.microsoft.com/office/drawing/2014/main" val="436974256"/>
                    </a:ext>
                  </a:extLst>
                </a:gridCol>
                <a:gridCol w="1111013">
                  <a:extLst>
                    <a:ext uri="{9D8B030D-6E8A-4147-A177-3AD203B41FA5}">
                      <a16:colId xmlns:a16="http://schemas.microsoft.com/office/drawing/2014/main" val="1303595283"/>
                    </a:ext>
                  </a:extLst>
                </a:gridCol>
              </a:tblGrid>
              <a:tr h="473175">
                <a:tc>
                  <a:txBody>
                    <a:bodyPr/>
                    <a:lstStyle/>
                    <a:p>
                      <a:r>
                        <a:rPr lang="en-US" sz="1050" b="0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/>
                        <a:t>Correlation with Systolic BP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/>
                        <a:t>Practicality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/>
                        <a:t>Comment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281239"/>
                  </a:ext>
                </a:extLst>
              </a:tr>
              <a:tr h="651709">
                <a:tc>
                  <a:txBody>
                    <a:bodyPr/>
                    <a:lstStyle/>
                    <a:p>
                      <a:r>
                        <a:rPr lang="en-US" sz="1050" b="0" dirty="0"/>
                        <a:t>Toe PAT </a:t>
                      </a:r>
                    </a:p>
                    <a:p>
                      <a:r>
                        <a:rPr lang="en-US" sz="1050" b="0" dirty="0"/>
                        <a:t>(foot)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−0.63 ± 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Best performance, but hard </a:t>
                      </a:r>
                    </a:p>
                    <a:p>
                      <a:r>
                        <a:rPr lang="en-US" sz="1050" b="0" dirty="0"/>
                        <a:t>to implement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584845"/>
                  </a:ext>
                </a:extLst>
              </a:tr>
              <a:tr h="454222">
                <a:tc>
                  <a:txBody>
                    <a:bodyPr/>
                    <a:lstStyle/>
                    <a:p>
                      <a:r>
                        <a:rPr lang="en-US" sz="1050" b="0" dirty="0"/>
                        <a:t>Finger PAT </a:t>
                      </a:r>
                    </a:p>
                    <a:p>
                      <a:r>
                        <a:rPr lang="en-US" sz="1050" b="0" dirty="0"/>
                        <a:t>(foot)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−0.41 ± 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Common, but </a:t>
                      </a:r>
                    </a:p>
                    <a:p>
                      <a:r>
                        <a:rPr lang="en-US" sz="1050" b="0" dirty="0"/>
                        <a:t>less reliable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22070"/>
                  </a:ext>
                </a:extLst>
              </a:tr>
              <a:tr h="454222">
                <a:tc>
                  <a:txBody>
                    <a:bodyPr/>
                    <a:lstStyle/>
                    <a:p>
                      <a:r>
                        <a:rPr lang="en-US" sz="1050" b="0" dirty="0"/>
                        <a:t>Ear </a:t>
                      </a:r>
                    </a:p>
                    <a:p>
                      <a:r>
                        <a:rPr lang="en-US" sz="1050" b="0" dirty="0"/>
                        <a:t>PAT / </a:t>
                      </a:r>
                      <a:r>
                        <a:rPr lang="en-US" sz="1050" b="0" dirty="0" err="1"/>
                        <a:t>dPTTs</a:t>
                      </a:r>
                      <a:endParaRPr lang="en-US" sz="105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&lt; 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Weak or </a:t>
                      </a:r>
                    </a:p>
                    <a:p>
                      <a:r>
                        <a:rPr lang="en-US" sz="1050" b="0" dirty="0"/>
                        <a:t>inconsistent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275878"/>
                  </a:ext>
                </a:extLst>
              </a:tr>
              <a:tr h="454222">
                <a:tc>
                  <a:txBody>
                    <a:bodyPr/>
                    <a:lstStyle/>
                    <a:p>
                      <a:r>
                        <a:rPr lang="en-US" sz="1050" b="0" dirty="0"/>
                        <a:t>Peak-based </a:t>
                      </a:r>
                    </a:p>
                    <a:p>
                      <a:r>
                        <a:rPr lang="en-US" sz="1050" b="0" dirty="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&lt; 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Much poorer </a:t>
                      </a:r>
                    </a:p>
                    <a:p>
                      <a:r>
                        <a:rPr lang="en-US" sz="1050" b="0" dirty="0"/>
                        <a:t>correlation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809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74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Lag: Biological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BB34B-F431-3D6A-E811-FCA31A7B403F}"/>
              </a:ext>
            </a:extLst>
          </p:cNvPr>
          <p:cNvSpPr txBox="1"/>
          <p:nvPr/>
        </p:nvSpPr>
        <p:spPr>
          <a:xfrm>
            <a:off x="16223" y="900311"/>
            <a:ext cx="554650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Consolas" panose="020B0609020204030204" pitchFamily="49" charset="0"/>
              </a:rPr>
              <a:t>Moens-Korteweg</a:t>
            </a:r>
            <a:r>
              <a:rPr lang="en-US" sz="1600" b="1" dirty="0">
                <a:latin typeface="Consolas" panose="020B0609020204030204" pitchFamily="49" charset="0"/>
              </a:rPr>
              <a:t> Theory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Pulse wave velocity (PWV) -&gt; how fast the pressure wave travels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along the artery: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31668-F000-4DD4-18E4-0657F864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300" y="1622167"/>
            <a:ext cx="1609950" cy="62873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80D827-7397-7A0B-4941-48839B6F2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992448"/>
              </p:ext>
            </p:extLst>
          </p:nvPr>
        </p:nvGraphicFramePr>
        <p:xfrm>
          <a:off x="163073" y="2459796"/>
          <a:ext cx="10257066" cy="4705211"/>
        </p:xfrm>
        <a:graphic>
          <a:graphicData uri="http://schemas.openxmlformats.org/drawingml/2006/table">
            <a:tbl>
              <a:tblPr/>
              <a:tblGrid>
                <a:gridCol w="1871259">
                  <a:extLst>
                    <a:ext uri="{9D8B030D-6E8A-4147-A177-3AD203B41FA5}">
                      <a16:colId xmlns:a16="http://schemas.microsoft.com/office/drawing/2014/main" val="309640213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82895748"/>
                    </a:ext>
                  </a:extLst>
                </a:gridCol>
                <a:gridCol w="1430220">
                  <a:extLst>
                    <a:ext uri="{9D8B030D-6E8A-4147-A177-3AD203B41FA5}">
                      <a16:colId xmlns:a16="http://schemas.microsoft.com/office/drawing/2014/main" val="3486269411"/>
                    </a:ext>
                  </a:extLst>
                </a:gridCol>
                <a:gridCol w="2146394">
                  <a:extLst>
                    <a:ext uri="{9D8B030D-6E8A-4147-A177-3AD203B41FA5}">
                      <a16:colId xmlns:a16="http://schemas.microsoft.com/office/drawing/2014/main" val="636521749"/>
                    </a:ext>
                  </a:extLst>
                </a:gridCol>
                <a:gridCol w="1206831">
                  <a:extLst>
                    <a:ext uri="{9D8B030D-6E8A-4147-A177-3AD203B41FA5}">
                      <a16:colId xmlns:a16="http://schemas.microsoft.com/office/drawing/2014/main" val="2464927126"/>
                    </a:ext>
                  </a:extLst>
                </a:gridCol>
                <a:gridCol w="2378226">
                  <a:extLst>
                    <a:ext uri="{9D8B030D-6E8A-4147-A177-3AD203B41FA5}">
                      <a16:colId xmlns:a16="http://schemas.microsoft.com/office/drawing/2014/main" val="782602776"/>
                    </a:ext>
                  </a:extLst>
                </a:gridCol>
              </a:tblGrid>
              <a:tr h="53175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Site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(superficial veins)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Radius (r)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(mm)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Wall thickness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(h) (mm)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Elastic modulus (E) (MPa)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PWV (c) (m/s)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Reference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587648"/>
                  </a:ext>
                </a:extLst>
              </a:tr>
              <a:tr h="13374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Fingertip veins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(central digital veins)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0.25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0.08-0.15 </a:t>
                      </a:r>
                    </a:p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(estimate)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0.10-0.60 </a:t>
                      </a:r>
                    </a:p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(venous range)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3.9-13.0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Consolas" panose="020B0609020204030204" pitchFamily="49" charset="0"/>
                        </a:rPr>
                        <a:t>Lhuaire M et al., </a:t>
                      </a:r>
                      <a:r>
                        <a:rPr lang="en-US" sz="1100" i="1">
                          <a:latin typeface="Consolas" panose="020B0609020204030204" pitchFamily="49" charset="0"/>
                        </a:rPr>
                        <a:t>Venous system mapping of the digits and the hand</a:t>
                      </a:r>
                      <a:r>
                        <a:rPr lang="en-US" sz="1100">
                          <a:latin typeface="Consolas" panose="020B0609020204030204" pitchFamily="49" charset="0"/>
                        </a:rPr>
                        <a:t> (2022) (</a:t>
                      </a:r>
                      <a:r>
                        <a:rPr lang="en-US" sz="1100">
                          <a:latin typeface="Consolas" panose="020B0609020204030204" pitchFamily="49" charset="0"/>
                          <a:hlinkClick r:id="rId5" tooltip="Venous system mapping of the digits and the hand"/>
                        </a:rPr>
                        <a:t>PMC</a:t>
                      </a:r>
                      <a:r>
                        <a:rPr lang="en-US" sz="110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180111"/>
                  </a:ext>
                </a:extLst>
              </a:tr>
              <a:tr h="13374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Forehead veins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(supratrochlear /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supraorbital / angular)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Consolas" panose="020B0609020204030204" pitchFamily="49" charset="0"/>
                        </a:rPr>
                        <a:t>≈ 1.0-1.4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0.3-0.5 </a:t>
                      </a:r>
                    </a:p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(estimate)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0.10-0.60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3.2-11.9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Consolas" panose="020B0609020204030204" pitchFamily="49" charset="0"/>
                        </a:rPr>
                        <a:t>Siwetz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M et al., </a:t>
                      </a:r>
                      <a:r>
                        <a:rPr lang="en-US" sz="1100" i="1" dirty="0">
                          <a:latin typeface="Consolas" panose="020B0609020204030204" pitchFamily="49" charset="0"/>
                        </a:rPr>
                        <a:t>The Course and Relation of the Facial Vein in the Face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(2023) (</a:t>
                      </a:r>
                      <a:r>
                        <a:rPr lang="en-US" sz="1100" dirty="0">
                          <a:latin typeface="Consolas" panose="020B0609020204030204" pitchFamily="49" charset="0"/>
                          <a:hlinkClick r:id="rId6" tooltip="The Course and Variation of the Facial Vein in the Face— ..."/>
                        </a:rPr>
                        <a:t>MDPI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981485"/>
                  </a:ext>
                </a:extLst>
              </a:tr>
              <a:tr h="1498577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Cheek veins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(facial vein)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Consolas" panose="020B0609020204030204" pitchFamily="49" charset="0"/>
                        </a:rPr>
                        <a:t>≈ 0.6-2.25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0.3-0.5 </a:t>
                      </a:r>
                    </a:p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(estimate)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0.10-0.60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2.5-15.4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Pistoia F et al., </a:t>
                      </a:r>
                      <a:r>
                        <a:rPr lang="en-US" sz="1100" i="1" dirty="0">
                          <a:latin typeface="Consolas" panose="020B0609020204030204" pitchFamily="49" charset="0"/>
                        </a:rPr>
                        <a:t>High-resolution US of the facial vessels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(2023) (</a:t>
                      </a:r>
                      <a:r>
                        <a:rPr lang="en-US" sz="1100" dirty="0">
                          <a:latin typeface="Consolas" panose="020B0609020204030204" pitchFamily="49" charset="0"/>
                          <a:hlinkClick r:id="rId7" tooltip="High-resolution US of the facial vessels with new ..."/>
                        </a:rPr>
                        <a:t>eurradiolexp.springeropen.com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614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A2821C-B3A3-1116-DC8A-86DF006B5CA0}"/>
              </a:ext>
            </a:extLst>
          </p:cNvPr>
          <p:cNvSpPr txBox="1"/>
          <p:nvPr/>
        </p:nvSpPr>
        <p:spPr>
          <a:xfrm>
            <a:off x="6789968" y="1023421"/>
            <a:ext cx="3353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𝐸</a:t>
            </a:r>
            <a:r>
              <a:rPr lang="en-US" sz="1200" baseline="-25000" dirty="0" err="1">
                <a:latin typeface="Consolas" panose="020B0609020204030204" pitchFamily="49" charset="0"/>
              </a:rPr>
              <a:t>inc</a:t>
            </a:r>
            <a:r>
              <a:rPr lang="en-US" sz="1200" dirty="0">
                <a:latin typeface="Consolas" panose="020B0609020204030204" pitchFamily="49" charset="0"/>
              </a:rPr>
              <a:t> = elastic (Young’s) modulus of 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      the arterial wall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ℎ = wall thickness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𝑟 = internal radius of the artery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𝜌</a:t>
            </a:r>
            <a:r>
              <a:rPr lang="el-GR" sz="1200" dirty="0">
                <a:latin typeface="Consolas" panose="020B0609020204030204" pitchFamily="49" charset="0"/>
              </a:rPr>
              <a:t> = </a:t>
            </a:r>
            <a:r>
              <a:rPr lang="en-US" sz="1200" dirty="0">
                <a:latin typeface="Consolas" panose="020B0609020204030204" pitchFamily="49" charset="0"/>
              </a:rPr>
              <a:t>blood density</a:t>
            </a:r>
          </a:p>
        </p:txBody>
      </p:sp>
    </p:spTree>
    <p:extLst>
      <p:ext uri="{BB962C8B-B14F-4D97-AF65-F5344CB8AC3E}">
        <p14:creationId xmlns:p14="http://schemas.microsoft.com/office/powerpoint/2010/main" val="196195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Lag: </a:t>
            </a:r>
            <a:r>
              <a:rPr lang="en-US" altLang="ko-KR" sz="2400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iPPG</a:t>
            </a: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 vs  Doppler </a:t>
            </a:r>
            <a:r>
              <a:rPr lang="en-US" altLang="ko-KR" sz="2400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Sensore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E3D48-1348-FDC8-6B6D-655E1436C8EE}"/>
              </a:ext>
            </a:extLst>
          </p:cNvPr>
          <p:cNvSpPr txBox="1"/>
          <p:nvPr/>
        </p:nvSpPr>
        <p:spPr>
          <a:xfrm>
            <a:off x="162123" y="1044327"/>
            <a:ext cx="1037302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Analysis of Pulse Transit Time Derived from Imaging Photoplethysmography and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Microwave Sensor-based </a:t>
            </a:r>
            <a:r>
              <a:rPr lang="en-US" sz="1600" b="1" dirty="0" err="1">
                <a:latin typeface="Consolas" panose="020B0609020204030204" pitchFamily="49" charset="0"/>
              </a:rPr>
              <a:t>Ballistocardiography</a:t>
            </a:r>
            <a:r>
              <a:rPr lang="en-US" sz="1600" b="1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hlinkClick r:id="rId4"/>
              </a:rPr>
              <a:t>[</a:t>
            </a:r>
            <a:r>
              <a:rPr lang="en-US" sz="1600" b="1" dirty="0">
                <a:latin typeface="Consolas" panose="020B0609020204030204" pitchFamily="49" charset="0"/>
                <a:hlinkClick r:id="rId5"/>
              </a:rPr>
              <a:t>LINK</a:t>
            </a:r>
            <a:r>
              <a:rPr lang="en-US" sz="1600" b="1" dirty="0">
                <a:latin typeface="Consolas" panose="020B0609020204030204" pitchFamily="49" charset="0"/>
                <a:hlinkClick r:id="rId4"/>
              </a:rPr>
              <a:t>]</a:t>
            </a:r>
            <a:endParaRPr lang="en-US" sz="1600" b="1" dirty="0">
              <a:latin typeface="Consolas" panose="020B0609020204030204" pitchFamily="49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The paper proposes a non-contact PTT measurement system using a 24.15 GHz microwave Doppler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sensor for </a:t>
            </a:r>
            <a:r>
              <a:rPr lang="en-US" sz="1400" dirty="0" err="1">
                <a:latin typeface="Consolas" panose="020B0609020204030204" pitchFamily="49" charset="0"/>
              </a:rPr>
              <a:t>ballistocardiography</a:t>
            </a:r>
            <a:r>
              <a:rPr lang="en-US" sz="1400" dirty="0">
                <a:latin typeface="Consolas" panose="020B0609020204030204" pitchFamily="49" charset="0"/>
              </a:rPr>
              <a:t> (BCG) and a camera for imaging PPG (</a:t>
            </a:r>
            <a:r>
              <a:rPr lang="en-US" sz="1400" dirty="0" err="1">
                <a:latin typeface="Consolas" panose="020B0609020204030204" pitchFamily="49" charset="0"/>
              </a:rPr>
              <a:t>iPPG</a:t>
            </a:r>
            <a:r>
              <a:rPr lang="en-US" sz="1400" dirty="0">
                <a:latin typeface="Consolas" panose="020B0609020204030204" pitchFamily="49" charset="0"/>
              </a:rPr>
              <a:t>), synchronized to derive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pulse transit time (PTT). On 16 elderly subjects (69–79 y), noncontact PTT correlated with systolic BP at r = −0.64 (P &lt; 0.05) while PAT (ECG→PPG) correlated only r = −0.20, suggesting PEP confounds PAT.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9F612-E434-72D9-5F2A-F6489B8F7F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2884" y="2876806"/>
            <a:ext cx="3417255" cy="4071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5A9B05-DA9E-9C95-0C00-30142686B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530" y="2881310"/>
            <a:ext cx="3661285" cy="23271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1F35B6-D779-917E-6744-F9413392BD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8547" y="2706320"/>
            <a:ext cx="3417255" cy="47615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14D456-2104-8B0F-1C20-927ED431B7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440" y="6516936"/>
            <a:ext cx="3472107" cy="75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0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Lag: Hardware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E3D48-1348-FDC8-6B6D-655E1436C8EE}"/>
              </a:ext>
            </a:extLst>
          </p:cNvPr>
          <p:cNvSpPr txBox="1"/>
          <p:nvPr/>
        </p:nvSpPr>
        <p:spPr>
          <a:xfrm>
            <a:off x="162123" y="1044327"/>
            <a:ext cx="1037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Analysis of Pulse Transit Time Derived from Imaging Photoplethysmography and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Microwave Sensor-based </a:t>
            </a:r>
            <a:r>
              <a:rPr lang="en-US" sz="1600" b="1" dirty="0" err="1">
                <a:latin typeface="Consolas" panose="020B0609020204030204" pitchFamily="49" charset="0"/>
              </a:rPr>
              <a:t>Ballistocardiography</a:t>
            </a:r>
            <a:r>
              <a:rPr lang="en-US" sz="1600" b="1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hlinkClick r:id="rId4"/>
              </a:rPr>
              <a:t>[</a:t>
            </a:r>
            <a:r>
              <a:rPr lang="en-US" sz="1600" b="1" dirty="0">
                <a:latin typeface="Consolas" panose="020B0609020204030204" pitchFamily="49" charset="0"/>
                <a:hlinkClick r:id="rId5"/>
              </a:rPr>
              <a:t>LINK</a:t>
            </a:r>
            <a:r>
              <a:rPr lang="en-US" sz="1600" b="1" dirty="0">
                <a:latin typeface="Consolas" panose="020B0609020204030204" pitchFamily="49" charset="0"/>
                <a:hlinkClick r:id="rId4"/>
              </a:rPr>
              <a:t>]</a:t>
            </a:r>
            <a:endParaRPr lang="en-US" sz="16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393A1-86FE-6735-D6AD-597615A80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261" y="1803875"/>
            <a:ext cx="10027220" cy="52255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7EFAC7-68F8-1338-CCCC-2BF8AF37DD15}"/>
              </a:ext>
            </a:extLst>
          </p:cNvPr>
          <p:cNvSpPr/>
          <p:nvPr/>
        </p:nvSpPr>
        <p:spPr>
          <a:xfrm>
            <a:off x="8489973" y="2124447"/>
            <a:ext cx="745160" cy="417646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CBBA0-3441-8BEE-C9C1-C9140DC5E070}"/>
              </a:ext>
            </a:extLst>
          </p:cNvPr>
          <p:cNvSpPr/>
          <p:nvPr/>
        </p:nvSpPr>
        <p:spPr>
          <a:xfrm>
            <a:off x="9370340" y="2115037"/>
            <a:ext cx="656880" cy="417646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0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with Python x Biological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62124" y="1044327"/>
            <a:ext cx="979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RAW Green vs GT BVP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The Preprocess steps of PURE dataset was followed by the </a:t>
            </a:r>
            <a:r>
              <a:rPr lang="en-US" sz="1400" dirty="0" err="1">
                <a:latin typeface="Consolas" panose="020B0609020204030204" pitchFamily="49" charset="0"/>
              </a:rPr>
              <a:t>rPPG-ToolBox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nn-NO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RAW green vs GT: lag=-6.58 frames (-219.5 ms)</a:t>
            </a:r>
            <a:endParaRPr lang="en-US" sz="1400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F12717-CD63-1FD2-7817-781A0AA46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76" y="2083425"/>
            <a:ext cx="7015918" cy="2057246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39BF20D-B784-66D9-B324-EC422F9C7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528405"/>
              </p:ext>
            </p:extLst>
          </p:nvPr>
        </p:nvGraphicFramePr>
        <p:xfrm>
          <a:off x="162124" y="5612253"/>
          <a:ext cx="6330800" cy="1493520"/>
        </p:xfrm>
        <a:graphic>
          <a:graphicData uri="http://schemas.openxmlformats.org/drawingml/2006/table">
            <a:tbl>
              <a:tblPr/>
              <a:tblGrid>
                <a:gridCol w="1434257">
                  <a:extLst>
                    <a:ext uri="{9D8B030D-6E8A-4147-A177-3AD203B41FA5}">
                      <a16:colId xmlns:a16="http://schemas.microsoft.com/office/drawing/2014/main" val="67231692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3196059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773497291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3205295255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PTT @ 6 m/s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PTT range @ 4–8 m/s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0882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Heart → 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0.30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0.050 s (50 </a:t>
                      </a:r>
                      <a:r>
                        <a:rPr lang="en-US" sz="1200" b="1" dirty="0" err="1"/>
                        <a:t>ms</a:t>
                      </a:r>
                      <a:r>
                        <a:rPr lang="en-US" sz="1200" b="1" dirty="0"/>
                        <a:t>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38–75 </a:t>
                      </a:r>
                      <a:r>
                        <a:rPr lang="en-US" sz="1200" b="1" dirty="0" err="1"/>
                        <a:t>ms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2603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Heart → Finger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0.200 s (200 ms)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150–300 </a:t>
                      </a:r>
                      <a:r>
                        <a:rPr lang="en-US" sz="1200" b="1" dirty="0" err="1"/>
                        <a:t>ms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23309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35FCCD3-D992-FDD9-E15E-9E568163DC1C}"/>
              </a:ext>
            </a:extLst>
          </p:cNvPr>
          <p:cNvSpPr txBox="1"/>
          <p:nvPr/>
        </p:nvSpPr>
        <p:spPr>
          <a:xfrm>
            <a:off x="0" y="5108829"/>
            <a:ext cx="9793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RAW Calculation from Biological Explanation</a:t>
            </a:r>
          </a:p>
        </p:txBody>
      </p:sp>
    </p:spTree>
    <p:extLst>
      <p:ext uri="{BB962C8B-B14F-4D97-AF65-F5344CB8AC3E}">
        <p14:creationId xmlns:p14="http://schemas.microsoft.com/office/powerpoint/2010/main" val="123679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“ROI”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3" y="1044327"/>
            <a:ext cx="59811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</a:rPr>
              <a:t>Root causes inside the ROI:</a:t>
            </a: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Spatial phase variation across face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Blood-flow timing isn’t uniform. Empirical data show:</a:t>
            </a: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Forehead and cheeks often lead the chin and </a:t>
            </a: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perioral area by ~50–150 </a:t>
            </a:r>
            <a:r>
              <a:rPr lang="en-US" sz="1200" dirty="0" err="1">
                <a:latin typeface="Consolas" panose="020B0609020204030204" pitchFamily="49" charset="0"/>
              </a:rPr>
              <a:t>ms.</a:t>
            </a:r>
            <a:endParaRPr lang="en-US" sz="1200" dirty="0">
              <a:latin typeface="Consolas" panose="020B0609020204030204" pitchFamily="49" charset="0"/>
            </a:endParaRP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Motion and lighting can invert phase in some patches.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When we combine pixels from all of these, we average vectors 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pointing in different directions on the 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phase circle → the resultant vector’s angle (phase) shifts.</a:t>
            </a:r>
            <a:br>
              <a:rPr lang="en-US" sz="1200" dirty="0">
                <a:latin typeface="Consolas" panose="020B0609020204030204" pitchFamily="49" charset="0"/>
              </a:rPr>
            </a:b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If we denote each local pixel’s signal as </a:t>
            </a:r>
            <a:r>
              <a:rPr lang="it-IT" sz="1200" dirty="0">
                <a:latin typeface="Consolas" panose="020B0609020204030204" pitchFamily="49" charset="0"/>
              </a:rPr>
              <a:t>s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​(t)=A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​cos(ωt+ϕ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​), 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then the ROI mean is = 1/N*(</a:t>
            </a:r>
            <a:r>
              <a:rPr lang="it-IT" sz="1200" dirty="0">
                <a:latin typeface="Consolas" panose="020B0609020204030204" pitchFamily="49" charset="0"/>
              </a:rPr>
              <a:t>A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​cos(ωt+ϕ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​))</a:t>
            </a:r>
            <a:endParaRPr lang="en-US" sz="1200" dirty="0">
              <a:latin typeface="Consolas" panose="020B0609020204030204" pitchFamily="49" charset="0"/>
            </a:endParaRPr>
          </a:p>
          <a:p>
            <a:pPr lvl="1"/>
            <a:endParaRPr lang="en-US" sz="1200" dirty="0"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Here Mean(</a:t>
            </a:r>
            <a:r>
              <a:rPr lang="it-IT" sz="1200" dirty="0">
                <a:latin typeface="Consolas" panose="020B0609020204030204" pitchFamily="49" charset="0"/>
              </a:rPr>
              <a:t>ϕ) ≠ ϕ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89513-526A-712D-0A7A-5211F21B198F}"/>
              </a:ext>
            </a:extLst>
          </p:cNvPr>
          <p:cNvSpPr txBox="1"/>
          <p:nvPr/>
        </p:nvSpPr>
        <p:spPr>
          <a:xfrm>
            <a:off x="23429" y="4557285"/>
            <a:ext cx="56824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(b) Static rectangular box ≠ skin region</a:t>
            </a:r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pPr lvl="1"/>
            <a:r>
              <a:rPr lang="en-US" sz="1200" dirty="0" err="1">
                <a:latin typeface="Consolas" panose="020B0609020204030204" pitchFamily="49" charset="0"/>
              </a:rPr>
              <a:t>Haar</a:t>
            </a:r>
            <a:r>
              <a:rPr lang="en-US" sz="1200" dirty="0">
                <a:latin typeface="Consolas" panose="020B0609020204030204" pitchFamily="49" charset="0"/>
              </a:rPr>
              <a:t> cascade gave a bounding box [236, 123, 483, 370]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That includes:</a:t>
            </a: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Eyes, lips, hair, background, and moving edges.</a:t>
            </a: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Shadows that change with expression or motion.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Each non-skin pixel injects luminance-driven noise that lags actual blood-flow modulations 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(illumination fluctuations are slower).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That drags the average phase toward the illumination signal, not the pulse.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BC0BF-9EFA-1828-F486-59B3E8884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868" y="971062"/>
            <a:ext cx="3677022" cy="3035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97CE47-473C-F7DD-067D-23D55CBCE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432" y="4035218"/>
            <a:ext cx="4902671" cy="23578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99ADA7-BB69-130A-3D1C-7087B89239AA}"/>
              </a:ext>
            </a:extLst>
          </p:cNvPr>
          <p:cNvSpPr txBox="1"/>
          <p:nvPr/>
        </p:nvSpPr>
        <p:spPr>
          <a:xfrm>
            <a:off x="5973369" y="6301660"/>
            <a:ext cx="469660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Tiles valid: 64/64 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Lag stats — frames: mean +2.14, median -2.98, [-7.74, +15.62] 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Lag stats — ms: mean +71.5, median -99.4, [-258.0, +520.6]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18802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Demean/Zero-Phase Bandpass Filter </a:t>
            </a:r>
            <a:r>
              <a:rPr lang="en-US" altLang="ko-KR" sz="1050" b="1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(used in </a:t>
            </a:r>
            <a:r>
              <a:rPr lang="en-US" altLang="ko-KR" sz="1050" b="1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rPPG-ToolBox</a:t>
            </a:r>
            <a:r>
              <a:rPr lang="en-US" altLang="ko-KR" sz="1050" b="1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662918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Demean only subtracts a constant (the average level).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Subtracting a constant does not shift a waveform in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Cross-correlation lag is invariant to additive DC and global scaling.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89513-526A-712D-0A7A-5211F21B198F}"/>
              </a:ext>
            </a:extLst>
          </p:cNvPr>
          <p:cNvSpPr txBox="1"/>
          <p:nvPr/>
        </p:nvSpPr>
        <p:spPr>
          <a:xfrm>
            <a:off x="0" y="2070091"/>
            <a:ext cx="9859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(b) Zero-phase bandpass (butter(...); </a:t>
            </a:r>
            <a:r>
              <a:rPr lang="en-US" sz="1200" dirty="0" err="1">
                <a:latin typeface="Consolas" panose="020B0609020204030204" pitchFamily="49" charset="0"/>
              </a:rPr>
              <a:t>filtfilt</a:t>
            </a:r>
            <a:r>
              <a:rPr lang="en-US" sz="1200" dirty="0">
                <a:latin typeface="Consolas" panose="020B0609020204030204" pitchFamily="49" charset="0"/>
              </a:rPr>
              <a:t>(...)) removes out-of-band content without adding phase delay.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onsolas" panose="020B0609020204030204" pitchFamily="49" charset="0"/>
              </a:rPr>
              <a:t>filtfilt</a:t>
            </a:r>
            <a:r>
              <a:rPr lang="en-US" sz="1200" dirty="0">
                <a:latin typeface="Consolas" panose="020B0609020204030204" pitchFamily="49" charset="0"/>
              </a:rPr>
              <a:t> applies the filter forward and then backward, cancelling the filter’s phase.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Net phase ≈ 0 ⇒ no group delay ⇒ peak timings preserved (apart from tiny edge effects).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9ADA7-BB69-130A-3D1C-7087B89239AA}"/>
              </a:ext>
            </a:extLst>
          </p:cNvPr>
          <p:cNvSpPr txBox="1"/>
          <p:nvPr/>
        </p:nvSpPr>
        <p:spPr>
          <a:xfrm>
            <a:off x="162124" y="3822344"/>
            <a:ext cx="46966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ROI green vs GT: lag=+15.00 fr (+500.0 ms), 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xcorr=23.798, box=[236, 123, 483, 370]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A3A6E85-A807-EE3A-910A-EA6DF7286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2" y="4356695"/>
            <a:ext cx="4350073" cy="12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0DA785-E1BA-458B-C926-4FEF977D038D}"/>
              </a:ext>
            </a:extLst>
          </p:cNvPr>
          <p:cNvSpPr txBox="1"/>
          <p:nvPr/>
        </p:nvSpPr>
        <p:spPr>
          <a:xfrm>
            <a:off x="5346700" y="3741552"/>
            <a:ext cx="489654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n-NO" sz="1050" dirty="0">
              <a:solidFill>
                <a:srgbClr val="999999"/>
              </a:solidFill>
              <a:latin typeface="Consolas" panose="020B0609020204030204" pitchFamily="49" charset="0"/>
            </a:endParaRP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Demean ROI green vs GT: lag=+15.00 fr (+500.0 ms), xcorr=23.798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Zero-phase BP vs GT: lag=+15.00 fr (+500.0 ms), xcorr=80.058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D191324F-1102-2634-EBBC-1B923B80D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409" y="4369964"/>
            <a:ext cx="4350077" cy="127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5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CHROM/POS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871741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CHROM/POS reduce the lag</a:t>
            </a: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ROI mean mixes many effects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the true pulsatile component (cardiac),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illumination changes (global brightness/shadows),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motion/</a:t>
            </a:r>
            <a:r>
              <a:rPr lang="en-US" sz="1200" dirty="0" err="1">
                <a:latin typeface="Consolas" panose="020B0609020204030204" pitchFamily="49" charset="0"/>
              </a:rPr>
              <a:t>speculars</a:t>
            </a:r>
            <a:r>
              <a:rPr lang="en-US" sz="1200" dirty="0">
                <a:latin typeface="Consolas" panose="020B0609020204030204" pitchFamily="49" charset="0"/>
              </a:rPr>
              <a:t>/non-skin leakage.</a:t>
            </a:r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CHROM and POS are chrominance projections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cancel common-mode luminance (components along [1,1,1]),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emphasize color differences that the pulse actually modulates (oxy/deoxy absorption).</a:t>
            </a: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Local mean-normalization + energy balancing (α)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The per-window normalization and α-scaling equalize the variance of the intermediate channels so illumination drift doesn’t dominate. That reduces phase bias introduced by non-pulsatile terms.</a:t>
            </a:r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Result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With nuisance components reduced, the remaining signal’s phase is closer to the cardiac phase, so the lag shrinks.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CHROM (no window): +2.53 </a:t>
            </a:r>
            <a:r>
              <a:rPr lang="en-US" sz="1200" dirty="0" err="1">
                <a:latin typeface="Consolas" panose="020B0609020204030204" pitchFamily="49" charset="0"/>
              </a:rPr>
              <a:t>fr</a:t>
            </a:r>
            <a:r>
              <a:rPr lang="en-US" sz="1200" dirty="0">
                <a:latin typeface="Consolas" panose="020B0609020204030204" pitchFamily="49" charset="0"/>
              </a:rPr>
              <a:t> (~84 </a:t>
            </a:r>
            <a:r>
              <a:rPr lang="en-US" sz="1200" dirty="0" err="1">
                <a:latin typeface="Consolas" panose="020B0609020204030204" pitchFamily="49" charset="0"/>
              </a:rPr>
              <a:t>ms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POS (no window): +1.66 </a:t>
            </a:r>
            <a:r>
              <a:rPr lang="en-US" sz="1200" dirty="0" err="1">
                <a:latin typeface="Consolas" panose="020B0609020204030204" pitchFamily="49" charset="0"/>
              </a:rPr>
              <a:t>fr</a:t>
            </a:r>
            <a:r>
              <a:rPr lang="en-US" sz="1200" dirty="0">
                <a:latin typeface="Consolas" panose="020B0609020204030204" pitchFamily="49" charset="0"/>
              </a:rPr>
              <a:t> (~55 </a:t>
            </a:r>
            <a:r>
              <a:rPr lang="en-US" sz="1200" dirty="0" err="1">
                <a:latin typeface="Consolas" panose="020B0609020204030204" pitchFamily="49" charset="0"/>
              </a:rPr>
              <a:t>ms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(vs ROI green’s +15 </a:t>
            </a:r>
            <a:r>
              <a:rPr lang="en-US" sz="1200" dirty="0" err="1">
                <a:latin typeface="Consolas" panose="020B0609020204030204" pitchFamily="49" charset="0"/>
              </a:rPr>
              <a:t>fr</a:t>
            </a:r>
            <a:r>
              <a:rPr lang="en-US" sz="1200" dirty="0">
                <a:latin typeface="Consolas" panose="020B0609020204030204" pitchFamily="49" charset="0"/>
              </a:rPr>
              <a:t>).</a:t>
            </a: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9ADA7-BB69-130A-3D1C-7087B89239AA}"/>
              </a:ext>
            </a:extLst>
          </p:cNvPr>
          <p:cNvSpPr txBox="1"/>
          <p:nvPr/>
        </p:nvSpPr>
        <p:spPr>
          <a:xfrm>
            <a:off x="378148" y="6701298"/>
            <a:ext cx="48245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(windowed) vs GT: lag=+3.81 fr (+127.1 ms), xcorr=134.808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DA785-E1BA-458B-C926-4FEF977D038D}"/>
              </a:ext>
            </a:extLst>
          </p:cNvPr>
          <p:cNvSpPr txBox="1"/>
          <p:nvPr/>
        </p:nvSpPr>
        <p:spPr>
          <a:xfrm>
            <a:off x="5706740" y="6722614"/>
            <a:ext cx="489654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dirty="0">
                <a:solidFill>
                  <a:srgbClr val="999999"/>
                </a:solidFill>
                <a:latin typeface="Consolas" panose="020B0609020204030204" pitchFamily="49" charset="0"/>
              </a:rPr>
              <a:t>POS(windowed) vs GT: lag=+3.53 fr (+117.8 ms), xcorr=86.457</a:t>
            </a: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52F3A826-64A1-E757-CE61-50EAAF8D8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38" y="5397571"/>
            <a:ext cx="4446156" cy="130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>
            <a:extLst>
              <a:ext uri="{FF2B5EF4-FFF2-40B4-BE49-F238E27FC236}">
                <a16:creationId xmlns:a16="http://schemas.microsoft.com/office/drawing/2014/main" id="{412D44B1-D6BF-1D08-9C23-1ADCC2BFA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759" y="5380861"/>
            <a:ext cx="4350073" cy="12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2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CHROM/POS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87174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CHROM/POS For Complete </a:t>
            </a:r>
            <a:r>
              <a:rPr lang="en-US" sz="1400" b="1" dirty="0" err="1">
                <a:latin typeface="Consolas" panose="020B0609020204030204" pitchFamily="49" charset="0"/>
              </a:rPr>
              <a:t>Vedio</a:t>
            </a:r>
            <a:r>
              <a:rPr lang="en-US" sz="1400" b="1" dirty="0">
                <a:latin typeface="Consolas" panose="020B0609020204030204" pitchFamily="49" charset="0"/>
              </a:rPr>
              <a:t>:</a:t>
            </a: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1BFB2D-A5A3-ABCE-05AF-FA7619388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228259"/>
              </p:ext>
            </p:extLst>
          </p:nvPr>
        </p:nvGraphicFramePr>
        <p:xfrm>
          <a:off x="407066" y="1545816"/>
          <a:ext cx="7603931" cy="1191178"/>
        </p:xfrm>
        <a:graphic>
          <a:graphicData uri="http://schemas.openxmlformats.org/drawingml/2006/table">
            <a:tbl>
              <a:tblPr/>
              <a:tblGrid>
                <a:gridCol w="1008066">
                  <a:extLst>
                    <a:ext uri="{9D8B030D-6E8A-4147-A177-3AD203B41FA5}">
                      <a16:colId xmlns:a16="http://schemas.microsoft.com/office/drawing/2014/main" val="320978001"/>
                    </a:ext>
                  </a:extLst>
                </a:gridCol>
                <a:gridCol w="1635741">
                  <a:extLst>
                    <a:ext uri="{9D8B030D-6E8A-4147-A177-3AD203B41FA5}">
                      <a16:colId xmlns:a16="http://schemas.microsoft.com/office/drawing/2014/main" val="3919908918"/>
                    </a:ext>
                  </a:extLst>
                </a:gridCol>
                <a:gridCol w="1167088">
                  <a:extLst>
                    <a:ext uri="{9D8B030D-6E8A-4147-A177-3AD203B41FA5}">
                      <a16:colId xmlns:a16="http://schemas.microsoft.com/office/drawing/2014/main" val="3705321872"/>
                    </a:ext>
                  </a:extLst>
                </a:gridCol>
                <a:gridCol w="3793036">
                  <a:extLst>
                    <a:ext uri="{9D8B030D-6E8A-4147-A177-3AD203B41FA5}">
                      <a16:colId xmlns:a16="http://schemas.microsoft.com/office/drawing/2014/main" val="2004473818"/>
                    </a:ext>
                  </a:extLst>
                </a:gridCol>
              </a:tblGrid>
              <a:tr h="27171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Median Lag (frames)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Std (frames)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Consolas" panose="020B0609020204030204" pitchFamily="49" charset="0"/>
                        </a:rPr>
                        <a:t>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130794"/>
                  </a:ext>
                </a:extLst>
              </a:tr>
              <a:tr h="507985"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Consolas" panose="020B0609020204030204" pitchFamily="49" charset="0"/>
                        </a:rPr>
                        <a:t>CHROM</a:t>
                      </a:r>
                      <a:endParaRPr lang="en-US" sz="105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onsolas" panose="020B0609020204030204" pitchFamily="49" charset="0"/>
                        </a:rPr>
                        <a:t>+0.04</a:t>
                      </a:r>
                      <a:endParaRPr lang="en-US" sz="105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onsolas" panose="020B0609020204030204" pitchFamily="49" charset="0"/>
                        </a:rPr>
                        <a:t>±2.89</a:t>
                      </a:r>
                      <a:endParaRPr lang="en-US" sz="105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Very stable, almost zero-mean phase difference </a:t>
                      </a:r>
                    </a:p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across clips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124762"/>
                  </a:ext>
                </a:extLst>
              </a:tr>
              <a:tr h="389850"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Consolas" panose="020B0609020204030204" pitchFamily="49" charset="0"/>
                        </a:rPr>
                        <a:t>POS</a:t>
                      </a:r>
                      <a:endParaRPr lang="en-US" sz="105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Consolas" panose="020B0609020204030204" pitchFamily="49" charset="0"/>
                        </a:rPr>
                        <a:t>−0.11</a:t>
                      </a:r>
                      <a:endParaRPr lang="en-US" sz="105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onsolas" panose="020B0609020204030204" pitchFamily="49" charset="0"/>
                        </a:rPr>
                        <a:t>±12.24</a:t>
                      </a:r>
                      <a:endParaRPr lang="en-US" sz="105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Large variability, alternating lead/lag across </a:t>
                      </a:r>
                    </a:p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clips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458909"/>
                  </a:ext>
                </a:extLst>
              </a:tr>
            </a:tbl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58B62BC4-7C6A-6499-A86C-315632D6E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70" y="2804824"/>
            <a:ext cx="6912768" cy="272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3E1739-0DA0-7F8C-0CCB-4FB7190FE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474628"/>
              </p:ext>
            </p:extLst>
          </p:nvPr>
        </p:nvGraphicFramePr>
        <p:xfrm>
          <a:off x="13662" y="5831574"/>
          <a:ext cx="9449150" cy="1729689"/>
        </p:xfrm>
        <a:graphic>
          <a:graphicData uri="http://schemas.openxmlformats.org/drawingml/2006/table">
            <a:tbl>
              <a:tblPr/>
              <a:tblGrid>
                <a:gridCol w="2361982">
                  <a:extLst>
                    <a:ext uri="{9D8B030D-6E8A-4147-A177-3AD203B41FA5}">
                      <a16:colId xmlns:a16="http://schemas.microsoft.com/office/drawing/2014/main" val="1759315137"/>
                    </a:ext>
                  </a:extLst>
                </a:gridCol>
                <a:gridCol w="7087168">
                  <a:extLst>
                    <a:ext uri="{9D8B030D-6E8A-4147-A177-3AD203B41FA5}">
                      <a16:colId xmlns:a16="http://schemas.microsoft.com/office/drawing/2014/main" val="13518844"/>
                    </a:ext>
                  </a:extLst>
                </a:gridCol>
              </a:tblGrid>
              <a:tr h="169192">
                <a:tc>
                  <a:txBody>
                    <a:bodyPr/>
                    <a:lstStyle/>
                    <a:p>
                      <a:r>
                        <a:rPr lang="en-US" sz="1000" dirty="0"/>
                        <a:t>Study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Reported finding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707907"/>
                  </a:ext>
                </a:extLst>
              </a:tr>
              <a:tr h="401910">
                <a:tc>
                  <a:txBody>
                    <a:bodyPr/>
                    <a:lstStyle/>
                    <a:p>
                      <a:r>
                        <a:rPr lang="nl-NL" sz="1000" dirty="0"/>
                        <a:t>Wang et al., </a:t>
                      </a:r>
                      <a:r>
                        <a:rPr lang="nl-NL" sz="1000" i="1" dirty="0"/>
                        <a:t>IEEE TBME 2017</a:t>
                      </a:r>
                      <a:endParaRPr lang="nl-NL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CHROM shows lower phase error but lower SNR than POS in non-motion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427427"/>
                  </a:ext>
                </a:extLst>
              </a:tr>
              <a:tr h="280119">
                <a:tc>
                  <a:txBody>
                    <a:bodyPr/>
                    <a:lstStyle/>
                    <a:p>
                      <a:r>
                        <a:rPr lang="en-US" sz="1000" dirty="0" err="1"/>
                        <a:t>Spetlik</a:t>
                      </a:r>
                      <a:r>
                        <a:rPr lang="en-US" sz="1000" dirty="0"/>
                        <a:t> et al., </a:t>
                      </a:r>
                      <a:r>
                        <a:rPr lang="en-US" sz="1000" i="1" dirty="0"/>
                        <a:t>Sensors 2020</a:t>
                      </a:r>
                      <a:endParaRPr 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POS can produce sign-reversed phase during sudden illumination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6339"/>
                  </a:ext>
                </a:extLst>
              </a:tr>
              <a:tr h="280119">
                <a:tc>
                  <a:txBody>
                    <a:bodyPr/>
                    <a:lstStyle/>
                    <a:p>
                      <a:r>
                        <a:rPr lang="fr-FR" sz="1000"/>
                        <a:t>Pilz et al., </a:t>
                      </a:r>
                      <a:r>
                        <a:rPr lang="fr-FR" sz="1000" i="1"/>
                        <a:t>Front. Physiol. 2022</a:t>
                      </a:r>
                      <a:endParaRPr lang="fr-FR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n-NO" sz="1000" dirty="0"/>
                        <a:t>POS lag SD ≈ 0.12 s, CHROM lag SD ≈ 0.04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081228"/>
                  </a:ext>
                </a:extLst>
              </a:tr>
              <a:tr h="523701">
                <a:tc>
                  <a:txBody>
                    <a:bodyPr/>
                    <a:lstStyle/>
                    <a:p>
                      <a:r>
                        <a:rPr lang="fr-FR" sz="1000"/>
                        <a:t>Rouast et al., </a:t>
                      </a:r>
                      <a:r>
                        <a:rPr lang="fr-FR" sz="1000" i="1"/>
                        <a:t>IEEE Access 2023</a:t>
                      </a:r>
                      <a:endParaRPr lang="fr-FR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“CHROM provides more temporally consistent waveforms; POS improves amplitude under motion but with higher </a:t>
                      </a:r>
                    </a:p>
                    <a:p>
                      <a:r>
                        <a:rPr lang="en-US" sz="1000" dirty="0"/>
                        <a:t>phase drift.”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022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968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For: Video 01-02, 01-03, 01-04, 01-05, 01-06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A77B091-DC1D-2F30-F2F2-EE6732763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5" y="1028708"/>
            <a:ext cx="4155257" cy="1638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034E47-CA40-9FF3-5D72-3BCFCEA8B414}"/>
              </a:ext>
            </a:extLst>
          </p:cNvPr>
          <p:cNvSpPr txBox="1"/>
          <p:nvPr/>
        </p:nvSpPr>
        <p:spPr>
          <a:xfrm>
            <a:off x="162124" y="2667282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median=+0.12 fr ±6.46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median=+2.67 fr ±11.57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54ACFEC3-DE04-1BED-BD3C-97AFA4915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0" y="988526"/>
            <a:ext cx="4710113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CE8B42-7923-21C1-4A3F-4D16A9A88F98}"/>
              </a:ext>
            </a:extLst>
          </p:cNvPr>
          <p:cNvSpPr txBox="1"/>
          <p:nvPr/>
        </p:nvSpPr>
        <p:spPr>
          <a:xfrm>
            <a:off x="5562724" y="2713892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median=-0.94 fr ±3.46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median=-0.28 fr ±11.10</a:t>
            </a:r>
          </a:p>
        </p:txBody>
      </p:sp>
      <p:pic>
        <p:nvPicPr>
          <p:cNvPr id="8200" name="Picture 8">
            <a:extLst>
              <a:ext uri="{FF2B5EF4-FFF2-40B4-BE49-F238E27FC236}">
                <a16:creationId xmlns:a16="http://schemas.microsoft.com/office/drawing/2014/main" id="{B54954E6-3C3D-1064-67E1-C7E7B2A5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9" y="3255692"/>
            <a:ext cx="4110293" cy="162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4F692B-66D0-2C3D-62E7-5A2185505866}"/>
              </a:ext>
            </a:extLst>
          </p:cNvPr>
          <p:cNvSpPr txBox="1"/>
          <p:nvPr/>
        </p:nvSpPr>
        <p:spPr>
          <a:xfrm>
            <a:off x="195624" y="4924816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median=-0.90 fr ±2.11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median=-0.28 fr ±11.2</a:t>
            </a:r>
          </a:p>
        </p:txBody>
      </p:sp>
      <p:pic>
        <p:nvPicPr>
          <p:cNvPr id="8204" name="Picture 12">
            <a:extLst>
              <a:ext uri="{FF2B5EF4-FFF2-40B4-BE49-F238E27FC236}">
                <a16:creationId xmlns:a16="http://schemas.microsoft.com/office/drawing/2014/main" id="{2B109B62-DC91-ED9F-8EEC-653D496D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609" y="3194515"/>
            <a:ext cx="4684203" cy="184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92187F-DD30-556A-BEC4-56ECA26441D5}"/>
              </a:ext>
            </a:extLst>
          </p:cNvPr>
          <p:cNvSpPr txBox="1"/>
          <p:nvPr/>
        </p:nvSpPr>
        <p:spPr>
          <a:xfrm>
            <a:off x="5562724" y="4970719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median=+0.47 fr ±1.67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median=+1.64 fr ±5.66</a:t>
            </a:r>
          </a:p>
        </p:txBody>
      </p:sp>
      <p:pic>
        <p:nvPicPr>
          <p:cNvPr id="8206" name="Picture 14">
            <a:extLst>
              <a:ext uri="{FF2B5EF4-FFF2-40B4-BE49-F238E27FC236}">
                <a16:creationId xmlns:a16="http://schemas.microsoft.com/office/drawing/2014/main" id="{FEFB3A91-DA53-170F-B7EF-469A04353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9" y="5597077"/>
            <a:ext cx="4176464" cy="16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6DEED2-C95E-8114-F73A-5561C62A3353}"/>
              </a:ext>
            </a:extLst>
          </p:cNvPr>
          <p:cNvSpPr txBox="1"/>
          <p:nvPr/>
        </p:nvSpPr>
        <p:spPr>
          <a:xfrm>
            <a:off x="4261164" y="6572737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median=+0.98 fr ±0.95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median=+1.29 fr ±11.29</a:t>
            </a:r>
          </a:p>
        </p:txBody>
      </p:sp>
    </p:spTree>
    <p:extLst>
      <p:ext uri="{BB962C8B-B14F-4D97-AF65-F5344CB8AC3E}">
        <p14:creationId xmlns:p14="http://schemas.microsoft.com/office/powerpoint/2010/main" val="584769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Appendix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23B25-A938-3C4F-8BC6-DB8A2AC5B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219310"/>
              </p:ext>
            </p:extLst>
          </p:nvPr>
        </p:nvGraphicFramePr>
        <p:xfrm>
          <a:off x="162124" y="1044327"/>
          <a:ext cx="10369152" cy="5933275"/>
        </p:xfrm>
        <a:graphic>
          <a:graphicData uri="http://schemas.openxmlformats.org/drawingml/2006/table">
            <a:tbl>
              <a:tblPr/>
              <a:tblGrid>
                <a:gridCol w="1296144">
                  <a:extLst>
                    <a:ext uri="{9D8B030D-6E8A-4147-A177-3AD203B41FA5}">
                      <a16:colId xmlns:a16="http://schemas.microsoft.com/office/drawing/2014/main" val="23407837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782779315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716765803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656439436"/>
                    </a:ext>
                  </a:extLst>
                </a:gridCol>
              </a:tblGrid>
              <a:tr h="157935">
                <a:tc>
                  <a:txBody>
                    <a:bodyPr/>
                    <a:lstStyle/>
                    <a:p>
                      <a:r>
                        <a:rPr lang="en-US" sz="800" b="1" dirty="0"/>
                        <a:t>Abbreviation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Full Form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Meaning / Description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Context in Discussion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727380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 dirty="0"/>
                        <a:t>BCG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Ballistocardiography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Measurement of tiny body movements caused by cardiac ejection of blood (mechanical action of the heart).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as the </a:t>
                      </a:r>
                      <a:r>
                        <a:rPr lang="en-US" sz="800" b="1"/>
                        <a:t>start reference signal</a:t>
                      </a:r>
                      <a:r>
                        <a:rPr lang="en-US" sz="800"/>
                        <a:t> in Yoshioka et al. (2020) via 24 GHz radar to compute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795554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 dirty="0"/>
                        <a:t>PPG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Photoplethysmography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Optical measurement of blood volume changes in tissue using a light source and detector (usually contact-based).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Conventional </a:t>
                      </a:r>
                      <a:r>
                        <a:rPr lang="en-US" sz="800" b="1"/>
                        <a:t>contact sensor</a:t>
                      </a:r>
                      <a:r>
                        <a:rPr lang="en-US" sz="800"/>
                        <a:t> reference for pulse arrival.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09777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iPPG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Imaging Photoplethysmography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PPG signal extracted from </a:t>
                      </a:r>
                      <a:r>
                        <a:rPr lang="en-US" sz="800" b="1" dirty="0"/>
                        <a:t>video frames</a:t>
                      </a:r>
                      <a:r>
                        <a:rPr lang="en-US" sz="800" dirty="0"/>
                        <a:t> (facial brightness changes), without physical contact.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in Yoshioka et al. (2020) for </a:t>
                      </a:r>
                      <a:r>
                        <a:rPr lang="en-US" sz="800" b="1"/>
                        <a:t>noncontact pulse detection</a:t>
                      </a:r>
                      <a:r>
                        <a:rPr lang="en-US" sz="800"/>
                        <a:t>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610254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rPPG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Remote Photoplethysmography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General term for noncontact PPG obtained from camera images (essentially same as iPPG).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main signal type in current research focus.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66269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Pulse Transit Time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taken for the arterial pulse wave to travel between two sites (from heart to face).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Key physiological metric; shorter PTT means higher arterial stiffness or BP.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8146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/>
                        <a:t>PAT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Pulse Arrival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between ECG R-wave (electrical heart activation) and PPG pulse arrival; includes </a:t>
                      </a:r>
                      <a:r>
                        <a:rPr lang="en-US" sz="800" b="1" dirty="0"/>
                        <a:t>pre-ejection period (PEP)</a:t>
                      </a:r>
                      <a:r>
                        <a:rPr lang="en-US" sz="800" dirty="0"/>
                        <a:t>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in both papers as a </a:t>
                      </a:r>
                      <a:r>
                        <a:rPr lang="en-US" sz="800" b="1"/>
                        <a:t>surrogate</a:t>
                      </a:r>
                      <a:r>
                        <a:rPr lang="en-US" sz="800"/>
                        <a:t> of true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54595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PEP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Pre-Ejection Period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between the ECG R-wave and the actual mechanical ejection of blood from the heart.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Present in PAT, but </a:t>
                      </a:r>
                      <a:r>
                        <a:rPr lang="en-US" sz="800" b="1"/>
                        <a:t>not</a:t>
                      </a:r>
                      <a:r>
                        <a:rPr lang="en-US" sz="800"/>
                        <a:t> in PTT (BCG avoids this).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921848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ECG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Electrocardiography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Electrical recording of heart activity, especially used to detect the R-wave for timing.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Contact reference for PAT in Block et al. (2020).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453763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Force exerted by circulating blood on arterial walls.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Physiological parameter correlated </a:t>
                      </a:r>
                      <a:r>
                        <a:rPr lang="en-US" sz="800" b="1"/>
                        <a:t>inversely</a:t>
                      </a:r>
                      <a:r>
                        <a:rPr lang="en-US" sz="800"/>
                        <a:t> with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934973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SBP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Systolic 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Maximum arterial pressure during heart contraction.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Strongly correlated with PTT (R ≈ −0.6).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31409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DBP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Diastolic 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Minimum arterial pressure during heart relaxation.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Weak correlation with PTT (R ≈ −0.2).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002393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ROI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Region of Interest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Specific area in an image or video used for signal extraction (e.g., cheek or forehead).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In iPPG, face ROI used for green-channel brightness analysis.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235589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FIR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Finite Impulse Response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Type of digital filter used for signal smoothing and noise reduction.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Applied to iPPG signals before peak detection in Yoshioka et al. (2020).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163924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cPTT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Conventional Pulse Transit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PTT derived from </a:t>
                      </a:r>
                      <a:r>
                        <a:rPr lang="en-US" sz="800" b="1"/>
                        <a:t>ECG–PPG</a:t>
                      </a:r>
                      <a:r>
                        <a:rPr lang="en-US" sz="800"/>
                        <a:t> or </a:t>
                      </a:r>
                      <a:r>
                        <a:rPr lang="en-US" sz="800" b="1"/>
                        <a:t>PPG–PPG</a:t>
                      </a:r>
                      <a:r>
                        <a:rPr lang="en-US" sz="800"/>
                        <a:t> pairs using contact sensors.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Defined in Block et al. (2020) as traditional, contact-based methods.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911810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dPTT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Differential Pulse Transit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Time difference between two distal PPGs (e.g., ear–toe).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Represents the </a:t>
                      </a:r>
                      <a:r>
                        <a:rPr lang="en-US" sz="800" b="1" dirty="0"/>
                        <a:t>difference of two PTTs</a:t>
                      </a:r>
                      <a:r>
                        <a:rPr lang="en-US" sz="800" dirty="0"/>
                        <a:t>, not a true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564356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PATfoot / PPG foot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—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The </a:t>
                      </a:r>
                      <a:r>
                        <a:rPr lang="en-US" sz="800" b="1"/>
                        <a:t>waveform onset</a:t>
                      </a:r>
                      <a:r>
                        <a:rPr lang="en-US" sz="800"/>
                        <a:t> (foot) used as a reliable timing marker for pulse arrival.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Identified in Block et al. (2020) as more consistent than the peak.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27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71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18824</TotalTime>
  <Words>1860</Words>
  <Application>Microsoft Office PowerPoint</Application>
  <PresentationFormat>Custom</PresentationFormat>
  <Paragraphs>274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Caladea</vt:lpstr>
      <vt:lpstr>HY견고딕</vt:lpstr>
      <vt:lpstr>HY중고딕</vt:lpstr>
      <vt:lpstr>맑은 고딕</vt:lpstr>
      <vt:lpstr>Arial</vt:lpstr>
      <vt:lpstr>Consolas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Rafsan Jany</cp:lastModifiedBy>
  <cp:revision>310</cp:revision>
  <cp:lastPrinted>2012-01-03T07:03:32Z</cp:lastPrinted>
  <dcterms:created xsi:type="dcterms:W3CDTF">2011-12-29T06:45:05Z</dcterms:created>
  <dcterms:modified xsi:type="dcterms:W3CDTF">2025-11-05T10:54:37Z</dcterms:modified>
</cp:coreProperties>
</file>