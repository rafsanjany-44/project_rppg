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644" r:id="rId3"/>
    <p:sldId id="636" r:id="rId4"/>
    <p:sldId id="637" r:id="rId5"/>
    <p:sldId id="638" r:id="rId6"/>
    <p:sldId id="639" r:id="rId7"/>
    <p:sldId id="640" r:id="rId8"/>
    <p:sldId id="641" r:id="rId9"/>
    <p:sldId id="642" r:id="rId10"/>
    <p:sldId id="643" r:id="rId11"/>
    <p:sldId id="646" r:id="rId12"/>
    <p:sldId id="647" r:id="rId13"/>
    <p:sldId id="649" r:id="rId14"/>
    <p:sldId id="648" r:id="rId15"/>
    <p:sldId id="650" r:id="rId16"/>
    <p:sldId id="645" r:id="rId17"/>
    <p:sldId id="622" r:id="rId18"/>
    <p:sldId id="631" r:id="rId19"/>
    <p:sldId id="632" r:id="rId20"/>
    <p:sldId id="633" r:id="rId21"/>
    <p:sldId id="634" r:id="rId22"/>
    <p:sldId id="635" r:id="rId23"/>
    <p:sldId id="652" r:id="rId24"/>
    <p:sldId id="653" r:id="rId25"/>
    <p:sldId id="654" r:id="rId26"/>
    <p:sldId id="655" r:id="rId27"/>
    <p:sldId id="651" r:id="rId28"/>
    <p:sldId id="625" r:id="rId29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405"/>
    <a:srgbClr val="E78B03"/>
    <a:srgbClr val="FF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47" autoAdjust="0"/>
  </p:normalViewPr>
  <p:slideViewPr>
    <p:cSldViewPr>
      <p:cViewPr varScale="1">
        <p:scale>
          <a:sx n="121" d="100"/>
          <a:sy n="121" d="100"/>
        </p:scale>
        <p:origin x="1402" y="93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82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512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871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125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117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505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763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470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594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374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27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0038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196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181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9287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097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7867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569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5462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4604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3704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4952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7569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9165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0184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442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91559" y="3204567"/>
            <a:ext cx="56886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Rafsan</a:t>
            </a:r>
            <a:r>
              <a:rPr lang="ko-KR" altLang="en-US" sz="2500" dirty="0">
                <a:latin typeface="Caladea" panose="020B0600000101010101" charset="0"/>
                <a:ea typeface="HY중고딕" pitchFamily="18" charset="-127"/>
              </a:rPr>
              <a:t> </a:t>
            </a:r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Jany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adea" panose="020B0600000101010101" charset="0"/>
                <a:cs typeface="Assistant" pitchFamily="2" charset="-79"/>
              </a:rPr>
              <a:t>Korean Convergence Medical Science</a:t>
            </a:r>
            <a:endParaRPr lang="en-US" sz="2400" b="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FA47E-2C3C-B12E-FF19-4D5F34866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48" y="6804967"/>
            <a:ext cx="1836174" cy="873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BF09D3-D4B7-A175-D7F1-10A5F9BC1834}"/>
              </a:ext>
            </a:extLst>
          </p:cNvPr>
          <p:cNvSpPr txBox="1"/>
          <p:nvPr/>
        </p:nvSpPr>
        <p:spPr>
          <a:xfrm>
            <a:off x="810195" y="1980431"/>
            <a:ext cx="9251361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Phase Lag Experiment with toolbox and Raw Code </a:t>
            </a:r>
          </a:p>
        </p:txBody>
      </p:sp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chemeClr val="accent6"/>
                </a:solidFill>
                <a:latin typeface="Caladea"/>
                <a:ea typeface="HY견고딕" pitchFamily="18" charset="-127"/>
              </a:rPr>
              <a:t>Verify JSON structure and timing for one PURE sequence</a:t>
            </a:r>
            <a:endParaRPr lang="en-US" altLang="ko-KR" sz="2400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ADB30AC-F724-5D9B-7C4B-5A7716E20675}"/>
              </a:ext>
            </a:extLst>
          </p:cNvPr>
          <p:cNvGrpSpPr/>
          <p:nvPr/>
        </p:nvGrpSpPr>
        <p:grpSpPr>
          <a:xfrm>
            <a:off x="62191" y="1404367"/>
            <a:ext cx="1296144" cy="936104"/>
            <a:chOff x="450156" y="1332359"/>
            <a:chExt cx="1296144" cy="93610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CDE175-4C90-0CF2-A125-44966F23FD98}"/>
                </a:ext>
              </a:extLst>
            </p:cNvPr>
            <p:cNvSpPr/>
            <p:nvPr/>
          </p:nvSpPr>
          <p:spPr>
            <a:xfrm>
              <a:off x="450156" y="1552014"/>
              <a:ext cx="1296144" cy="71644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PURE Dataset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(JSON + PNG)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8517EFE-AEBE-C9E9-3176-5852B425AC2F}"/>
                </a:ext>
              </a:extLst>
            </p:cNvPr>
            <p:cNvSpPr/>
            <p:nvPr/>
          </p:nvSpPr>
          <p:spPr>
            <a:xfrm>
              <a:off x="450156" y="1332359"/>
              <a:ext cx="1296144" cy="39073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406E0FA-ABF9-6E67-208C-B7F0DA159F01}"/>
                </a:ext>
              </a:extLst>
            </p:cNvPr>
            <p:cNvSpPr/>
            <p:nvPr/>
          </p:nvSpPr>
          <p:spPr>
            <a:xfrm>
              <a:off x="594172" y="1404367"/>
              <a:ext cx="1008112" cy="21602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E50A05AB-2EEC-AAF4-DA31-F81D89CA99E0}"/>
              </a:ext>
            </a:extLst>
          </p:cNvPr>
          <p:cNvSpPr/>
          <p:nvPr/>
        </p:nvSpPr>
        <p:spPr>
          <a:xfrm>
            <a:off x="1885752" y="1707033"/>
            <a:ext cx="2414017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1: JSON Validation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 Parse and verify PPG + timestamp integrity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2ED3FB-96C1-9735-6091-E2C7B9A81BA1}"/>
              </a:ext>
            </a:extLst>
          </p:cNvPr>
          <p:cNvSpPr/>
          <p:nvPr/>
        </p:nvSpPr>
        <p:spPr>
          <a:xfrm>
            <a:off x="4801593" y="1707033"/>
            <a:ext cx="2495127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2: Signal Extraction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 Extract PPG waveform and video frame times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BD4D57-3FD4-2142-B1DA-A852C0FBCF39}"/>
              </a:ext>
            </a:extLst>
          </p:cNvPr>
          <p:cNvSpPr/>
          <p:nvPr/>
        </p:nvSpPr>
        <p:spPr>
          <a:xfrm>
            <a:off x="7716664" y="1707033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3: Frame–Time Mapping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 Match image filenames to JSON timestamps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Confirm 1:1 mapping between frames &amp; JSON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9D5E54-C443-0275-ADCF-5468F5799C7C}"/>
              </a:ext>
            </a:extLst>
          </p:cNvPr>
          <p:cNvSpPr/>
          <p:nvPr/>
        </p:nvSpPr>
        <p:spPr>
          <a:xfrm>
            <a:off x="7716664" y="3191558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4: Timestamp Verification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 Compare PPG vs frame timestamps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Visualize drift and consistency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A3518C-479A-2F4E-CF8D-C4708CA32ECE}"/>
              </a:ext>
            </a:extLst>
          </p:cNvPr>
          <p:cNvSpPr/>
          <p:nvPr/>
        </p:nvSpPr>
        <p:spPr>
          <a:xfrm>
            <a:off x="4801593" y="3191558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5: Alignment &amp; Drift Check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 Align PPG and RGB-derived signals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Analyze without manual correction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767FC2-6DBD-2060-7951-D23DE0E07317}"/>
              </a:ext>
            </a:extLst>
          </p:cNvPr>
          <p:cNvSpPr/>
          <p:nvPr/>
        </p:nvSpPr>
        <p:spPr>
          <a:xfrm>
            <a:off x="1896915" y="3191558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6: Sliding-Window Lag Analysis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 8 s window, 1 s stride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Compute lag (POS / CHROM) per window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Visualize lag trends (line, bar, box)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B89D35-5D0F-9059-737B-635F0219EAE5}"/>
              </a:ext>
            </a:extLst>
          </p:cNvPr>
          <p:cNvSpPr/>
          <p:nvPr/>
        </p:nvSpPr>
        <p:spPr>
          <a:xfrm>
            <a:off x="1896915" y="5263669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7: Single-Window Inspection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Select specific window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Plot GT vs </a:t>
            </a:r>
            <a:r>
              <a:rPr lang="en-US" sz="800" dirty="0" err="1">
                <a:solidFill>
                  <a:schemeClr val="tx1"/>
                </a:solidFill>
              </a:rPr>
              <a:t>rPPG</a:t>
            </a:r>
            <a:r>
              <a:rPr lang="en-US" sz="800" dirty="0">
                <a:solidFill>
                  <a:schemeClr val="tx1"/>
                </a:solidFill>
              </a:rPr>
              <a:t> (pointwise differences)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3109C0-7B1B-6B42-5142-07EBA0CBDF34}"/>
              </a:ext>
            </a:extLst>
          </p:cNvPr>
          <p:cNvSpPr/>
          <p:nvPr/>
        </p:nvSpPr>
        <p:spPr>
          <a:xfrm>
            <a:off x="6352307" y="5260013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8: Full-Dataset Evaluation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Run on all PURE sequences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Aggregate mean &amp; std lag per subject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6678280-D586-0BEF-62D9-AE2915E2BEE3}"/>
              </a:ext>
            </a:extLst>
          </p:cNvPr>
          <p:cNvCxnSpPr>
            <a:stCxn id="9" idx="3"/>
            <a:endCxn id="20" idx="1"/>
          </p:cNvCxnSpPr>
          <p:nvPr/>
        </p:nvCxnSpPr>
        <p:spPr>
          <a:xfrm>
            <a:off x="1358335" y="1982247"/>
            <a:ext cx="527417" cy="19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B29E3A5-2CDB-9C2C-1FCF-15230FC34B8E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4299769" y="2001570"/>
            <a:ext cx="5018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423824-B08B-B0E6-AA5E-3601A50A8C27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7296720" y="2001570"/>
            <a:ext cx="4199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EE1DE7-D169-D815-5FFD-14A9B558975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9015958" y="2296106"/>
            <a:ext cx="0" cy="8954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548FC22-AF4C-811D-1746-8A69CA989CBA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>
            <a:off x="7400181" y="3486095"/>
            <a:ext cx="31648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96DED0C-50DC-7B45-DBA6-3E44C6FF2768}"/>
              </a:ext>
            </a:extLst>
          </p:cNvPr>
          <p:cNvCxnSpPr>
            <a:cxnSpLocks/>
            <a:stCxn id="25" idx="1"/>
            <a:endCxn id="26" idx="3"/>
          </p:cNvCxnSpPr>
          <p:nvPr/>
        </p:nvCxnSpPr>
        <p:spPr>
          <a:xfrm flipH="1">
            <a:off x="4495503" y="3486095"/>
            <a:ext cx="3060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B14C5CE-EFFF-C52E-A4AA-0ED440D064ED}"/>
              </a:ext>
            </a:extLst>
          </p:cNvPr>
          <p:cNvCxnSpPr>
            <a:cxnSpLocks/>
            <a:stCxn id="26" idx="2"/>
            <a:endCxn id="28" idx="0"/>
          </p:cNvCxnSpPr>
          <p:nvPr/>
        </p:nvCxnSpPr>
        <p:spPr>
          <a:xfrm>
            <a:off x="3196209" y="3780631"/>
            <a:ext cx="0" cy="14830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E29106A-C9EF-F9CF-77CD-999C60CB5870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4495503" y="5554550"/>
            <a:ext cx="1856804" cy="36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314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chemeClr val="accent6"/>
                </a:solidFill>
                <a:latin typeface="Caladea"/>
                <a:ea typeface="HY견고딕" pitchFamily="18" charset="-127"/>
              </a:rPr>
              <a:t>Verify JSON structure and timing for one PURE sequence</a:t>
            </a:r>
            <a:endParaRPr lang="en-US" altLang="ko-KR" sz="2400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7B89A-B0A8-FD93-A5A9-E69B2B5D22BE}"/>
              </a:ext>
            </a:extLst>
          </p:cNvPr>
          <p:cNvSpPr txBox="1"/>
          <p:nvPr/>
        </p:nvSpPr>
        <p:spPr>
          <a:xfrm>
            <a:off x="4770636" y="1012167"/>
            <a:ext cx="388843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</a:rPr>
              <a:t>--- First PPG samples (</a:t>
            </a:r>
            <a:r>
              <a:rPr lang="en-US" sz="900" dirty="0" err="1">
                <a:latin typeface="Consolas" panose="020B0609020204030204" pitchFamily="49" charset="0"/>
              </a:rPr>
              <a:t>time_s</a:t>
            </a:r>
            <a:r>
              <a:rPr lang="en-US" sz="900" dirty="0">
                <a:latin typeface="Consolas" panose="020B0609020204030204" pitchFamily="49" charset="0"/>
              </a:rPr>
              <a:t>, waveform, </a:t>
            </a:r>
            <a:r>
              <a:rPr lang="en-US" sz="900" dirty="0" err="1">
                <a:latin typeface="Consolas" panose="020B0609020204030204" pitchFamily="49" charset="0"/>
              </a:rPr>
              <a:t>HR_dev_BPM</a:t>
            </a:r>
            <a:r>
              <a:rPr lang="en-US" sz="900" dirty="0">
                <a:latin typeface="Consolas" panose="020B0609020204030204" pitchFamily="49" charset="0"/>
              </a:rPr>
              <a:t>) ---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0]  t =   0.0039 s  wave =   48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1]  t =   0.0360 s  wave =   49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2]  t =   0.0519 s  wave =   49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3]  t =   0.0679 s  wave =   49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4]  t =   0.0839 s  wave =   49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5]  t =   0.0999 s  wave =   49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6]  t =   0.1160 s  wave =   48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7]  t =   0.1320 s  wave =   47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8]  t =   0.1479 s  wave =   45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9]  t =   0.1639 s  wave =   43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PPG[ 10]  t =   0.1800 s  wave =   41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PPG[ 11]  t =   0.1962 s  wave =   40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PPG[ 12]  t =   0.2280 s  wave =   39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PPG[ 13]  t =   0.2439 s  wave =   37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PPG[ 14]  t =   0.2599 s  wave =   36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PPG[ 15]  t =   0.2760 s  wave =   34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PPG[ 16]  t =   0.2919 s  wave =   33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PPG[ 17]  t =   0.3079 s  wave =   33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PPG[ 18]  t =   0.3240 s  wave =   32  HR =  83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PPG[ 19]  t =   0.3399 s  wave =   32  HR =  83 BPM</a:t>
            </a:r>
          </a:p>
          <a:p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944C77-FEA4-AF6E-DDE8-82C548AC1582}"/>
              </a:ext>
            </a:extLst>
          </p:cNvPr>
          <p:cNvSpPr txBox="1"/>
          <p:nvPr/>
        </p:nvSpPr>
        <p:spPr>
          <a:xfrm>
            <a:off x="8489972" y="1092959"/>
            <a:ext cx="20162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--- First video frames (</a:t>
            </a:r>
            <a:r>
              <a:rPr lang="en-US" sz="900" dirty="0" err="1">
                <a:latin typeface="Consolas" panose="020B0609020204030204" pitchFamily="49" charset="0"/>
              </a:rPr>
              <a:t>time_s</a:t>
            </a:r>
            <a:r>
              <a:rPr lang="en-US" sz="900" dirty="0">
                <a:latin typeface="Consolas" panose="020B0609020204030204" pitchFamily="49" charset="0"/>
              </a:rPr>
              <a:t>) ---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0]  t =   0.0000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1]  t =   0.0333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2]  t =   0.0667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3]  t =   0.1000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4]  t =   0.1333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5]  t =   0.1667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6]  t =   0.2000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7]  t =   0.2334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8]  t =   0.2667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9]  t =   0.3000 s</a:t>
            </a:r>
          </a:p>
          <a:p>
            <a:r>
              <a:rPr lang="sv-SE" sz="900" dirty="0">
                <a:latin typeface="Consolas" panose="020B0609020204030204" pitchFamily="49" charset="0"/>
              </a:rPr>
              <a:t>VID[ 10]  t =   0.3334 s</a:t>
            </a:r>
          </a:p>
          <a:p>
            <a:r>
              <a:rPr lang="sv-SE" sz="900" dirty="0">
                <a:latin typeface="Consolas" panose="020B0609020204030204" pitchFamily="49" charset="0"/>
              </a:rPr>
              <a:t>VID[ 11]  t =   0.3667 s</a:t>
            </a:r>
          </a:p>
          <a:p>
            <a:r>
              <a:rPr lang="sv-SE" sz="900" dirty="0">
                <a:latin typeface="Consolas" panose="020B0609020204030204" pitchFamily="49" charset="0"/>
              </a:rPr>
              <a:t>VID[ 12]  t =   0.4000 s</a:t>
            </a:r>
          </a:p>
          <a:p>
            <a:r>
              <a:rPr lang="sv-SE" sz="900" dirty="0">
                <a:latin typeface="Consolas" panose="020B0609020204030204" pitchFamily="49" charset="0"/>
              </a:rPr>
              <a:t>VID[ 13]  t =   0.4334 s</a:t>
            </a:r>
          </a:p>
          <a:p>
            <a:r>
              <a:rPr lang="sv-SE" sz="900" dirty="0">
                <a:latin typeface="Consolas" panose="020B0609020204030204" pitchFamily="49" charset="0"/>
              </a:rPr>
              <a:t>VID[ 14]  t =   0.4667 s</a:t>
            </a:r>
          </a:p>
          <a:p>
            <a:r>
              <a:rPr lang="sv-SE" sz="900" dirty="0">
                <a:latin typeface="Consolas" panose="020B0609020204030204" pitchFamily="49" charset="0"/>
              </a:rPr>
              <a:t>VID[ 15]  t =   0.5000 s</a:t>
            </a:r>
          </a:p>
          <a:p>
            <a:r>
              <a:rPr lang="sv-SE" sz="900" dirty="0">
                <a:latin typeface="Consolas" panose="020B0609020204030204" pitchFamily="49" charset="0"/>
              </a:rPr>
              <a:t>VID[ 16]  t =   0.5334 s</a:t>
            </a:r>
          </a:p>
          <a:p>
            <a:r>
              <a:rPr lang="sv-SE" sz="900" dirty="0">
                <a:latin typeface="Consolas" panose="020B0609020204030204" pitchFamily="49" charset="0"/>
              </a:rPr>
              <a:t>VID[ 17]  t =   0.5667 s</a:t>
            </a:r>
          </a:p>
          <a:p>
            <a:r>
              <a:rPr lang="sv-SE" sz="900" dirty="0">
                <a:latin typeface="Consolas" panose="020B0609020204030204" pitchFamily="49" charset="0"/>
              </a:rPr>
              <a:t>VID[ 18]  t =   0.6000 s</a:t>
            </a:r>
          </a:p>
          <a:p>
            <a:r>
              <a:rPr lang="sv-SE" sz="900" dirty="0">
                <a:latin typeface="Consolas" panose="020B0609020204030204" pitchFamily="49" charset="0"/>
              </a:rPr>
              <a:t>VID[ 19]  t =   0.6334 s</a:t>
            </a:r>
            <a:endParaRPr lang="en-US" sz="900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F339B-A750-38BB-0832-4898CA0BD415}"/>
              </a:ext>
            </a:extLst>
          </p:cNvPr>
          <p:cNvSpPr txBox="1"/>
          <p:nvPr/>
        </p:nvSpPr>
        <p:spPr>
          <a:xfrm>
            <a:off x="225237" y="1226086"/>
            <a:ext cx="346527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Video No: 01-01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PPG samples:   4018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Video frames:  2026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--- Sampling statistics ---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PPG fs (mean):    59.340 Hz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PPG fs (std):     6.957 Hz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Video fps (mean): 29.911 Hz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Video fps (std):  0.769 Hz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1589961-3289-90FA-E547-71C2A294A4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8" y="4185359"/>
            <a:ext cx="4716978" cy="33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33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chemeClr val="accent6"/>
                </a:solidFill>
                <a:latin typeface="Caladea"/>
                <a:ea typeface="HY견고딕" pitchFamily="18" charset="-127"/>
              </a:rPr>
              <a:t>Verify JSON structure and timing for one PURE sequence</a:t>
            </a:r>
            <a:endParaRPr lang="en-US" altLang="ko-KR" sz="2400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7B89A-B0A8-FD93-A5A9-E69B2B5D22BE}"/>
              </a:ext>
            </a:extLst>
          </p:cNvPr>
          <p:cNvSpPr txBox="1"/>
          <p:nvPr/>
        </p:nvSpPr>
        <p:spPr>
          <a:xfrm>
            <a:off x="4770636" y="1012167"/>
            <a:ext cx="3582494" cy="330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050" dirty="0">
              <a:latin typeface="Consolas" panose="020B0609020204030204" pitchFamily="49" charset="0"/>
            </a:endParaRPr>
          </a:p>
          <a:p>
            <a:r>
              <a:rPr lang="en-US" sz="900" dirty="0">
                <a:latin typeface="Consolas" panose="020B0609020204030204" pitchFamily="49" charset="0"/>
              </a:rPr>
              <a:t>--- First PPG samples (</a:t>
            </a:r>
            <a:r>
              <a:rPr lang="en-US" sz="900" dirty="0" err="1">
                <a:latin typeface="Consolas" panose="020B0609020204030204" pitchFamily="49" charset="0"/>
              </a:rPr>
              <a:t>time_s</a:t>
            </a:r>
            <a:r>
              <a:rPr lang="en-US" sz="900" dirty="0">
                <a:latin typeface="Consolas" panose="020B0609020204030204" pitchFamily="49" charset="0"/>
              </a:rPr>
              <a:t>, waveform, </a:t>
            </a:r>
            <a:r>
              <a:rPr lang="en-US" sz="900" dirty="0" err="1">
                <a:latin typeface="Consolas" panose="020B0609020204030204" pitchFamily="49" charset="0"/>
              </a:rPr>
              <a:t>HR_dev_BPM</a:t>
            </a:r>
            <a:r>
              <a:rPr lang="en-US" sz="900" dirty="0">
                <a:latin typeface="Consolas" panose="020B0609020204030204" pitchFamily="49" charset="0"/>
              </a:rPr>
              <a:t>) ---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0]  t =   0.0014 s  wave =   47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1]  t =   0.0174 s  wave =   48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2]  t =   0.0335 s  wave =   49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3]  t =   0.0494 s  wave =   48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4]  t =   0.0654 s  wave =   46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5]  t =   0.0814 s  wave =   43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6]  t =   0.0974 s  wave =   40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7]  t =   0.1134 s  wave =   37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8]  t =   0.1294 s  wave =   34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 9]  t =   0.1454 s  wave =   32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PPG[ 10]  t =   0.1614 s  wave =   29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PPG[ 11]  t =   0.1774 s  wave =   28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PPG[ 12]  t =   0.1934 s  wave =   26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PPG[ 13]  t =   0.2094 s  wave =   25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PPG[ 14]  t =   0.2254 s  wave =   23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PPG[ 15]  t =   0.2414 s  wave =   22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PPG[ 16]  t =   0.2574 s  wave =   21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PPG[ 17]  t =   0.2734 s  wave =   21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PPG[ 18]  t =   0.3054 s  wave =   20  HR =  84 BPM</a:t>
            </a:r>
          </a:p>
          <a:p>
            <a:r>
              <a:rPr lang="en-US" sz="900" dirty="0">
                <a:latin typeface="Consolas" panose="020B0609020204030204" pitchFamily="49" charset="0"/>
              </a:rPr>
              <a:t>PPG[ 19]  t =   0.3214 s  wave =   19  HR =  84 BPM</a:t>
            </a:r>
            <a:endParaRPr lang="en-US" sz="105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944C77-FEA4-AF6E-DDE8-82C548AC1582}"/>
              </a:ext>
            </a:extLst>
          </p:cNvPr>
          <p:cNvSpPr txBox="1"/>
          <p:nvPr/>
        </p:nvSpPr>
        <p:spPr>
          <a:xfrm>
            <a:off x="8489972" y="1092959"/>
            <a:ext cx="20162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</a:rPr>
              <a:t>--- First video frames (</a:t>
            </a:r>
            <a:r>
              <a:rPr lang="en-US" sz="900" dirty="0" err="1">
                <a:latin typeface="Consolas" panose="020B0609020204030204" pitchFamily="49" charset="0"/>
              </a:rPr>
              <a:t>time_s</a:t>
            </a:r>
            <a:r>
              <a:rPr lang="en-US" sz="900" dirty="0">
                <a:latin typeface="Consolas" panose="020B0609020204030204" pitchFamily="49" charset="0"/>
              </a:rPr>
              <a:t>) ---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0]  t =   0.0000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1]  t =   0.0333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2]  t =   0.0667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3]  t =   0.1000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4]  t =   0.1333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5]  t =   0.1667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6]  t =   0.2000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7]  t =   0.2334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8]  t =   0.2667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 9]  t =   0.3000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VID[ 10]  t =   0.3334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VID[ 11]  t =   0.3667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VID[ 12]  t =   0.4000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VID[ 13]  t =   0.4334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VID[ 14]  t =   0.4667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VID[ 15]  t =   0.5000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VID[ 16]  t =   0.5334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VID[ 17]  t =   0.5667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VID[ 18]  t =   0.6000 s</a:t>
            </a:r>
          </a:p>
          <a:p>
            <a:r>
              <a:rPr lang="en-US" sz="900" dirty="0">
                <a:latin typeface="Consolas" panose="020B0609020204030204" pitchFamily="49" charset="0"/>
              </a:rPr>
              <a:t>VID[ 19]  t =   0.6334 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F339B-A750-38BB-0832-4898CA0BD415}"/>
              </a:ext>
            </a:extLst>
          </p:cNvPr>
          <p:cNvSpPr txBox="1"/>
          <p:nvPr/>
        </p:nvSpPr>
        <p:spPr>
          <a:xfrm>
            <a:off x="202236" y="1260351"/>
            <a:ext cx="2912216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Video No: 01-02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PPG samples:   4002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Video frames:  2023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--- Sampling statistics ---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PPG fs (mean):    59.200 Hz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PPG fs (std):     6.975 Hz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Video fps (mean): 29.911 Hz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Video fps (std):  0.786 Hz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50BFF-5ABB-F045-37F6-5647BB233E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0080"/>
            <a:ext cx="4554612" cy="324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7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Align PPG to video frame times and visualize from JSON File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57369-C534-2826-51D0-2444D0F999B0}"/>
              </a:ext>
            </a:extLst>
          </p:cNvPr>
          <p:cNvSpPr txBox="1"/>
          <p:nvPr/>
        </p:nvSpPr>
        <p:spPr>
          <a:xfrm>
            <a:off x="0" y="1332359"/>
            <a:ext cx="547211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Video: 01-01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PPG aligned to frame times using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linear interpolation.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Interpolates (aligns) the 60 Hz PPG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signal to the exact times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of the 30 Hz video frames.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Total PPG samples (raw): 4018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Total frames (aligned points): 2026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Selected window: 5.0 s to 11.0 s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(6.0 s duration)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PPG samples in window: 359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Frames in window:      180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First few aligned frame samples in the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selected window: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</a:t>
            </a:r>
            <a:r>
              <a:rPr lang="en-US" sz="1100" dirty="0" err="1">
                <a:latin typeface="Consolas" panose="020B0609020204030204" pitchFamily="49" charset="0"/>
              </a:rPr>
              <a:t>t_frame_s</a:t>
            </a:r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dirty="0" err="1">
                <a:latin typeface="Consolas" panose="020B0609020204030204" pitchFamily="49" charset="0"/>
              </a:rPr>
              <a:t>PPG_interp_at_frame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0   5.000011            45.491752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1   5.033355            42.323373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2   5.066669            39.579645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3   5.100013            36.495439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4   5.133358            33.411985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5   5.166672            31.664792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6   5.200016            30.245736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7   5.233360            28.173803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8   5.266674            26.080075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9   5.300018            25.000000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0FC698-F6AF-A1E9-6675-42526FF196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453" y="1009635"/>
            <a:ext cx="7578948" cy="606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9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57369-C534-2826-51D0-2444D0F999B0}"/>
              </a:ext>
            </a:extLst>
          </p:cNvPr>
          <p:cNvSpPr txBox="1"/>
          <p:nvPr/>
        </p:nvSpPr>
        <p:spPr>
          <a:xfrm>
            <a:off x="0" y="1332359"/>
            <a:ext cx="952316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Video: 01-01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JSON /Image entries (video frames): 2026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PNG frame files (Image*.</a:t>
            </a:r>
            <a:r>
              <a:rPr lang="en-US" sz="1100" dirty="0" err="1">
                <a:latin typeface="Consolas" panose="020B0609020204030204" pitchFamily="49" charset="0"/>
              </a:rPr>
              <a:t>png</a:t>
            </a:r>
            <a:r>
              <a:rPr lang="en-US" sz="1100" dirty="0">
                <a:latin typeface="Consolas" panose="020B0609020204030204" pitchFamily="49" charset="0"/>
              </a:rPr>
              <a:t>):        2026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Frame counts match.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--- Timestamp comparison ---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Same shape:   True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Same values:  True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First 10 frame timestamps (JSON vs filename):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[  0]  JSON: 1392643993642815000   IMG: 1392643993642815000 (Image1392643993642815000.png)   diff = 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[  1]  JSON: 1392643993676160000   IMG: 1392643993676160000 (Image1392643993676160000.png)   diff = 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[  2]  JSON: 1392643993709504000   IMG: 1392643993709504000 (Image1392643993709504000.png)   diff = 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[  3]  JSON: 1392643993742818000   IMG: 1392643993742818000 (Image1392643993742818000.png)   diff = 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[  4]  JSON: 1392643993776162000   IMG: 1392643993776162000 (Image1392643993776162000.png)   diff = 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[  5]  JSON: 1392643993809507000   IMG: 1392643993809507000 (Image1392643993809507000.png)   diff = 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[  6]  JSON: 1392643993842821000   IMG: 1392643993842821000 (Image1392643993842821000.png)   diff = 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[  7]  JSON: 1392643993876165000   IMG: 1392643993876165000 (Image1392643993876165000.png)   diff = 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[  8]  JSON: 1392643993909509000   IMG: 1392643993909509000 (Image1392643993909509000.png)   diff = 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[  9]  JSON: 1392643993942823000   IMG: 1392643993942823000 (Image1392643993942823000.png)   diff = 0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Result: JSON /Image timestamps and Image*.png filenames match exactly.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This confirms the 1:1 mapping between JSON frames and PNG frames.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B24E8-568A-51A1-8F4A-7C30F8E10945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Check Image Filenames vs JSON Timestamps</a:t>
            </a:r>
          </a:p>
        </p:txBody>
      </p:sp>
    </p:spTree>
    <p:extLst>
      <p:ext uri="{BB962C8B-B14F-4D97-AF65-F5344CB8AC3E}">
        <p14:creationId xmlns:p14="http://schemas.microsoft.com/office/powerpoint/2010/main" val="1255546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117650-9597-3FAA-1E91-CC4088AF0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492" y="1350014"/>
            <a:ext cx="7100416" cy="42308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57369-C534-2826-51D0-2444D0F999B0}"/>
              </a:ext>
            </a:extLst>
          </p:cNvPr>
          <p:cNvSpPr txBox="1"/>
          <p:nvPr/>
        </p:nvSpPr>
        <p:spPr>
          <a:xfrm>
            <a:off x="0" y="1332359"/>
            <a:ext cx="89471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Video: 01-01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JSON /Image entries:       2026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Image*.png frame files:    2026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--- JSON vs filename timestamp check 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Same shape:  True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Same values: True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--- Duration and offset summary ---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PPG duration:   67.695 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Video duration: 67.700 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Start offset (</a:t>
            </a:r>
            <a:r>
              <a:rPr lang="en-US" sz="1100" dirty="0" err="1">
                <a:latin typeface="Consolas" panose="020B0609020204030204" pitchFamily="49" charset="0"/>
              </a:rPr>
              <a:t>PPG_start</a:t>
            </a:r>
            <a:r>
              <a:rPr lang="en-US" sz="1100" dirty="0">
                <a:latin typeface="Consolas" panose="020B0609020204030204" pitchFamily="49" charset="0"/>
              </a:rPr>
              <a:t> - </a:t>
            </a:r>
            <a:r>
              <a:rPr lang="en-US" sz="1100" dirty="0" err="1">
                <a:latin typeface="Consolas" panose="020B0609020204030204" pitchFamily="49" charset="0"/>
              </a:rPr>
              <a:t>VID_start</a:t>
            </a:r>
            <a:r>
              <a:rPr lang="en-US" sz="1100" dirty="0">
                <a:latin typeface="Consolas" panose="020B0609020204030204" pitchFamily="49" charset="0"/>
              </a:rPr>
              <a:t>): 3.944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End offset   (</a:t>
            </a:r>
            <a:r>
              <a:rPr lang="en-US" sz="1100" dirty="0" err="1">
                <a:latin typeface="Consolas" panose="020B0609020204030204" pitchFamily="49" charset="0"/>
              </a:rPr>
              <a:t>PPG_end</a:t>
            </a:r>
            <a:r>
              <a:rPr lang="en-US" sz="1100" dirty="0">
                <a:latin typeface="Consolas" panose="020B0609020204030204" pitchFamily="49" charset="0"/>
              </a:rPr>
              <a:t>   - </a:t>
            </a:r>
            <a:r>
              <a:rPr lang="en-US" sz="1100" dirty="0" err="1">
                <a:latin typeface="Consolas" panose="020B0609020204030204" pitchFamily="49" charset="0"/>
              </a:rPr>
              <a:t>VID_end</a:t>
            </a:r>
            <a:r>
              <a:rPr lang="en-US" sz="1100" dirty="0">
                <a:latin typeface="Consolas" panose="020B0609020204030204" pitchFamily="49" charset="0"/>
              </a:rPr>
              <a:t>):   -1.309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--- Sampling statistics (recomputed) ---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PPG fs (mean):    59.340 Hz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PPG fs (std):     6.957 Hz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Video fps (mean): 29.911 Hz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Video fps (std):  0.769 Hz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--- Nearest-sample delta statistics ---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Mean(|delta|): 4.344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→ On average, each video frame lies only about 4.3 milliseconds away from the closest PPG sample in time.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Max(|delta|):  34.297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→ In the worst case, a frame is about 34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 away from its nearest PPG sample.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Zoom window: 5.0 s to 11.0 s (6.0 s duration)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PPG samples in window:   359  (59.34 × 6 ≈ 356)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Frames in window:        180  (29.91 × 6 ≈ 179)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Durations match: PPG and video cover the same ~67.7 s; difference is only 5 </a:t>
            </a:r>
            <a:r>
              <a:rPr lang="en-US" sz="1100" dirty="0" err="1">
                <a:latin typeface="Consolas" panose="020B0609020204030204" pitchFamily="49" charset="0"/>
              </a:rPr>
              <a:t>ms.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B24E8-568A-51A1-8F4A-7C30F8E10945}"/>
              </a:ext>
            </a:extLst>
          </p:cNvPr>
          <p:cNvSpPr txBox="1"/>
          <p:nvPr/>
        </p:nvSpPr>
        <p:spPr>
          <a:xfrm>
            <a:off x="162123" y="115965"/>
            <a:ext cx="907395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Timing diagnostics between PPG timestamps and image (frame) timestamps in JSON</a:t>
            </a:r>
          </a:p>
        </p:txBody>
      </p:sp>
    </p:spTree>
    <p:extLst>
      <p:ext uri="{BB962C8B-B14F-4D97-AF65-F5344CB8AC3E}">
        <p14:creationId xmlns:p14="http://schemas.microsoft.com/office/powerpoint/2010/main" val="3621132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57369-C534-2826-51D0-2444D0F999B0}"/>
              </a:ext>
            </a:extLst>
          </p:cNvPr>
          <p:cNvSpPr txBox="1"/>
          <p:nvPr/>
        </p:nvSpPr>
        <p:spPr>
          <a:xfrm>
            <a:off x="190500" y="1130872"/>
            <a:ext cx="4139962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Video: 01-01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Valid windows: 55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CHROM lags (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) for first few windows: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Window 0 [5.0, 13.0]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1 [6.0, 14.0]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2 [7.0, 15.0]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3 [8.0, 16.0]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4 [9.0, 17.0]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5 [10.0, 18.0]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6 [11.0, 19.0]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7 [12.0, 20.0]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b="1" dirty="0">
                <a:solidFill>
                  <a:srgbClr val="FF0000"/>
                </a:solidFill>
                <a:latin typeface="Consolas" panose="020B0609020204030204" pitchFamily="49" charset="0"/>
              </a:rPr>
              <a:t>Window 8 [13.0, 21.0] s: 66.67 </a:t>
            </a:r>
            <a:r>
              <a:rPr lang="en-US" sz="11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ms</a:t>
            </a:r>
            <a:endParaRPr lang="en-US" sz="11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9 [14.0, 22.0]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CHROM mean lag: 40.10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, std: 13.31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CHROM lag (frames): mean = 1.20, std = 0.40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B24E8-568A-51A1-8F4A-7C30F8E10945}"/>
              </a:ext>
            </a:extLst>
          </p:cNvPr>
          <p:cNvSpPr txBox="1"/>
          <p:nvPr/>
        </p:nvSpPr>
        <p:spPr>
          <a:xfrm>
            <a:off x="162123" y="115965"/>
            <a:ext cx="907395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Sliding-window constant-lag analysis with 8 s windows and 1 s stride.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8B3D7-DC32-D5EB-2FA3-96778D8508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767" y="1100412"/>
            <a:ext cx="4139962" cy="20699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68FFE2-8F03-B168-363D-964A079204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767" y="3401546"/>
            <a:ext cx="4139963" cy="17249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803333-643D-8C04-7410-9CC797A20E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112" y="5330223"/>
            <a:ext cx="4139962" cy="17249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897A37-DACA-2A68-E7B4-6657981F245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48" y="5376072"/>
            <a:ext cx="4139964" cy="172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17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57369-C534-2826-51D0-2444D0F999B0}"/>
              </a:ext>
            </a:extLst>
          </p:cNvPr>
          <p:cNvSpPr txBox="1"/>
          <p:nvPr/>
        </p:nvSpPr>
        <p:spPr>
          <a:xfrm>
            <a:off x="190500" y="1130872"/>
            <a:ext cx="4139962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Video: 01-0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Valid windows: 55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CHROM lags (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) for first few windows: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Window 0 [5.0, 13.0] s: 33.33 </a:t>
            </a:r>
            <a:r>
              <a:rPr lang="en-US" sz="11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ms</a:t>
            </a:r>
            <a:endParaRPr lang="en-US" sz="1100" b="1" dirty="0">
              <a:solidFill>
                <a:schemeClr val="tx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1 [6.0, 14.0]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2 [7.0, 15.0]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3 [8.0, 16.0]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4 [9.0, 17.0]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5 [10.0, 18.0]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6 [11.0, 19.0]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7 [12.0, 20.0]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</a:t>
            </a:r>
            <a:r>
              <a:rPr lang="en-US" sz="1100" b="1" dirty="0">
                <a:solidFill>
                  <a:srgbClr val="FB7405"/>
                </a:solidFill>
                <a:latin typeface="Consolas" panose="020B0609020204030204" pitchFamily="49" charset="0"/>
              </a:rPr>
              <a:t>Window 8 [13.0, 21.0] s: 66.67 </a:t>
            </a:r>
            <a:r>
              <a:rPr lang="en-US" sz="1100" b="1" dirty="0" err="1">
                <a:solidFill>
                  <a:srgbClr val="FB7405"/>
                </a:solidFill>
                <a:latin typeface="Consolas" panose="020B0609020204030204" pitchFamily="49" charset="0"/>
              </a:rPr>
              <a:t>ms</a:t>
            </a:r>
            <a:endParaRPr lang="en-US" sz="1100" b="1" dirty="0">
              <a:solidFill>
                <a:srgbClr val="FB7405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Window 9 [14.0, 22.0] s: 33.33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CHROM mean lag: 40.10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, std: 13.31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CHROM lag (frames): mean = 1.20, std = 0.40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B24E8-568A-51A1-8F4A-7C30F8E10945}"/>
              </a:ext>
            </a:extLst>
          </p:cNvPr>
          <p:cNvSpPr txBox="1"/>
          <p:nvPr/>
        </p:nvSpPr>
        <p:spPr>
          <a:xfrm>
            <a:off x="162123" y="115965"/>
            <a:ext cx="907395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Inspection on Window 0 and 8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F0DAF1-7472-B184-7604-D7EC6558C4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209" y="998031"/>
            <a:ext cx="6272376" cy="3145465"/>
          </a:xfrm>
          <a:prstGeom prst="rect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EBF1B8-2D78-4888-B29A-B5182AB311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209" y="4222049"/>
            <a:ext cx="6290930" cy="3145465"/>
          </a:xfrm>
          <a:prstGeom prst="rect">
            <a:avLst/>
          </a:prstGeom>
          <a:ln w="19050">
            <a:solidFill>
              <a:srgbClr val="FB7405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BA7EF7-2E6F-C196-2212-B8200703EE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76" y="4991823"/>
            <a:ext cx="3854198" cy="160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37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57369-C534-2826-51D0-2444D0F999B0}"/>
              </a:ext>
            </a:extLst>
          </p:cNvPr>
          <p:cNvSpPr txBox="1"/>
          <p:nvPr/>
        </p:nvSpPr>
        <p:spPr>
          <a:xfrm>
            <a:off x="190500" y="1130872"/>
            <a:ext cx="4139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Consolas" panose="020B0609020204030204" pitchFamily="49" charset="0"/>
              </a:rPr>
              <a:t>Stable, low-variance sequences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B24E8-568A-51A1-8F4A-7C30F8E10945}"/>
              </a:ext>
            </a:extLst>
          </p:cNvPr>
          <p:cNvSpPr txBox="1"/>
          <p:nvPr/>
        </p:nvSpPr>
        <p:spPr>
          <a:xfrm>
            <a:off x="162123" y="115965"/>
            <a:ext cx="907395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Sliding-window constant-lag analysis with 8 s windows and 1 s stride For PUER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D872F4-66AA-E61F-308E-5B0DC38AA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3879"/>
              </p:ext>
            </p:extLst>
          </p:nvPr>
        </p:nvGraphicFramePr>
        <p:xfrm>
          <a:off x="202084" y="1428917"/>
          <a:ext cx="5156200" cy="1402080"/>
        </p:xfrm>
        <a:graphic>
          <a:graphicData uri="http://schemas.openxmlformats.org/drawingml/2006/table">
            <a:tbl>
              <a:tblPr/>
              <a:tblGrid>
                <a:gridCol w="522146">
                  <a:extLst>
                    <a:ext uri="{9D8B030D-6E8A-4147-A177-3AD203B41FA5}">
                      <a16:colId xmlns:a16="http://schemas.microsoft.com/office/drawing/2014/main" val="1519120894"/>
                    </a:ext>
                  </a:extLst>
                </a:gridCol>
                <a:gridCol w="913757">
                  <a:extLst>
                    <a:ext uri="{9D8B030D-6E8A-4147-A177-3AD203B41FA5}">
                      <a16:colId xmlns:a16="http://schemas.microsoft.com/office/drawing/2014/main" val="436432573"/>
                    </a:ext>
                  </a:extLst>
                </a:gridCol>
                <a:gridCol w="783220">
                  <a:extLst>
                    <a:ext uri="{9D8B030D-6E8A-4147-A177-3AD203B41FA5}">
                      <a16:colId xmlns:a16="http://schemas.microsoft.com/office/drawing/2014/main" val="757962736"/>
                    </a:ext>
                  </a:extLst>
                </a:gridCol>
                <a:gridCol w="848489">
                  <a:extLst>
                    <a:ext uri="{9D8B030D-6E8A-4147-A177-3AD203B41FA5}">
                      <a16:colId xmlns:a16="http://schemas.microsoft.com/office/drawing/2014/main" val="3743033917"/>
                    </a:ext>
                  </a:extLst>
                </a:gridCol>
                <a:gridCol w="2088588">
                  <a:extLst>
                    <a:ext uri="{9D8B030D-6E8A-4147-A177-3AD203B41FA5}">
                      <a16:colId xmlns:a16="http://schemas.microsoft.com/office/drawing/2014/main" val="32614418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/>
                        <a:t>Seq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Mean lag (</a:t>
                      </a:r>
                      <a:r>
                        <a:rPr lang="en-US" sz="800" dirty="0" err="1"/>
                        <a:t>ms</a:t>
                      </a:r>
                      <a:r>
                        <a:rPr lang="en-US" sz="8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Std (ms)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Mean </a:t>
                      </a:r>
                    </a:p>
                    <a:p>
                      <a:r>
                        <a:rPr lang="en-US" sz="800" dirty="0"/>
                        <a:t>(frames)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Comment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112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01-01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40.1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13.3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Textbook case – perfect sync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682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03-01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92.5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2.8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Consistent offset ≈ 3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769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09-05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60.4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15.9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Excellent consistency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009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10-03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50.6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16.7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Steady and clean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309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01-04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33.3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~0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i="1" dirty="0"/>
                        <a:t>Ideal reference sequence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3192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FD3DA1-8422-0CF7-2655-6380310979FA}"/>
              </a:ext>
            </a:extLst>
          </p:cNvPr>
          <p:cNvSpPr txBox="1"/>
          <p:nvPr/>
        </p:nvSpPr>
        <p:spPr>
          <a:xfrm>
            <a:off x="190500" y="3081648"/>
            <a:ext cx="248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Consolas" panose="020B0609020204030204" pitchFamily="49" charset="0"/>
              </a:rPr>
              <a:t>Moderate variation sequences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F919CA6-AC0A-CBF7-7873-500BE0D2F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824824"/>
              </p:ext>
            </p:extLst>
          </p:nvPr>
        </p:nvGraphicFramePr>
        <p:xfrm>
          <a:off x="202084" y="3410002"/>
          <a:ext cx="3744416" cy="1328896"/>
        </p:xfrm>
        <a:graphic>
          <a:graphicData uri="http://schemas.openxmlformats.org/drawingml/2006/table">
            <a:tbl>
              <a:tblPr/>
              <a:tblGrid>
                <a:gridCol w="479723">
                  <a:extLst>
                    <a:ext uri="{9D8B030D-6E8A-4147-A177-3AD203B41FA5}">
                      <a16:colId xmlns:a16="http://schemas.microsoft.com/office/drawing/2014/main" val="2117890307"/>
                    </a:ext>
                  </a:extLst>
                </a:gridCol>
                <a:gridCol w="1019410">
                  <a:extLst>
                    <a:ext uri="{9D8B030D-6E8A-4147-A177-3AD203B41FA5}">
                      <a16:colId xmlns:a16="http://schemas.microsoft.com/office/drawing/2014/main" val="1597829403"/>
                    </a:ext>
                  </a:extLst>
                </a:gridCol>
                <a:gridCol w="2245283">
                  <a:extLst>
                    <a:ext uri="{9D8B030D-6E8A-4147-A177-3AD203B41FA5}">
                      <a16:colId xmlns:a16="http://schemas.microsoft.com/office/drawing/2014/main" val="2417929174"/>
                    </a:ext>
                  </a:extLst>
                </a:gridCol>
              </a:tblGrid>
              <a:tr h="182927">
                <a:tc>
                  <a:txBody>
                    <a:bodyPr/>
                    <a:lstStyle/>
                    <a:p>
                      <a:r>
                        <a:rPr lang="en-US" sz="800" dirty="0"/>
                        <a:t>Seq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Mean lag (</a:t>
                      </a:r>
                      <a:r>
                        <a:rPr lang="en-US" sz="800" dirty="0" err="1"/>
                        <a:t>ms</a:t>
                      </a:r>
                      <a:r>
                        <a:rPr lang="en-US" sz="8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Comment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740509"/>
                  </a:ext>
                </a:extLst>
              </a:tr>
              <a:tr h="328685">
                <a:tc>
                  <a:txBody>
                    <a:bodyPr/>
                    <a:lstStyle/>
                    <a:p>
                      <a:r>
                        <a:rPr lang="en-US" sz="800" dirty="0"/>
                        <a:t>05-01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69 ± 104 </a:t>
                      </a:r>
                      <a:r>
                        <a:rPr lang="en-US" sz="800" dirty="0" err="1"/>
                        <a:t>ms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Slight head movement → periodic lag drift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217116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r>
                        <a:rPr lang="en-US" sz="800"/>
                        <a:t>06-01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43 ± 144 </a:t>
                      </a:r>
                      <a:r>
                        <a:rPr lang="en-US" sz="800" dirty="0" err="1"/>
                        <a:t>ms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Possibly illumination fluctuation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051444"/>
                  </a:ext>
                </a:extLst>
              </a:tr>
              <a:tr h="328685">
                <a:tc>
                  <a:txBody>
                    <a:bodyPr/>
                    <a:lstStyle/>
                    <a:p>
                      <a:r>
                        <a:rPr lang="en-US" sz="800"/>
                        <a:t>07-06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17 ± 406 </a:t>
                      </a:r>
                      <a:r>
                        <a:rPr lang="en-US" sz="800" dirty="0" err="1"/>
                        <a:t>ms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Mild irregularity → artifact windows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430206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r>
                        <a:rPr lang="en-US" sz="800"/>
                        <a:t>08-02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11 ± 281 </a:t>
                      </a:r>
                      <a:r>
                        <a:rPr lang="en-US" sz="800" dirty="0" err="1"/>
                        <a:t>ms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Drifting light or rotation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11386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4688359-B8B1-9A03-6EAE-C146E14B6F07}"/>
              </a:ext>
            </a:extLst>
          </p:cNvPr>
          <p:cNvSpPr txBox="1"/>
          <p:nvPr/>
        </p:nvSpPr>
        <p:spPr>
          <a:xfrm>
            <a:off x="162122" y="4901619"/>
            <a:ext cx="30243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Consolas" panose="020B0609020204030204" pitchFamily="49" charset="0"/>
              </a:rPr>
              <a:t>High-variance / unstable sequences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F4420C3-8909-26FC-A669-9BF6CEC2D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091634"/>
              </p:ext>
            </p:extLst>
          </p:nvPr>
        </p:nvGraphicFramePr>
        <p:xfrm>
          <a:off x="202084" y="5268999"/>
          <a:ext cx="3788048" cy="1841360"/>
        </p:xfrm>
        <a:graphic>
          <a:graphicData uri="http://schemas.openxmlformats.org/drawingml/2006/table">
            <a:tbl>
              <a:tblPr/>
              <a:tblGrid>
                <a:gridCol w="619696">
                  <a:extLst>
                    <a:ext uri="{9D8B030D-6E8A-4147-A177-3AD203B41FA5}">
                      <a16:colId xmlns:a16="http://schemas.microsoft.com/office/drawing/2014/main" val="391578513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58955956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689235165"/>
                    </a:ext>
                  </a:extLst>
                </a:gridCol>
              </a:tblGrid>
              <a:tr h="230170">
                <a:tc>
                  <a:txBody>
                    <a:bodyPr/>
                    <a:lstStyle/>
                    <a:p>
                      <a:r>
                        <a:rPr lang="en-US" sz="800" dirty="0"/>
                        <a:t>Seq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Mean lag (ms)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Interpretation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340630"/>
                  </a:ext>
                </a:extLst>
              </a:tr>
              <a:tr h="230170">
                <a:tc>
                  <a:txBody>
                    <a:bodyPr/>
                    <a:lstStyle/>
                    <a:p>
                      <a:r>
                        <a:rPr lang="en-US" sz="800" dirty="0"/>
                        <a:t>02-02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14.7 ± 313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800"/>
                        <a:t>Large amplitude jitter → temporal mis-sync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02268"/>
                  </a:ext>
                </a:extLst>
              </a:tr>
              <a:tr h="230170">
                <a:tc>
                  <a:txBody>
                    <a:bodyPr/>
                    <a:lstStyle/>
                    <a:p>
                      <a:r>
                        <a:rPr lang="en-US" sz="800"/>
                        <a:t>04-04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–61 ± 557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Motion blur → cross-correlation flattening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452149"/>
                  </a:ext>
                </a:extLst>
              </a:tr>
              <a:tr h="230170">
                <a:tc>
                  <a:txBody>
                    <a:bodyPr/>
                    <a:lstStyle/>
                    <a:p>
                      <a:r>
                        <a:rPr lang="en-US" sz="800"/>
                        <a:t>05-04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199 ± 983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Gross misalignment, likely drift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708747"/>
                  </a:ext>
                </a:extLst>
              </a:tr>
              <a:tr h="230170">
                <a:tc>
                  <a:txBody>
                    <a:bodyPr/>
                    <a:lstStyle/>
                    <a:p>
                      <a:r>
                        <a:rPr lang="en-US" sz="800"/>
                        <a:t>05-06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206 ± 916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Periodic inversion → sign changes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709114"/>
                  </a:ext>
                </a:extLst>
              </a:tr>
              <a:tr h="230170">
                <a:tc>
                  <a:txBody>
                    <a:bodyPr/>
                    <a:lstStyle/>
                    <a:p>
                      <a:r>
                        <a:rPr lang="en-US" sz="800"/>
                        <a:t>07-02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23 ± 811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Lighting modulation / talking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583432"/>
                  </a:ext>
                </a:extLst>
              </a:tr>
              <a:tr h="230170">
                <a:tc>
                  <a:txBody>
                    <a:bodyPr/>
                    <a:lstStyle/>
                    <a:p>
                      <a:r>
                        <a:rPr lang="en-US" sz="800"/>
                        <a:t>09-04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56 ± 492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Large drift but same polarity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795738"/>
                  </a:ext>
                </a:extLst>
              </a:tr>
              <a:tr h="230170">
                <a:tc>
                  <a:txBody>
                    <a:bodyPr/>
                    <a:lstStyle/>
                    <a:p>
                      <a:r>
                        <a:rPr lang="en-US" sz="800"/>
                        <a:t>02-05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23 ± 129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Edge case, moderate stability</a:t>
                      </a:r>
                    </a:p>
                  </a:txBody>
                  <a:tcPr marL="74187" marR="74187" marT="37093" marB="37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69969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0E7696E-C457-CDF3-3E02-A4329C61ABC5}"/>
              </a:ext>
            </a:extLst>
          </p:cNvPr>
          <p:cNvSpPr txBox="1"/>
          <p:nvPr/>
        </p:nvSpPr>
        <p:spPr>
          <a:xfrm>
            <a:off x="5855031" y="1199432"/>
            <a:ext cx="30243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Consolas" panose="020B0609020204030204" pitchFamily="49" charset="0"/>
              </a:rPr>
              <a:t>Aggregate Statistics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B94E280-7728-ECD1-E49E-44DA4558D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839480"/>
              </p:ext>
            </p:extLst>
          </p:nvPr>
        </p:nvGraphicFramePr>
        <p:xfrm>
          <a:off x="5855031" y="1611497"/>
          <a:ext cx="2942605" cy="853440"/>
        </p:xfrm>
        <a:graphic>
          <a:graphicData uri="http://schemas.openxmlformats.org/drawingml/2006/table">
            <a:tbl>
              <a:tblPr/>
              <a:tblGrid>
                <a:gridCol w="1080119">
                  <a:extLst>
                    <a:ext uri="{9D8B030D-6E8A-4147-A177-3AD203B41FA5}">
                      <a16:colId xmlns:a16="http://schemas.microsoft.com/office/drawing/2014/main" val="305095669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804066807"/>
                    </a:ext>
                  </a:extLst>
                </a:gridCol>
                <a:gridCol w="998390">
                  <a:extLst>
                    <a:ext uri="{9D8B030D-6E8A-4147-A177-3AD203B41FA5}">
                      <a16:colId xmlns:a16="http://schemas.microsoft.com/office/drawing/2014/main" val="31421675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b="0" dirty="0"/>
                        <a:t>Statistic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/>
                        <a:t>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/>
                        <a:t>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353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0" dirty="0"/>
                        <a:t>Global mean lag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/>
                        <a:t>34.4 </a:t>
                      </a:r>
                      <a:r>
                        <a:rPr lang="en-US" sz="800" b="0" dirty="0" err="1"/>
                        <a:t>ms</a:t>
                      </a:r>
                      <a:endParaRPr lang="en-US" sz="8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/>
                        <a:t>≈ 1.03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829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0"/>
                        <a:t>Global median lag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/>
                        <a:t>33 </a:t>
                      </a:r>
                      <a:r>
                        <a:rPr lang="en-US" sz="800" b="0" dirty="0" err="1"/>
                        <a:t>ms</a:t>
                      </a:r>
                      <a:endParaRPr lang="en-US" sz="8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/>
                        <a:t>≈ 1 frame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452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0"/>
                        <a:t>Global std lag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/>
                        <a:t>≈ 240 </a:t>
                      </a:r>
                      <a:r>
                        <a:rPr lang="en-US" sz="800" b="0" dirty="0" err="1"/>
                        <a:t>ms</a:t>
                      </a:r>
                      <a:endParaRPr lang="en-US" sz="8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0" dirty="0"/>
                        <a:t>≈ 7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22882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0F72FB9-98A4-CBD3-E227-8156CD023392}"/>
              </a:ext>
            </a:extLst>
          </p:cNvPr>
          <p:cNvSpPr txBox="1"/>
          <p:nvPr/>
        </p:nvSpPr>
        <p:spPr>
          <a:xfrm>
            <a:off x="4914652" y="3732684"/>
            <a:ext cx="561662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Consolas" panose="020B0609020204030204" pitchFamily="49" charset="0"/>
              </a:rPr>
              <a:t>Interpretation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~70 % of sequences show consistent sub-frame-level lag variance 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(&lt; 100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).</a:t>
            </a:r>
            <a:br>
              <a:rPr lang="en-US" sz="1100" dirty="0">
                <a:latin typeface="Consolas" panose="020B0609020204030204" pitchFamily="49" charset="0"/>
              </a:rPr>
            </a:br>
            <a:endParaRPr lang="en-US" sz="11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Mean phase lag ≈ 1 frame ≈ 33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 — physically reasonable for 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camera–sensor synchronization.</a:t>
            </a:r>
            <a:br>
              <a:rPr lang="en-US" sz="1100" dirty="0">
                <a:latin typeface="Consolas" panose="020B0609020204030204" pitchFamily="49" charset="0"/>
              </a:rPr>
            </a:br>
            <a:endParaRPr lang="en-US" sz="11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The Caution: </a:t>
            </a:r>
            <a:r>
              <a:rPr lang="en-US" sz="1100" dirty="0">
                <a:latin typeface="Consolas" panose="020B0609020204030204" pitchFamily="49" charset="0"/>
              </a:rPr>
              <a:t>High-variance tails (&gt; 300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 std) correspond to </a:t>
            </a:r>
            <a:br>
              <a:rPr lang="en-US" sz="1100" dirty="0">
                <a:latin typeface="Consolas" panose="020B0609020204030204" pitchFamily="49" charset="0"/>
              </a:rPr>
            </a:br>
            <a:r>
              <a:rPr lang="en-US" sz="1100" dirty="0">
                <a:latin typeface="Consolas" panose="020B0609020204030204" pitchFamily="49" charset="0"/>
              </a:rPr>
              <a:t>conditions with motion, lighting flicker, or low SNR.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These distort the cross-correlation, shifting or flattening peaks → apparent phase jumps.</a:t>
            </a:r>
          </a:p>
        </p:txBody>
      </p:sp>
    </p:spTree>
    <p:extLst>
      <p:ext uri="{BB962C8B-B14F-4D97-AF65-F5344CB8AC3E}">
        <p14:creationId xmlns:p14="http://schemas.microsoft.com/office/powerpoint/2010/main" val="3251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BFA47E-2C3C-B12E-FF19-4D5F34866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48" y="6804967"/>
            <a:ext cx="1836174" cy="873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BF09D3-D4B7-A175-D7F1-10A5F9BC1834}"/>
              </a:ext>
            </a:extLst>
          </p:cNvPr>
          <p:cNvSpPr txBox="1"/>
          <p:nvPr/>
        </p:nvSpPr>
        <p:spPr>
          <a:xfrm>
            <a:off x="810196" y="3204567"/>
            <a:ext cx="9251361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Raw Code Experiment on UBFC</a:t>
            </a:r>
          </a:p>
        </p:txBody>
      </p:sp>
    </p:spTree>
    <p:extLst>
      <p:ext uri="{BB962C8B-B14F-4D97-AF65-F5344CB8AC3E}">
        <p14:creationId xmlns:p14="http://schemas.microsoft.com/office/powerpoint/2010/main" val="1350506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Raw Code for UBFC 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ADB30AC-F724-5D9B-7C4B-5A7716E20675}"/>
              </a:ext>
            </a:extLst>
          </p:cNvPr>
          <p:cNvGrpSpPr/>
          <p:nvPr/>
        </p:nvGrpSpPr>
        <p:grpSpPr>
          <a:xfrm>
            <a:off x="62191" y="1404367"/>
            <a:ext cx="1296144" cy="936104"/>
            <a:chOff x="450156" y="1332359"/>
            <a:chExt cx="1296144" cy="93610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CDE175-4C90-0CF2-A125-44966F23FD98}"/>
                </a:ext>
              </a:extLst>
            </p:cNvPr>
            <p:cNvSpPr/>
            <p:nvPr/>
          </p:nvSpPr>
          <p:spPr>
            <a:xfrm>
              <a:off x="450156" y="1552014"/>
              <a:ext cx="1296144" cy="71644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UBFC Dataset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(video.avi + gt.txt)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8517EFE-AEBE-C9E9-3176-5852B425AC2F}"/>
                </a:ext>
              </a:extLst>
            </p:cNvPr>
            <p:cNvSpPr/>
            <p:nvPr/>
          </p:nvSpPr>
          <p:spPr>
            <a:xfrm>
              <a:off x="450156" y="1332359"/>
              <a:ext cx="1296144" cy="39073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406E0FA-ABF9-6E67-208C-B7F0DA159F01}"/>
                </a:ext>
              </a:extLst>
            </p:cNvPr>
            <p:cNvSpPr/>
            <p:nvPr/>
          </p:nvSpPr>
          <p:spPr>
            <a:xfrm>
              <a:off x="594172" y="1404367"/>
              <a:ext cx="1008112" cy="21602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E50A05AB-2EEC-AAF4-DA31-F81D89CA99E0}"/>
              </a:ext>
            </a:extLst>
          </p:cNvPr>
          <p:cNvSpPr/>
          <p:nvPr/>
        </p:nvSpPr>
        <p:spPr>
          <a:xfrm>
            <a:off x="1885752" y="1707033"/>
            <a:ext cx="2414017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1: GT.txt Validation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 Parse and verify PPG + timestamp integrity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2ED3FB-96C1-9735-6091-E2C7B9A81BA1}"/>
              </a:ext>
            </a:extLst>
          </p:cNvPr>
          <p:cNvSpPr/>
          <p:nvPr/>
        </p:nvSpPr>
        <p:spPr>
          <a:xfrm>
            <a:off x="4801593" y="1707033"/>
            <a:ext cx="2495127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2: Signal Extraction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 Extract PPG waveform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BD4D57-3FD4-2142-B1DA-A852C0FBCF39}"/>
              </a:ext>
            </a:extLst>
          </p:cNvPr>
          <p:cNvSpPr/>
          <p:nvPr/>
        </p:nvSpPr>
        <p:spPr>
          <a:xfrm>
            <a:off x="7716663" y="1707033"/>
            <a:ext cx="2703475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3: Frame–Time Mapping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 Match GT to timestamps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Confirm 1:1 mapping between GT &amp; timestamps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9D5E54-C443-0275-ADCF-5468F5799C7C}"/>
              </a:ext>
            </a:extLst>
          </p:cNvPr>
          <p:cNvSpPr/>
          <p:nvPr/>
        </p:nvSpPr>
        <p:spPr>
          <a:xfrm>
            <a:off x="7769106" y="3191558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4: Timestamp Verification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 Compare GT vs timestamps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Visualize drift and consistency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A3518C-479A-2F4E-CF8D-C4708CA32ECE}"/>
              </a:ext>
            </a:extLst>
          </p:cNvPr>
          <p:cNvSpPr/>
          <p:nvPr/>
        </p:nvSpPr>
        <p:spPr>
          <a:xfrm>
            <a:off x="4801593" y="3191558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5: Alignment &amp; Drift Check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 Align PPG and RGB-derived signals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Analyze without manual correction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767FC2-6DBD-2060-7951-D23DE0E07317}"/>
              </a:ext>
            </a:extLst>
          </p:cNvPr>
          <p:cNvSpPr/>
          <p:nvPr/>
        </p:nvSpPr>
        <p:spPr>
          <a:xfrm>
            <a:off x="1896915" y="3191558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6: Sliding-Window Lag Analysis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 8 s window, 1 s stride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Compute lag (POS / CHROM) per window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Visualize lag trends (line, bar, box)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B89D35-5D0F-9059-737B-635F0219EAE5}"/>
              </a:ext>
            </a:extLst>
          </p:cNvPr>
          <p:cNvSpPr/>
          <p:nvPr/>
        </p:nvSpPr>
        <p:spPr>
          <a:xfrm>
            <a:off x="1896915" y="5263669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7: Single-Window Inspection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Select specific window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Plot GT vs </a:t>
            </a:r>
            <a:r>
              <a:rPr lang="en-US" sz="800" dirty="0" err="1">
                <a:solidFill>
                  <a:schemeClr val="tx1"/>
                </a:solidFill>
              </a:rPr>
              <a:t>rPPG</a:t>
            </a:r>
            <a:r>
              <a:rPr lang="en-US" sz="800" dirty="0">
                <a:solidFill>
                  <a:schemeClr val="tx1"/>
                </a:solidFill>
              </a:rPr>
              <a:t> (pointwise differences)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3109C0-7B1B-6B42-5142-07EBA0CBDF34}"/>
              </a:ext>
            </a:extLst>
          </p:cNvPr>
          <p:cNvSpPr/>
          <p:nvPr/>
        </p:nvSpPr>
        <p:spPr>
          <a:xfrm>
            <a:off x="6352307" y="5260013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Step 8: Full-Dataset Evaluation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Run on all PURE sequences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/>
                </a:solidFill>
              </a:rPr>
              <a:t>Aggregate mean &amp; std lag per subject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6678280-D586-0BEF-62D9-AE2915E2BEE3}"/>
              </a:ext>
            </a:extLst>
          </p:cNvPr>
          <p:cNvCxnSpPr>
            <a:stCxn id="9" idx="3"/>
            <a:endCxn id="20" idx="1"/>
          </p:cNvCxnSpPr>
          <p:nvPr/>
        </p:nvCxnSpPr>
        <p:spPr>
          <a:xfrm>
            <a:off x="1358335" y="1982247"/>
            <a:ext cx="527417" cy="19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B29E3A5-2CDB-9C2C-1FCF-15230FC34B8E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4299769" y="2001570"/>
            <a:ext cx="5018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423824-B08B-B0E6-AA5E-3601A50A8C27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7296720" y="2001570"/>
            <a:ext cx="4199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EE1DE7-D169-D815-5FFD-14A9B558975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9068400" y="2296106"/>
            <a:ext cx="1" cy="8954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548FC22-AF4C-811D-1746-8A69CA989CBA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>
            <a:off x="7400181" y="3486095"/>
            <a:ext cx="3689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96DED0C-50DC-7B45-DBA6-3E44C6FF2768}"/>
              </a:ext>
            </a:extLst>
          </p:cNvPr>
          <p:cNvCxnSpPr>
            <a:cxnSpLocks/>
            <a:stCxn id="25" idx="1"/>
            <a:endCxn id="26" idx="3"/>
          </p:cNvCxnSpPr>
          <p:nvPr/>
        </p:nvCxnSpPr>
        <p:spPr>
          <a:xfrm flipH="1">
            <a:off x="4495503" y="3486095"/>
            <a:ext cx="3060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B14C5CE-EFFF-C52E-A4AA-0ED440D064ED}"/>
              </a:ext>
            </a:extLst>
          </p:cNvPr>
          <p:cNvCxnSpPr>
            <a:cxnSpLocks/>
            <a:stCxn id="26" idx="2"/>
            <a:endCxn id="28" idx="0"/>
          </p:cNvCxnSpPr>
          <p:nvPr/>
        </p:nvCxnSpPr>
        <p:spPr>
          <a:xfrm>
            <a:off x="3196209" y="3780631"/>
            <a:ext cx="0" cy="14830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E29106A-C9EF-F9CF-77CD-999C60CB5870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4495503" y="5554550"/>
            <a:ext cx="1856804" cy="36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279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Verify gt.txt structure and timing for one UBFC Subject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F339B-A750-38BB-0832-4898CA0BD415}"/>
              </a:ext>
            </a:extLst>
          </p:cNvPr>
          <p:cNvSpPr txBox="1"/>
          <p:nvPr/>
        </p:nvSpPr>
        <p:spPr>
          <a:xfrm>
            <a:off x="53658" y="1110669"/>
            <a:ext cx="5184576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Consolas" panose="020B0609020204030204" pitchFamily="49" charset="0"/>
              </a:rPr>
              <a:t>Check GT and Video timing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Video No: 01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GT loaded successfully: 1547 PPG samples, 1547 timestamps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PPG samples and timestamps are 1:1 aligned (same length)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GT PPG duration: 52.691 s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GT  fps: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	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Video info: 1547 frames @ 29.264 fps → 52.863 s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Duration difference (video − GT): 0.172 s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Problematic Zone: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b="1" dirty="0">
                <a:latin typeface="Consolas" panose="020B0609020204030204" pitchFamily="49" charset="0"/>
              </a:rPr>
              <a:t>PPG: 0 → 52.691 s</a:t>
            </a:r>
          </a:p>
          <a:p>
            <a:r>
              <a:rPr lang="en-US" sz="1100" b="1" dirty="0">
                <a:latin typeface="Consolas" panose="020B0609020204030204" pitchFamily="49" charset="0"/>
              </a:rPr>
              <a:t>Video: 0 → 52.863 s</a:t>
            </a:r>
          </a:p>
          <a:p>
            <a:endParaRPr lang="en-US" sz="1100" b="1" dirty="0">
              <a:latin typeface="Consolas" panose="020B0609020204030204" pitchFamily="49" charset="0"/>
            </a:endParaRPr>
          </a:p>
          <a:p>
            <a:r>
              <a:rPr lang="en-US" sz="1100" b="1" dirty="0">
                <a:latin typeface="Consolas" panose="020B0609020204030204" pitchFamily="49" charset="0"/>
              </a:rPr>
              <a:t>That’s a 0.172 s offset (≈5 frames @ 29.3 fps).</a:t>
            </a:r>
          </a:p>
          <a:p>
            <a:endParaRPr lang="en-US" sz="1100" b="1" dirty="0">
              <a:latin typeface="Consolas" panose="020B0609020204030204" pitchFamily="49" charset="0"/>
            </a:endParaRPr>
          </a:p>
          <a:p>
            <a:r>
              <a:rPr lang="en-US" sz="1100" b="1" i="1" dirty="0">
                <a:latin typeface="Consolas" panose="020B0609020204030204" pitchFamily="49" charset="0"/>
              </a:rPr>
              <a:t>So, even though there are 1547 PPG values and 1547 frames, </a:t>
            </a:r>
          </a:p>
          <a:p>
            <a:r>
              <a:rPr lang="en-US" sz="1100" b="1" i="1" dirty="0">
                <a:latin typeface="Consolas" panose="020B0609020204030204" pitchFamily="49" charset="0"/>
              </a:rPr>
              <a:t>the last few video frames occur after the PPG stopped recording.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7B890-C84D-96AD-F0C7-5803D7725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88" y="2772519"/>
            <a:ext cx="1721546" cy="4320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1F74A3-6841-F972-EB4A-025756C65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048" y="1985166"/>
            <a:ext cx="6354812" cy="22241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E178727-28DE-74BF-4D3C-49DC2D7764F4}"/>
              </a:ext>
            </a:extLst>
          </p:cNvPr>
          <p:cNvSpPr txBox="1"/>
          <p:nvPr/>
        </p:nvSpPr>
        <p:spPr>
          <a:xfrm>
            <a:off x="5250313" y="4203823"/>
            <a:ext cx="52987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Consolas" panose="020B0609020204030204" pitchFamily="49" charset="0"/>
              </a:rPr>
              <a:t>Visualize GT/Video timing</a:t>
            </a:r>
          </a:p>
          <a:p>
            <a:endParaRPr lang="en-US" sz="1000" b="1" i="1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Loaded GT: 1547 samples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1 duplicated or non-increasing timestamps found at indices [494]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→ Adjusted duplicated timestamps by +1e-6 s increments.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Video info: 1547 frames @ 29.264 fps → 52.863 s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GT PPG duration: 52.691 s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Duration difference (video − GT): 0.172 s ≈ 5.04 frames (0.33 % of duration)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Frames within overlap: 1542 (5 trimmed)</a:t>
            </a:r>
          </a:p>
        </p:txBody>
      </p:sp>
    </p:spTree>
    <p:extLst>
      <p:ext uri="{BB962C8B-B14F-4D97-AF65-F5344CB8AC3E}">
        <p14:creationId xmlns:p14="http://schemas.microsoft.com/office/powerpoint/2010/main" val="668660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Align GT PPG to video frame times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F339B-A750-38BB-0832-4898CA0BD415}"/>
              </a:ext>
            </a:extLst>
          </p:cNvPr>
          <p:cNvSpPr txBox="1"/>
          <p:nvPr/>
        </p:nvSpPr>
        <p:spPr>
          <a:xfrm>
            <a:off x="53658" y="1110669"/>
            <a:ext cx="8029346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Loaded raw GT: 1547 PPG samples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--- GT timestamp anomaly report ---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1 non-increasing timestamps corrected at indices: [495]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GT PPG duration: 0.000 s → 52.691 s (</a:t>
            </a:r>
            <a:r>
              <a:rPr lang="el-GR" sz="1100" dirty="0">
                <a:latin typeface="Consolas" panose="020B0609020204030204" pitchFamily="49" charset="0"/>
              </a:rPr>
              <a:t>Δ=52.691 </a:t>
            </a:r>
            <a:r>
              <a:rPr lang="en-US" sz="1100" dirty="0">
                <a:latin typeface="Consolas" panose="020B0609020204030204" pitchFamily="49" charset="0"/>
              </a:rPr>
              <a:t>s)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GT dt stats: min=0.000001 s, max=0.223000 s, mean=0.034082 s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Video info: 1547 frames @ 29.264 fps → 52.863 s (0.000 s → 52.829 s)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--- Overlap between GT and video ---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GT range:    [0.000, 52.691] s (duration 52.691 s)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Video range: [0.000, 52.829] s (duration 52.863 s)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Overlap frames: 1542 / 1547 (trim start=0, trim end=5)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Interpolated GT PPG onto 1542 frame timestamps within overlap.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First 10 overlapping frames (</a:t>
            </a:r>
            <a:r>
              <a:rPr lang="en-US" sz="1100" dirty="0" err="1">
                <a:latin typeface="Consolas" panose="020B0609020204030204" pitchFamily="49" charset="0"/>
              </a:rPr>
              <a:t>frame_idx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  <a:r>
              <a:rPr lang="en-US" sz="1100" dirty="0" err="1">
                <a:latin typeface="Consolas" panose="020B0609020204030204" pitchFamily="49" charset="0"/>
              </a:rPr>
              <a:t>t_frame</a:t>
            </a:r>
            <a:r>
              <a:rPr lang="en-US" sz="1100" dirty="0">
                <a:latin typeface="Consolas" panose="020B0609020204030204" pitchFamily="49" charset="0"/>
              </a:rPr>
              <a:t>, nearest </a:t>
            </a:r>
            <a:r>
              <a:rPr lang="en-US" sz="1100" dirty="0" err="1">
                <a:latin typeface="Consolas" panose="020B0609020204030204" pitchFamily="49" charset="0"/>
              </a:rPr>
              <a:t>t_ppg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>
                <a:latin typeface="Consolas" panose="020B0609020204030204" pitchFamily="49" charset="0"/>
              </a:rPr>
              <a:t>t):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frame    0: </a:t>
            </a:r>
            <a:r>
              <a:rPr lang="en-US" sz="1100" dirty="0" err="1">
                <a:latin typeface="Consolas" panose="020B0609020204030204" pitchFamily="49" charset="0"/>
              </a:rPr>
              <a:t>t_frame</a:t>
            </a:r>
            <a:r>
              <a:rPr lang="en-US" sz="1100" dirty="0">
                <a:latin typeface="Consolas" panose="020B0609020204030204" pitchFamily="49" charset="0"/>
              </a:rPr>
              <a:t>=  0.0000 s, nearest </a:t>
            </a:r>
            <a:r>
              <a:rPr lang="en-US" sz="1100" dirty="0" err="1">
                <a:latin typeface="Consolas" panose="020B0609020204030204" pitchFamily="49" charset="0"/>
              </a:rPr>
              <a:t>t_ppg</a:t>
            </a:r>
            <a:r>
              <a:rPr lang="en-US" sz="1100" dirty="0">
                <a:latin typeface="Consolas" panose="020B0609020204030204" pitchFamily="49" charset="0"/>
              </a:rPr>
              <a:t>=  0.0000 s,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>
                <a:latin typeface="Consolas" panose="020B0609020204030204" pitchFamily="49" charset="0"/>
              </a:rPr>
              <a:t>t=   0.000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frame    1: </a:t>
            </a:r>
            <a:r>
              <a:rPr lang="en-US" sz="1100" dirty="0" err="1">
                <a:latin typeface="Consolas" panose="020B0609020204030204" pitchFamily="49" charset="0"/>
              </a:rPr>
              <a:t>t_frame</a:t>
            </a:r>
            <a:r>
              <a:rPr lang="en-US" sz="1100" dirty="0">
                <a:latin typeface="Consolas" panose="020B0609020204030204" pitchFamily="49" charset="0"/>
              </a:rPr>
              <a:t>=  0.0342 s, nearest </a:t>
            </a:r>
            <a:r>
              <a:rPr lang="en-US" sz="1100" dirty="0" err="1">
                <a:latin typeface="Consolas" panose="020B0609020204030204" pitchFamily="49" charset="0"/>
              </a:rPr>
              <a:t>t_ppg</a:t>
            </a:r>
            <a:r>
              <a:rPr lang="en-US" sz="1100" dirty="0">
                <a:latin typeface="Consolas" panose="020B0609020204030204" pitchFamily="49" charset="0"/>
              </a:rPr>
              <a:t>=  0.0550 s,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>
                <a:latin typeface="Consolas" panose="020B0609020204030204" pitchFamily="49" charset="0"/>
              </a:rPr>
              <a:t>t= -20.828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frame    2: </a:t>
            </a:r>
            <a:r>
              <a:rPr lang="en-US" sz="1100" dirty="0" err="1">
                <a:latin typeface="Consolas" panose="020B0609020204030204" pitchFamily="49" charset="0"/>
              </a:rPr>
              <a:t>t_frame</a:t>
            </a:r>
            <a:r>
              <a:rPr lang="en-US" sz="1100" dirty="0">
                <a:latin typeface="Consolas" panose="020B0609020204030204" pitchFamily="49" charset="0"/>
              </a:rPr>
              <a:t>=  0.0683 s, nearest </a:t>
            </a:r>
            <a:r>
              <a:rPr lang="en-US" sz="1100" dirty="0" err="1">
                <a:latin typeface="Consolas" panose="020B0609020204030204" pitchFamily="49" charset="0"/>
              </a:rPr>
              <a:t>t_ppg</a:t>
            </a:r>
            <a:r>
              <a:rPr lang="en-US" sz="1100" dirty="0">
                <a:latin typeface="Consolas" panose="020B0609020204030204" pitchFamily="49" charset="0"/>
              </a:rPr>
              <a:t>=  0.0670 s,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>
                <a:latin typeface="Consolas" panose="020B0609020204030204" pitchFamily="49" charset="0"/>
              </a:rPr>
              <a:t>t=   1.343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frame    3: </a:t>
            </a:r>
            <a:r>
              <a:rPr lang="en-US" sz="1100" dirty="0" err="1">
                <a:latin typeface="Consolas" panose="020B0609020204030204" pitchFamily="49" charset="0"/>
              </a:rPr>
              <a:t>t_frame</a:t>
            </a:r>
            <a:r>
              <a:rPr lang="en-US" sz="1100" dirty="0">
                <a:latin typeface="Consolas" panose="020B0609020204030204" pitchFamily="49" charset="0"/>
              </a:rPr>
              <a:t>=  0.1025 s, nearest </a:t>
            </a:r>
            <a:r>
              <a:rPr lang="en-US" sz="1100" dirty="0" err="1">
                <a:latin typeface="Consolas" panose="020B0609020204030204" pitchFamily="49" charset="0"/>
              </a:rPr>
              <a:t>t_ppg</a:t>
            </a:r>
            <a:r>
              <a:rPr lang="en-US" sz="1100" dirty="0">
                <a:latin typeface="Consolas" panose="020B0609020204030204" pitchFamily="49" charset="0"/>
              </a:rPr>
              <a:t>=  0.1090 s,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>
                <a:latin typeface="Consolas" panose="020B0609020204030204" pitchFamily="49" charset="0"/>
              </a:rPr>
              <a:t>t=  -6.485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frame    4: </a:t>
            </a:r>
            <a:r>
              <a:rPr lang="en-US" sz="1100" dirty="0" err="1">
                <a:latin typeface="Consolas" panose="020B0609020204030204" pitchFamily="49" charset="0"/>
              </a:rPr>
              <a:t>t_frame</a:t>
            </a:r>
            <a:r>
              <a:rPr lang="en-US" sz="1100" dirty="0">
                <a:latin typeface="Consolas" panose="020B0609020204030204" pitchFamily="49" charset="0"/>
              </a:rPr>
              <a:t>=  0.1367 s, nearest </a:t>
            </a:r>
            <a:r>
              <a:rPr lang="en-US" sz="1100" dirty="0" err="1">
                <a:latin typeface="Consolas" panose="020B0609020204030204" pitchFamily="49" charset="0"/>
              </a:rPr>
              <a:t>t_ppg</a:t>
            </a:r>
            <a:r>
              <a:rPr lang="en-US" sz="1100" dirty="0">
                <a:latin typeface="Consolas" panose="020B0609020204030204" pitchFamily="49" charset="0"/>
              </a:rPr>
              <a:t>=  0.1200 s,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>
                <a:latin typeface="Consolas" panose="020B0609020204030204" pitchFamily="49" charset="0"/>
              </a:rPr>
              <a:t>t=  16.686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frame    5: </a:t>
            </a:r>
            <a:r>
              <a:rPr lang="en-US" sz="1100" dirty="0" err="1">
                <a:latin typeface="Consolas" panose="020B0609020204030204" pitchFamily="49" charset="0"/>
              </a:rPr>
              <a:t>t_frame</a:t>
            </a:r>
            <a:r>
              <a:rPr lang="en-US" sz="1100" dirty="0">
                <a:latin typeface="Consolas" panose="020B0609020204030204" pitchFamily="49" charset="0"/>
              </a:rPr>
              <a:t>=  0.1709 s, nearest </a:t>
            </a:r>
            <a:r>
              <a:rPr lang="en-US" sz="1100" dirty="0" err="1">
                <a:latin typeface="Consolas" panose="020B0609020204030204" pitchFamily="49" charset="0"/>
              </a:rPr>
              <a:t>t_ppg</a:t>
            </a:r>
            <a:r>
              <a:rPr lang="en-US" sz="1100" dirty="0">
                <a:latin typeface="Consolas" panose="020B0609020204030204" pitchFamily="49" charset="0"/>
              </a:rPr>
              <a:t>=  0.1730 s,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>
                <a:latin typeface="Consolas" panose="020B0609020204030204" pitchFamily="49" charset="0"/>
              </a:rPr>
              <a:t>t=  -2.142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frame    6: </a:t>
            </a:r>
            <a:r>
              <a:rPr lang="en-US" sz="1100" dirty="0" err="1">
                <a:latin typeface="Consolas" panose="020B0609020204030204" pitchFamily="49" charset="0"/>
              </a:rPr>
              <a:t>t_frame</a:t>
            </a:r>
            <a:r>
              <a:rPr lang="en-US" sz="1100" dirty="0">
                <a:latin typeface="Consolas" panose="020B0609020204030204" pitchFamily="49" charset="0"/>
              </a:rPr>
              <a:t>=  0.2050 s, nearest </a:t>
            </a:r>
            <a:r>
              <a:rPr lang="en-US" sz="1100" dirty="0" err="1">
                <a:latin typeface="Consolas" panose="020B0609020204030204" pitchFamily="49" charset="0"/>
              </a:rPr>
              <a:t>t_ppg</a:t>
            </a:r>
            <a:r>
              <a:rPr lang="en-US" sz="1100" dirty="0">
                <a:latin typeface="Consolas" panose="020B0609020204030204" pitchFamily="49" charset="0"/>
              </a:rPr>
              <a:t>=  0.2170 s,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>
                <a:latin typeface="Consolas" panose="020B0609020204030204" pitchFamily="49" charset="0"/>
              </a:rPr>
              <a:t>t= -11.971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frame    7: </a:t>
            </a:r>
            <a:r>
              <a:rPr lang="en-US" sz="1100" dirty="0" err="1">
                <a:latin typeface="Consolas" panose="020B0609020204030204" pitchFamily="49" charset="0"/>
              </a:rPr>
              <a:t>t_frame</a:t>
            </a:r>
            <a:r>
              <a:rPr lang="en-US" sz="1100" dirty="0">
                <a:latin typeface="Consolas" panose="020B0609020204030204" pitchFamily="49" charset="0"/>
              </a:rPr>
              <a:t>=  0.2392 s, nearest </a:t>
            </a:r>
            <a:r>
              <a:rPr lang="en-US" sz="1100" dirty="0" err="1">
                <a:latin typeface="Consolas" panose="020B0609020204030204" pitchFamily="49" charset="0"/>
              </a:rPr>
              <a:t>t_ppg</a:t>
            </a:r>
            <a:r>
              <a:rPr lang="en-US" sz="1100" dirty="0">
                <a:latin typeface="Consolas" panose="020B0609020204030204" pitchFamily="49" charset="0"/>
              </a:rPr>
              <a:t>=  0.2290 s,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>
                <a:latin typeface="Consolas" panose="020B0609020204030204" pitchFamily="49" charset="0"/>
              </a:rPr>
              <a:t>t=  10.201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frame    8: </a:t>
            </a:r>
            <a:r>
              <a:rPr lang="en-US" sz="1100" dirty="0" err="1">
                <a:latin typeface="Consolas" panose="020B0609020204030204" pitchFamily="49" charset="0"/>
              </a:rPr>
              <a:t>t_frame</a:t>
            </a:r>
            <a:r>
              <a:rPr lang="en-US" sz="1100" dirty="0">
                <a:latin typeface="Consolas" panose="020B0609020204030204" pitchFamily="49" charset="0"/>
              </a:rPr>
              <a:t>=  0.2734 s, nearest </a:t>
            </a:r>
            <a:r>
              <a:rPr lang="en-US" sz="1100" dirty="0" err="1">
                <a:latin typeface="Consolas" panose="020B0609020204030204" pitchFamily="49" charset="0"/>
              </a:rPr>
              <a:t>t_ppg</a:t>
            </a:r>
            <a:r>
              <a:rPr lang="en-US" sz="1100" dirty="0">
                <a:latin typeface="Consolas" panose="020B0609020204030204" pitchFamily="49" charset="0"/>
              </a:rPr>
              <a:t>=  0.2710 s,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>
                <a:latin typeface="Consolas" panose="020B0609020204030204" pitchFamily="49" charset="0"/>
              </a:rPr>
              <a:t>t=   2.372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frame    9: </a:t>
            </a:r>
            <a:r>
              <a:rPr lang="en-US" sz="1100" dirty="0" err="1">
                <a:latin typeface="Consolas" panose="020B0609020204030204" pitchFamily="49" charset="0"/>
              </a:rPr>
              <a:t>t_frame</a:t>
            </a:r>
            <a:r>
              <a:rPr lang="en-US" sz="1100" dirty="0">
                <a:latin typeface="Consolas" panose="020B0609020204030204" pitchFamily="49" charset="0"/>
              </a:rPr>
              <a:t>=  0.3075 s, nearest </a:t>
            </a:r>
            <a:r>
              <a:rPr lang="en-US" sz="1100" dirty="0" err="1">
                <a:latin typeface="Consolas" panose="020B0609020204030204" pitchFamily="49" charset="0"/>
              </a:rPr>
              <a:t>t_ppg</a:t>
            </a:r>
            <a:r>
              <a:rPr lang="en-US" sz="1100" dirty="0">
                <a:latin typeface="Consolas" panose="020B0609020204030204" pitchFamily="49" charset="0"/>
              </a:rPr>
              <a:t>=  0.2920 s,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>
                <a:latin typeface="Consolas" panose="020B0609020204030204" pitchFamily="49" charset="0"/>
              </a:rPr>
              <a:t>t=  15.544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Visualization window: [23.329, 29.329] s (≈6.000 s)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GT samples in window: 181, frame-aligned samples in window: 176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26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Between CHROM and GT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F339B-A750-38BB-0832-4898CA0BD415}"/>
              </a:ext>
            </a:extLst>
          </p:cNvPr>
          <p:cNvSpPr txBox="1"/>
          <p:nvPr/>
        </p:nvSpPr>
        <p:spPr>
          <a:xfrm>
            <a:off x="21456" y="1110669"/>
            <a:ext cx="802934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Loaded raw GT: 1547 PPG samples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nn-NO" sz="1100" dirty="0">
                <a:latin typeface="Consolas" panose="020B0609020204030204" pitchFamily="49" charset="0"/>
              </a:rPr>
              <a:t>CHROM lag (ms): mean = 61.51, std = 851.61</a:t>
            </a:r>
          </a:p>
          <a:p>
            <a:r>
              <a:rPr lang="nn-NO" sz="1100" dirty="0">
                <a:latin typeface="Consolas" panose="020B0609020204030204" pitchFamily="49" charset="0"/>
              </a:rPr>
              <a:t>CHROM lag (frames): mean = 1.80, std = 24.92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First few windows: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Window 0 [0.0, 8.0] s: 820.12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, 24.00 frames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Window 1 [1.0, 9.0] s: -102.51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, -3.00 frames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Window 2 [2.0, 10.0] s: -375.89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, -11.00 frames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Window 3 [3.0, 11.0] s: -375.89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, -11.00 frames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Window 4 [4.0, 12.0] s: 512.57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, 15.00 frames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Window 5 [5.0, 13.0] s: 512.57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, 15.00 frames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Window 6 [6.0, 14.0] s: -375.89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, -11.00 frames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Window 7 [7.0, 15.0] s: -341.72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, -10.00 frames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Window 8 [8.0, 16.0] s: -1230.18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, -36.00 frames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Window 9 [9.0, 17.0] s: -307.54 </a:t>
            </a:r>
            <a:r>
              <a:rPr lang="en-US" sz="1100" dirty="0" err="1">
                <a:latin typeface="Consolas" panose="020B0609020204030204" pitchFamily="49" charset="0"/>
              </a:rPr>
              <a:t>ms</a:t>
            </a:r>
            <a:r>
              <a:rPr lang="en-US" sz="1100" dirty="0">
                <a:latin typeface="Consolas" panose="020B0609020204030204" pitchFamily="49" charset="0"/>
              </a:rPr>
              <a:t>, -9.00 frame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273F9-6026-176B-070E-1A39C170F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198" y="1404367"/>
            <a:ext cx="5922764" cy="19742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0C083F-EDD2-D9CA-1DAB-79F21682F8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479" y="4022222"/>
            <a:ext cx="6170202" cy="205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40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BFA47E-2C3C-B12E-FF19-4D5F34866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48" y="6804967"/>
            <a:ext cx="1836174" cy="873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BF09D3-D4B7-A175-D7F1-10A5F9BC1834}"/>
              </a:ext>
            </a:extLst>
          </p:cNvPr>
          <p:cNvSpPr txBox="1"/>
          <p:nvPr/>
        </p:nvSpPr>
        <p:spPr>
          <a:xfrm>
            <a:off x="810196" y="3204567"/>
            <a:ext cx="9251361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dirty="0" err="1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rPPG</a:t>
            </a: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-toolbox Reference Code</a:t>
            </a:r>
          </a:p>
        </p:txBody>
      </p:sp>
    </p:spTree>
    <p:extLst>
      <p:ext uri="{BB962C8B-B14F-4D97-AF65-F5344CB8AC3E}">
        <p14:creationId xmlns:p14="http://schemas.microsoft.com/office/powerpoint/2010/main" val="3649706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GT </a:t>
            </a:r>
            <a:r>
              <a:rPr lang="en-US" altLang="ko-KR" sz="2400" dirty="0" err="1">
                <a:solidFill>
                  <a:schemeClr val="accent6"/>
                </a:solidFill>
                <a:latin typeface="Caladea"/>
                <a:ea typeface="HY견고딕" pitchFamily="18" charset="-127"/>
              </a:rPr>
              <a:t>Downsampled</a:t>
            </a: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 Mechanism from </a:t>
            </a:r>
            <a:r>
              <a:rPr lang="en-US" altLang="ko-KR" sz="2400" dirty="0" err="1">
                <a:solidFill>
                  <a:schemeClr val="accent6"/>
                </a:solidFill>
                <a:latin typeface="Caladea"/>
                <a:ea typeface="HY견고딕" pitchFamily="18" charset="-127"/>
              </a:rPr>
              <a:t>rPPG</a:t>
            </a: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-toolbox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D7593-5CB4-5077-E5BF-353F81D79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132" y="970082"/>
            <a:ext cx="3055197" cy="1080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7B9253-44F7-D601-BB75-B834E68DE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532" y="995884"/>
            <a:ext cx="3024336" cy="10713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2016CB-6267-292D-3986-EA5F0FF3B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9774" y="974840"/>
            <a:ext cx="3052111" cy="10801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ABF25B-94C7-CE12-F3B1-607168D457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32" y="2153213"/>
            <a:ext cx="3055197" cy="10801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44A426-011D-30FC-53CB-56E0CAC5A1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4532" y="2157387"/>
            <a:ext cx="3024336" cy="10713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765830-357D-C4FE-6D00-B5B3CF5322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9774" y="2153213"/>
            <a:ext cx="3024336" cy="10702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248E94-9232-46A7-8271-65CA6A7BE6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132" y="3345726"/>
            <a:ext cx="3055197" cy="10801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C5A1B9B-198C-C71D-2164-FBB19F29CD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1770" y="3345726"/>
            <a:ext cx="3024337" cy="10713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4D8114C-9488-B30A-4BDB-72763B4563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1717" y="3349263"/>
            <a:ext cx="3024337" cy="107029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4C4BDA4-82BD-7A70-BD1E-E951C838A0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88611" y="4716735"/>
            <a:ext cx="6701361" cy="258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00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Mismatch of FPS: </a:t>
            </a:r>
            <a:r>
              <a:rPr lang="en-US" altLang="ko-KR" sz="2400" dirty="0" err="1">
                <a:solidFill>
                  <a:schemeClr val="accent6"/>
                </a:solidFill>
                <a:latin typeface="Caladea"/>
                <a:ea typeface="HY견고딕" pitchFamily="18" charset="-127"/>
              </a:rPr>
              <a:t>Vedio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3662" y="1044327"/>
            <a:ext cx="10679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For We assume that frames are uniformly spaced at the </a:t>
            </a:r>
            <a:r>
              <a:rPr lang="en-US" sz="1400" b="1" i="1" dirty="0">
                <a:latin typeface="Consolas" panose="020B0609020204030204" pitchFamily="49" charset="0"/>
              </a:rPr>
              <a:t>true</a:t>
            </a:r>
            <a:r>
              <a:rPr lang="en-US" sz="1400" dirty="0">
                <a:latin typeface="Consolas" panose="020B0609020204030204" pitchFamily="49" charset="0"/>
              </a:rPr>
              <a:t> frame rate: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A4564E-A4F9-6174-6019-0D784A8D5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977" y="1434183"/>
            <a:ext cx="2029108" cy="5144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3D7474-C272-92D0-233A-FFA0A265253D}"/>
              </a:ext>
            </a:extLst>
          </p:cNvPr>
          <p:cNvSpPr txBox="1"/>
          <p:nvPr/>
        </p:nvSpPr>
        <p:spPr>
          <a:xfrm>
            <a:off x="-18157" y="2391217"/>
            <a:ext cx="10679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Our current processing pipeline assumes a fixed 30 fps rate: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346BB9-E06C-73CF-7F04-05CA57A98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135" y="2657337"/>
            <a:ext cx="1914792" cy="5430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0E9317-A675-E44C-1B11-7FD13B67BCCF}"/>
              </a:ext>
            </a:extLst>
          </p:cNvPr>
          <p:cNvSpPr txBox="1"/>
          <p:nvPr/>
        </p:nvSpPr>
        <p:spPr>
          <a:xfrm>
            <a:off x="-39390" y="3472854"/>
            <a:ext cx="10679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For a 6s window, we expect exactly 180 frames: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8694DF-DD0E-E531-D7C2-99C8D8E261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9740" y="3840829"/>
            <a:ext cx="1981477" cy="2667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D0EF732-E825-9606-57EB-C0CD0FD5FCEA}"/>
              </a:ext>
            </a:extLst>
          </p:cNvPr>
          <p:cNvSpPr txBox="1"/>
          <p:nvPr/>
        </p:nvSpPr>
        <p:spPr>
          <a:xfrm>
            <a:off x="-28104" y="4523610"/>
            <a:ext cx="106797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When we calculate the number of the frame the number of the frame was exactly 180. No missing Frames. </a:t>
            </a:r>
            <a:r>
              <a:rPr lang="en-US" sz="1400" b="1" dirty="0">
                <a:latin typeface="Consolas" panose="020B0609020204030204" pitchFamily="49" charset="0"/>
              </a:rPr>
              <a:t>But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3945E1-5B20-F9F8-4587-4F14E9C47D58}"/>
              </a:ext>
            </a:extLst>
          </p:cNvPr>
          <p:cNvSpPr txBox="1"/>
          <p:nvPr/>
        </p:nvSpPr>
        <p:spPr>
          <a:xfrm>
            <a:off x="1729043" y="5797119"/>
            <a:ext cx="29436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If the real frame rate is: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E60772-CF75-3E1B-E752-F32F9B678F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9740" y="6165835"/>
            <a:ext cx="1829055" cy="247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6EB4BA6-FEC8-F45B-68E1-DB633C1256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1599" y="4937825"/>
            <a:ext cx="2210108" cy="6192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E3F1853-CF7D-02FC-F77D-06D54416ACB2}"/>
              </a:ext>
            </a:extLst>
          </p:cNvPr>
          <p:cNvSpPr txBox="1"/>
          <p:nvPr/>
        </p:nvSpPr>
        <p:spPr>
          <a:xfrm>
            <a:off x="-39391" y="6656003"/>
            <a:ext cx="106797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Then, The true window duration ≈ 6.02 s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Difference: ≈ 20 </a:t>
            </a:r>
            <a:r>
              <a:rPr lang="en-US" sz="1400" b="1" dirty="0" err="1">
                <a:latin typeface="Consolas" panose="020B0609020204030204" pitchFamily="49" charset="0"/>
              </a:rPr>
              <a:t>ms</a:t>
            </a:r>
            <a:r>
              <a:rPr lang="en-US" sz="1400" b="1" dirty="0">
                <a:latin typeface="Consolas" panose="020B0609020204030204" pitchFamily="49" charset="0"/>
              </a:rPr>
              <a:t> (video side)</a:t>
            </a:r>
          </a:p>
        </p:txBody>
      </p:sp>
    </p:spTree>
    <p:extLst>
      <p:ext uri="{BB962C8B-B14F-4D97-AF65-F5344CB8AC3E}">
        <p14:creationId xmlns:p14="http://schemas.microsoft.com/office/powerpoint/2010/main" val="1913968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Mismatch of FPS: GT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3662" y="1044327"/>
            <a:ext cx="106797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For the video stream, we do not have per-frame timestamps — only the </a:t>
            </a:r>
            <a:r>
              <a:rPr lang="en-US" sz="1400" b="1" dirty="0">
                <a:latin typeface="Consolas" panose="020B0609020204030204" pitchFamily="49" charset="0"/>
              </a:rPr>
              <a:t>total duration </a:t>
            </a:r>
            <a:r>
              <a:rPr lang="en-US" sz="1400" dirty="0">
                <a:latin typeface="Consolas" panose="020B0609020204030204" pitchFamily="49" charset="0"/>
              </a:rPr>
              <a:t>and </a:t>
            </a:r>
            <a:r>
              <a:rPr lang="en-US" sz="1400" b="1" dirty="0">
                <a:latin typeface="Consolas" panose="020B0609020204030204" pitchFamily="49" charset="0"/>
              </a:rPr>
              <a:t>number of frames.  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For the ground-truth (GT) signal, we have use </a:t>
            </a:r>
            <a:r>
              <a:rPr lang="en-US" sz="1400" b="1" dirty="0">
                <a:latin typeface="Consolas" panose="020B0609020204030204" pitchFamily="49" charset="0"/>
              </a:rPr>
              <a:t>true timestamps</a:t>
            </a:r>
            <a:r>
              <a:rPr lang="en-US" sz="1400" dirty="0">
                <a:latin typeface="Consolas" panose="020B0609020204030204" pitchFamily="49" charset="0"/>
              </a:rPr>
              <a:t> and they are not perfectly uniform.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The average sampling interval is: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D7474-C272-92D0-233A-FFA0A265253D}"/>
              </a:ext>
            </a:extLst>
          </p:cNvPr>
          <p:cNvSpPr txBox="1"/>
          <p:nvPr/>
        </p:nvSpPr>
        <p:spPr>
          <a:xfrm>
            <a:off x="-23228" y="2831747"/>
            <a:ext cx="1096777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For a </a:t>
            </a:r>
            <a:r>
              <a:rPr lang="en-US" sz="1400" b="1" dirty="0">
                <a:latin typeface="Consolas" panose="020B0609020204030204" pitchFamily="49" charset="0"/>
              </a:rPr>
              <a:t>6-second window</a:t>
            </a:r>
            <a:r>
              <a:rPr lang="en-US" sz="1400" dirty="0">
                <a:latin typeface="Consolas" panose="020B0609020204030204" pitchFamily="49" charset="0"/>
              </a:rPr>
              <a:t>, we expect exactly 180 frames: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An Ideal 60 Hz signal would yield 6 x 60 =360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The true GT signal provides roughly 6 x (59.2Hz – 59.3Hz) = 355-356 sample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hus</a:t>
            </a:r>
            <a:r>
              <a:rPr lang="en-US" sz="1400" dirty="0">
                <a:latin typeface="Consolas" panose="020B0609020204030204" pitchFamily="49" charset="0"/>
              </a:rPr>
              <a:t>, we lose around </a:t>
            </a:r>
            <a:r>
              <a:rPr lang="en-US" sz="1400" b="1" dirty="0">
                <a:latin typeface="Consolas" panose="020B0609020204030204" pitchFamily="49" charset="0"/>
              </a:rPr>
              <a:t>4–5 samples </a:t>
            </a:r>
            <a:r>
              <a:rPr lang="en-US" sz="1400" dirty="0">
                <a:latin typeface="Consolas" panose="020B0609020204030204" pitchFamily="49" charset="0"/>
              </a:rPr>
              <a:t>on average per window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When we later resample the GT signal (such as: 60 → 30 Hz, or directly to frame times), the interpolation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process fills these gaps, yielding one GT value per frame.  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Numerically, no values are missing — but physically, the underlying waveform briefly lacks real 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measurements.</a:t>
            </a:r>
          </a:p>
          <a:p>
            <a:endParaRPr lang="en-US" sz="1400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D9A513-A0DA-F986-093A-029D7CE7D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540" y="2121918"/>
            <a:ext cx="2343477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22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Mismatch of FPS: Synchronization Problem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3662" y="1044327"/>
            <a:ext cx="106797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onsolas" panose="020B0609020204030204" pitchFamily="49" charset="0"/>
              </a:rPr>
              <a:t>Video FPS = 30Hz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onsolas" panose="020B0609020204030204" pitchFamily="49" charset="0"/>
              </a:rPr>
              <a:t>Ground-truth (GT) sensor sampling rate = 60 Hz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endParaRPr lang="en-US" sz="1400" b="1" dirty="0">
              <a:latin typeface="Consolas" panose="020B0609020204030204" pitchFamily="49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1DAA17-7F17-753B-00B5-58E8DDD9D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436642"/>
              </p:ext>
            </p:extLst>
          </p:nvPr>
        </p:nvGraphicFramePr>
        <p:xfrm>
          <a:off x="1314252" y="1626434"/>
          <a:ext cx="747086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717">
                  <a:extLst>
                    <a:ext uri="{9D8B030D-6E8A-4147-A177-3AD203B41FA5}">
                      <a16:colId xmlns:a16="http://schemas.microsoft.com/office/drawing/2014/main" val="1666293260"/>
                    </a:ext>
                  </a:extLst>
                </a:gridCol>
                <a:gridCol w="1867717">
                  <a:extLst>
                    <a:ext uri="{9D8B030D-6E8A-4147-A177-3AD203B41FA5}">
                      <a16:colId xmlns:a16="http://schemas.microsoft.com/office/drawing/2014/main" val="2436089691"/>
                    </a:ext>
                  </a:extLst>
                </a:gridCol>
                <a:gridCol w="1867717">
                  <a:extLst>
                    <a:ext uri="{9D8B030D-6E8A-4147-A177-3AD203B41FA5}">
                      <a16:colId xmlns:a16="http://schemas.microsoft.com/office/drawing/2014/main" val="4254091699"/>
                    </a:ext>
                  </a:extLst>
                </a:gridCol>
                <a:gridCol w="1867717">
                  <a:extLst>
                    <a:ext uri="{9D8B030D-6E8A-4147-A177-3AD203B41FA5}">
                      <a16:colId xmlns:a16="http://schemas.microsoft.com/office/drawing/2014/main" val="332774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 rate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Assume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Difference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232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29.9114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-0.29% (</a:t>
                      </a:r>
                      <a:r>
                        <a:rPr lang="en-US" sz="1400" dirty="0" err="1"/>
                        <a:t>slightslower</a:t>
                      </a:r>
                      <a:r>
                        <a:rPr lang="en-US" sz="1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546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59.340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-1.10% (</a:t>
                      </a:r>
                      <a:r>
                        <a:rPr lang="en-US" sz="1400" dirty="0" err="1"/>
                        <a:t>slightslower</a:t>
                      </a:r>
                      <a:r>
                        <a:rPr lang="en-US" sz="1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179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5171236-93F7-CC46-1EAE-0052D7E60B03}"/>
              </a:ext>
            </a:extLst>
          </p:cNvPr>
          <p:cNvSpPr txBox="1"/>
          <p:nvPr/>
        </p:nvSpPr>
        <p:spPr>
          <a:xfrm>
            <a:off x="69145" y="2885274"/>
            <a:ext cx="931158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400" b="1" dirty="0">
                <a:latin typeface="Consolas" panose="020B0609020204030204" pitchFamily="49" charset="0"/>
              </a:rPr>
              <a:t>Let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CE2C84-74AF-E942-2D90-1B0418B97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80" y="3367398"/>
            <a:ext cx="3639058" cy="628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5FD284-3D5A-4FB5-088C-B8C383290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7589" y="3524037"/>
            <a:ext cx="3267531" cy="5048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201FD5-00BF-71E3-AAA5-33A5B6F14C18}"/>
              </a:ext>
            </a:extLst>
          </p:cNvPr>
          <p:cNvSpPr txBox="1"/>
          <p:nvPr/>
        </p:nvSpPr>
        <p:spPr>
          <a:xfrm>
            <a:off x="59967" y="4264557"/>
            <a:ext cx="93115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Video drift over 6s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9617B5-14DD-CCB3-D66B-B585C9A5AC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8308" y="4616239"/>
            <a:ext cx="4563112" cy="5334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323BF9-0A4A-8A4D-ECAD-8FB0D2210816}"/>
              </a:ext>
            </a:extLst>
          </p:cNvPr>
          <p:cNvSpPr txBox="1"/>
          <p:nvPr/>
        </p:nvSpPr>
        <p:spPr>
          <a:xfrm>
            <a:off x="54556" y="5193618"/>
            <a:ext cx="93115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GT drift over 6s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A1E67D4-42F2-6EB9-7F20-F3560FB6E9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6887" y="5690679"/>
            <a:ext cx="4534533" cy="5715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E89CD47-229A-78DF-9F68-2ECBDC158654}"/>
              </a:ext>
            </a:extLst>
          </p:cNvPr>
          <p:cNvSpPr txBox="1"/>
          <p:nvPr/>
        </p:nvSpPr>
        <p:spPr>
          <a:xfrm>
            <a:off x="162124" y="6572901"/>
            <a:ext cx="2448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Combined mismatch 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74789E4-BBAA-8E41-E8BF-28FEFF89DD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4661" y="6572901"/>
            <a:ext cx="3248478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99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Mismatch of FPS: Synchronization Problem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3662" y="1044327"/>
            <a:ext cx="106797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Why this occur?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400" b="1" dirty="0">
                <a:latin typeface="Consolas" panose="020B0609020204030204" pitchFamily="49" charset="0"/>
              </a:rPr>
              <a:t>The assumed sampling-rate ration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71236-93F7-CC46-1EAE-0052D7E60B03}"/>
              </a:ext>
            </a:extLst>
          </p:cNvPr>
          <p:cNvSpPr txBox="1"/>
          <p:nvPr/>
        </p:nvSpPr>
        <p:spPr>
          <a:xfrm>
            <a:off x="69145" y="2885274"/>
            <a:ext cx="931158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400" b="1" dirty="0">
                <a:latin typeface="Consolas" panose="020B0609020204030204" pitchFamily="49" charset="0"/>
              </a:rPr>
              <a:t>But true ratio: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BF0147-A6BF-3479-E307-CB7B0EC2F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189" y="1770768"/>
            <a:ext cx="2286319" cy="724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4F24AC-9F6D-BBDF-E53C-F66EF0F5F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885" y="3239466"/>
            <a:ext cx="2343477" cy="6382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BB3D3E-C816-3F2A-72F5-F2CA089B6299}"/>
              </a:ext>
            </a:extLst>
          </p:cNvPr>
          <p:cNvSpPr txBox="1"/>
          <p:nvPr/>
        </p:nvSpPr>
        <p:spPr>
          <a:xfrm>
            <a:off x="33233" y="4266549"/>
            <a:ext cx="93115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</a:rPr>
              <a:t>This 0.8 % slope error accumulates steadily, producing a </a:t>
            </a:r>
            <a:r>
              <a:rPr lang="en-US" sz="1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linear phase lag</a:t>
            </a:r>
            <a:r>
              <a:rPr lang="en-US" sz="1200" b="1" dirty="0">
                <a:latin typeface="Consolas" panose="020B0609020204030204" pitchFamily="49" charset="0"/>
              </a:rPr>
              <a:t> between the signals.</a:t>
            </a:r>
          </a:p>
        </p:txBody>
      </p:sp>
    </p:spTree>
    <p:extLst>
      <p:ext uri="{BB962C8B-B14F-4D97-AF65-F5344CB8AC3E}">
        <p14:creationId xmlns:p14="http://schemas.microsoft.com/office/powerpoint/2010/main" val="366491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Mismatch of FPS: Synchronization Problem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6831" y="1106383"/>
            <a:ext cx="106797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Over All analysis of PURE dataset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Across all 59 recordings, the true GT sampling rate averaged:59.46 Hz ± 0.30 Hz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The video frame rate averaged: 29.97 Hz ± 0.04 Hz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E82016-9F72-F56F-7984-584900E82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48" y="2399506"/>
            <a:ext cx="4608512" cy="17222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1C420A-F572-DF6A-DE72-F3DE91C74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6700" y="2443414"/>
            <a:ext cx="4469031" cy="16426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926C75-07CE-445E-64B4-666A6F4D7B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612" y="4500711"/>
            <a:ext cx="4453048" cy="16641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3315308-51CB-AAC1-FE81-8F7302A1C9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4732" y="4574950"/>
            <a:ext cx="4055740" cy="151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63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Compensate Literatures - 1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-53900" y="1126395"/>
            <a:ext cx="10679738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Adaptive compensation of measurement delays in multi-sensor fusion for inertial motion tracking using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moving horizon estimation (2022)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200" b="1" dirty="0">
                <a:latin typeface="Consolas" panose="020B0609020204030204" pitchFamily="49" charset="0"/>
              </a:rPr>
              <a:t>The Problem – </a:t>
            </a:r>
            <a:r>
              <a:rPr lang="en-US" sz="1200" dirty="0">
                <a:latin typeface="Consolas" panose="020B0609020204030204" pitchFamily="49" charset="0"/>
              </a:rPr>
              <a:t>Time Misalignment in Multi-Sensor Fusion</a:t>
            </a:r>
            <a:br>
              <a:rPr lang="en-US" sz="1200" dirty="0">
                <a:latin typeface="Consolas" panose="020B0609020204030204" pitchFamily="49" charset="0"/>
              </a:rPr>
            </a:br>
            <a:endParaRPr lang="en-US" sz="12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Modern motion-tracking systems combine sensors like IMUs (fast) and GNSS (slow).</a:t>
            </a:r>
            <a:br>
              <a:rPr lang="en-US" sz="1200" dirty="0">
                <a:latin typeface="Consolas" panose="020B0609020204030204" pitchFamily="49" charset="0"/>
              </a:rPr>
            </a:br>
            <a:endParaRPr lang="en-US" sz="12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Each sensor has its own clock, sampling rate, and processing pipeline, 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leading </a:t>
            </a:r>
            <a:r>
              <a:rPr lang="en-US" sz="1200" dirty="0" err="1">
                <a:latin typeface="Consolas" panose="020B0609020204030204" pitchFamily="49" charset="0"/>
              </a:rPr>
              <a:t>to:Unknown</a:t>
            </a:r>
            <a:r>
              <a:rPr lang="en-US" sz="1200" dirty="0">
                <a:latin typeface="Consolas" panose="020B0609020204030204" pitchFamily="49" charset="0"/>
              </a:rPr>
              <a:t> &amp; varying delays (GNSS data arrives late by 100–200 </a:t>
            </a:r>
            <a:r>
              <a:rPr lang="en-US" sz="1200" dirty="0" err="1">
                <a:latin typeface="Consolas" panose="020B0609020204030204" pitchFamily="49" charset="0"/>
              </a:rPr>
              <a:t>ms</a:t>
            </a:r>
            <a:r>
              <a:rPr lang="en-US" sz="1200" dirty="0">
                <a:latin typeface="Consolas" panose="020B0609020204030204" pitchFamily="49" charset="0"/>
              </a:rPr>
              <a:t>).</a:t>
            </a:r>
            <a:br>
              <a:rPr lang="en-US" sz="1200" dirty="0">
                <a:latin typeface="Consolas" panose="020B0609020204030204" pitchFamily="49" charset="0"/>
              </a:rPr>
            </a:br>
            <a:endParaRPr lang="en-US" sz="12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Different sampling rates (multi-rate problem).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No common synchronization signal between subsystems.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These delays cause pose estimation drift, since data are fused assuming incorrect timestamps.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→ Even a small delay can introduce centimeter-scale position error or degree-scale orientation error</a:t>
            </a:r>
            <a:r>
              <a:rPr lang="en-US" sz="1400" b="1" dirty="0">
                <a:latin typeface="Consolas" panose="020B0609020204030204" pitchFamily="49" charset="0"/>
              </a:rPr>
              <a:t>.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latin typeface="Consolas" panose="020B0609020204030204" pitchFamily="49" charset="0"/>
              </a:rPr>
              <a:t>The Solution </a:t>
            </a:r>
            <a:r>
              <a:rPr lang="en-US" sz="1200" dirty="0">
                <a:latin typeface="Consolas" panose="020B0609020204030204" pitchFamily="49" charset="0"/>
              </a:rPr>
              <a:t>– Adaptive Delay Estimation via MHE + Direct Collocation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The authors reformulate the fusion problem as a continuous-time Moving Horizon Estimation (MHE) optimization.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Instead of assuming fixed sampling times, they: Model system dynamics continuously (IMU motion model).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Use direct collocation – represent the state trajectory by smooth polynomials.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Treat each measurement’s true timestamp (τₖ) as an optimization variable.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Estimate τₖ jointly with states (position, velocity, orientation) to find the best-aligned delay automatically.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This means the estimator adapts to unknown, time-varying delays — no external sync signal needed.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Make the estimator itself “learn” the time delay — by optimizing measurement timing in a continuous-time MHE framework, sensors can stay synchronized without hardware sync lines.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E9B06-3DEF-58B3-E50B-161E00DE2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8948" y="1491226"/>
            <a:ext cx="2721496" cy="200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70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Compensate Literature - 1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-53900" y="1126395"/>
            <a:ext cx="10679738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Adaptive compensation of measurement delays in multi-sensor fusion for inertial motion tracking using 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moving horizon estimation (2022)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br>
              <a:rPr lang="en-US" sz="1200" dirty="0">
                <a:latin typeface="Consolas" panose="020B0609020204030204" pitchFamily="49" charset="0"/>
              </a:rPr>
            </a:b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400" b="1" dirty="0">
                <a:latin typeface="Consolas" panose="020B0609020204030204" pitchFamily="49" charset="0"/>
              </a:rPr>
              <a:t>Outcome -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Consolas" panose="020B0609020204030204" pitchFamily="49" charset="0"/>
              </a:rPr>
              <a:t>Applied to IMU + RTK-GNSS fusion.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Consolas" panose="020B0609020204030204" pitchFamily="49" charset="0"/>
              </a:rPr>
              <a:t>Achieved 10× improvement in position/orientation accuracy (≈ 2 cm &amp; &lt; 1°).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Consolas" panose="020B0609020204030204" pitchFamily="49" charset="0"/>
              </a:rPr>
              <a:t>Estimated GNSS delay within ≈ 5 </a:t>
            </a:r>
            <a:r>
              <a:rPr lang="en-US" sz="1400" b="1" dirty="0" err="1">
                <a:latin typeface="Consolas" panose="020B0609020204030204" pitchFamily="49" charset="0"/>
              </a:rPr>
              <a:t>ms</a:t>
            </a:r>
            <a:r>
              <a:rPr lang="en-US" sz="1400" b="1" dirty="0">
                <a:latin typeface="Consolas" panose="020B0609020204030204" pitchFamily="49" charset="0"/>
              </a:rPr>
              <a:t> (sim) and ≈ 50 </a:t>
            </a:r>
            <a:r>
              <a:rPr lang="en-US" sz="1400" b="1" dirty="0" err="1">
                <a:latin typeface="Consolas" panose="020B0609020204030204" pitchFamily="49" charset="0"/>
              </a:rPr>
              <a:t>ms</a:t>
            </a:r>
            <a:r>
              <a:rPr lang="en-US" sz="1400" b="1" dirty="0">
                <a:latin typeface="Consolas" panose="020B0609020204030204" pitchFamily="49" charset="0"/>
              </a:rPr>
              <a:t> (real).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Consolas" panose="020B0609020204030204" pitchFamily="49" charset="0"/>
              </a:rPr>
              <a:t>Horizon length N ≈ 4 balances accuracy vs computational cost.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400" b="1" dirty="0">
                <a:latin typeface="Consolas" panose="020B0609020204030204" pitchFamily="49" charset="0"/>
              </a:rPr>
              <a:t>In remote PPG (</a:t>
            </a:r>
            <a:r>
              <a:rPr lang="en-US" sz="1400" b="1" dirty="0" err="1">
                <a:latin typeface="Consolas" panose="020B0609020204030204" pitchFamily="49" charset="0"/>
              </a:rPr>
              <a:t>rPPG</a:t>
            </a:r>
            <a:r>
              <a:rPr lang="en-US" sz="1400" b="1" dirty="0"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The video-based signal (from camera) and the ground-truth contact PPG are often out of phase,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due to: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1.Camera frame capture latency (≈ 30–200 </a:t>
            </a:r>
            <a:r>
              <a:rPr lang="en-US" sz="1400" dirty="0" err="1">
                <a:latin typeface="Consolas" panose="020B0609020204030204" pitchFamily="49" charset="0"/>
              </a:rPr>
              <a:t>ms</a:t>
            </a:r>
            <a:r>
              <a:rPr lang="en-US" sz="1400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2.Rolling-shutter effects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3.Processing delays in the </a:t>
            </a:r>
            <a:r>
              <a:rPr lang="en-US" sz="1400" dirty="0" err="1">
                <a:latin typeface="Consolas" panose="020B0609020204030204" pitchFamily="49" charset="0"/>
              </a:rPr>
              <a:t>rPPG</a:t>
            </a:r>
            <a:r>
              <a:rPr lang="en-US" sz="1400" dirty="0">
                <a:latin typeface="Consolas" panose="020B0609020204030204" pitchFamily="49" charset="0"/>
              </a:rPr>
              <a:t> extraction pipeline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Even small phase lags distort waveform alignment and degrade HR/RR estimation.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That’s exactly the same kind of time-delay problem — just in a physiological context instead of IMU/GNSS.</a:t>
            </a:r>
          </a:p>
        </p:txBody>
      </p:sp>
    </p:spTree>
    <p:extLst>
      <p:ext uri="{BB962C8B-B14F-4D97-AF65-F5344CB8AC3E}">
        <p14:creationId xmlns:p14="http://schemas.microsoft.com/office/powerpoint/2010/main" val="2713017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Compensate Literatures - 2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-53900" y="1126395"/>
            <a:ext cx="1067973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Simultaneous Spatiotemporal Bias Compensation and Data Fusion for Asynchronous </a:t>
            </a:r>
            <a:r>
              <a:rPr lang="en-US" sz="1400" b="1" dirty="0" err="1">
                <a:latin typeface="Consolas" panose="020B0609020204030204" pitchFamily="49" charset="0"/>
              </a:rPr>
              <a:t>Multisensor</a:t>
            </a:r>
            <a:r>
              <a:rPr lang="en-US" sz="1400" b="1" dirty="0">
                <a:latin typeface="Consolas" panose="020B0609020204030204" pitchFamily="49" charset="0"/>
              </a:rPr>
              <a:t> Systems(2024)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latin typeface="Consolas" panose="020B0609020204030204" pitchFamily="49" charset="0"/>
              </a:rPr>
              <a:t>The Core Problem: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In multi-sensor systems (radar, camera, IMU), measurements arrive asynchronously and often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contain two types of bias: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1.Spatial bias: positional misalignment between sensors (angle or range offset)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2.Temporal bias: unknown time delays between a measurement’s timestamp and its true measurement time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Traditional fusion algorithms (Kalman Filter) assume timestamps are accurate.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→ But in real systems, processing and communication latencies make timestamps unreliable.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→ Leads to time misalignment, fusion errors, or even duplicate tracks.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 err="1">
                <a:latin typeface="Consolas" panose="020B0609020204030204" pitchFamily="49" charset="0"/>
              </a:rPr>
              <a:t>Example:If</a:t>
            </a:r>
            <a:r>
              <a:rPr lang="en-US" sz="1200" dirty="0">
                <a:latin typeface="Consolas" panose="020B0609020204030204" pitchFamily="49" charset="0"/>
              </a:rPr>
              <a:t> sensor A’s measurement arrives 200 </a:t>
            </a:r>
            <a:r>
              <a:rPr lang="en-US" sz="1200" dirty="0" err="1">
                <a:latin typeface="Consolas" panose="020B0609020204030204" pitchFamily="49" charset="0"/>
              </a:rPr>
              <a:t>ms</a:t>
            </a:r>
            <a:r>
              <a:rPr lang="en-US" sz="1200" dirty="0">
                <a:latin typeface="Consolas" panose="020B0609020204030204" pitchFamily="49" charset="0"/>
              </a:rPr>
              <a:t> late and sensor B’s 50 </a:t>
            </a:r>
            <a:r>
              <a:rPr lang="en-US" sz="1200" dirty="0" err="1">
                <a:latin typeface="Consolas" panose="020B0609020204030204" pitchFamily="49" charset="0"/>
              </a:rPr>
              <a:t>ms</a:t>
            </a:r>
            <a:r>
              <a:rPr lang="en-US" sz="1200" dirty="0">
                <a:latin typeface="Consolas" panose="020B0609020204030204" pitchFamily="49" charset="0"/>
              </a:rPr>
              <a:t> early,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fusing them naïvely will distort the tracked position or phase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— exactly the same issue as your </a:t>
            </a:r>
            <a:r>
              <a:rPr lang="en-US" sz="1200" dirty="0" err="1">
                <a:latin typeface="Consolas" panose="020B0609020204030204" pitchFamily="49" charset="0"/>
              </a:rPr>
              <a:t>rPPG</a:t>
            </a:r>
            <a:r>
              <a:rPr lang="en-US" sz="1200" dirty="0">
                <a:latin typeface="Consolas" panose="020B0609020204030204" pitchFamily="49" charset="0"/>
              </a:rPr>
              <a:t> vs contact-PPG phase lag.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12D12A-A1C1-3E86-9507-433702AB3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96" y="4466478"/>
            <a:ext cx="4434941" cy="2899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72176B-6D29-E290-D4EF-245CA512E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4972" y="3266608"/>
            <a:ext cx="2536068" cy="356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Compensate Literatures - 2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-53900" y="1126395"/>
            <a:ext cx="1067973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Simultaneous Spatiotemporal Bias Compensation and Data Fusion for Asynchronous </a:t>
            </a:r>
            <a:r>
              <a:rPr lang="en-US" sz="1400" b="1" dirty="0" err="1">
                <a:latin typeface="Consolas" panose="020B0609020204030204" pitchFamily="49" charset="0"/>
              </a:rPr>
              <a:t>Multisensor</a:t>
            </a:r>
            <a:r>
              <a:rPr lang="en-US" sz="1400" b="1" dirty="0">
                <a:latin typeface="Consolas" panose="020B0609020204030204" pitchFamily="49" charset="0"/>
              </a:rPr>
              <a:t> Systems(2024)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latin typeface="Consolas" panose="020B0609020204030204" pitchFamily="49" charset="0"/>
              </a:rPr>
              <a:t>The Solution </a:t>
            </a:r>
            <a:r>
              <a:rPr lang="en-US" sz="1200" dirty="0">
                <a:latin typeface="Consolas" panose="020B0609020204030204" pitchFamily="49" charset="0"/>
              </a:rPr>
              <a:t>–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b="1" dirty="0">
                <a:latin typeface="Consolas" panose="020B0609020204030204" pitchFamily="49" charset="0"/>
              </a:rPr>
              <a:t>Step 1 — Augment the State Vector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They define an augmented state: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		𝑋(𝑘)=[target state, spatial biases, temporal biases]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so that the temporal bias (time delay) of each sensor becomes part of the variable set estimated by the filter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Step 2 — Build Bias-Aware Equations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They reformulate: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-&gt; The state transition equation (motion model)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-&gt; The measurement equation (what each sensor observes)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	to explicitly include delay terms Δ𝑡𝑠, between each sensor 𝑠s and the reference sensor.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This allows the filter to align asynchronous measurements by compensating for their individual delays.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Step 3 — Two Fusion Modes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They propose two complementary algorithms: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BF1C28-A978-943E-A0C1-B496A4BD1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548983"/>
              </p:ext>
            </p:extLst>
          </p:nvPr>
        </p:nvGraphicFramePr>
        <p:xfrm>
          <a:off x="810196" y="5633083"/>
          <a:ext cx="9223374" cy="762000"/>
        </p:xfrm>
        <a:graphic>
          <a:graphicData uri="http://schemas.openxmlformats.org/drawingml/2006/table">
            <a:tbl>
              <a:tblPr/>
              <a:tblGrid>
                <a:gridCol w="2736304">
                  <a:extLst>
                    <a:ext uri="{9D8B030D-6E8A-4147-A177-3AD203B41FA5}">
                      <a16:colId xmlns:a16="http://schemas.microsoft.com/office/drawing/2014/main" val="2909007195"/>
                    </a:ext>
                  </a:extLst>
                </a:gridCol>
                <a:gridCol w="3412612">
                  <a:extLst>
                    <a:ext uri="{9D8B030D-6E8A-4147-A177-3AD203B41FA5}">
                      <a16:colId xmlns:a16="http://schemas.microsoft.com/office/drawing/2014/main" val="1895528284"/>
                    </a:ext>
                  </a:extLst>
                </a:gridCol>
                <a:gridCol w="3074458">
                  <a:extLst>
                    <a:ext uri="{9D8B030D-6E8A-4147-A177-3AD203B41FA5}">
                      <a16:colId xmlns:a16="http://schemas.microsoft.com/office/drawing/2014/main" val="1893895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056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 dirty="0"/>
                        <a:t>BP-SBDF</a:t>
                      </a:r>
                      <a:r>
                        <a:rPr lang="en-US" sz="800" dirty="0"/>
                        <a:t> </a:t>
                      </a:r>
                    </a:p>
                    <a:p>
                      <a:r>
                        <a:rPr lang="en-US" sz="800" dirty="0"/>
                        <a:t>(Batch Processing Spatiotemporal Bias &amp; Data Fusion)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Collects measurements over a time window and fuses them together.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When multiple sensors report asynchronously but within a known interval.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863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 b="1"/>
                        <a:t>SP-SBDF</a:t>
                      </a:r>
                      <a:r>
                        <a:rPr lang="en-US" sz="800"/>
                        <a:t> (Sequential Processing …)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Updates as soon as any sensor measurement arrives (real-time).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For streaming, online fusion.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361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736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Out Topic: </a:t>
            </a:r>
            <a:r>
              <a:rPr lang="en-US" altLang="ko-KR" sz="2400" dirty="0">
                <a:solidFill>
                  <a:srgbClr val="FF0000"/>
                </a:solidFill>
                <a:latin typeface="Caladea"/>
                <a:ea typeface="HY견고딕" pitchFamily="18" charset="-127"/>
              </a:rPr>
              <a:t>S</a:t>
            </a:r>
            <a:r>
              <a:rPr lang="en-US" altLang="ko-KR" sz="2400" dirty="0">
                <a:solidFill>
                  <a:srgbClr val="00B0F0"/>
                </a:solidFill>
                <a:latin typeface="Caladea"/>
                <a:ea typeface="HY견고딕" pitchFamily="18" charset="-127"/>
              </a:rPr>
              <a:t>O</a:t>
            </a:r>
            <a:r>
              <a:rPr lang="en-US" altLang="ko-KR" sz="2400" dirty="0">
                <a:solidFill>
                  <a:srgbClr val="FFC000"/>
                </a:solidFill>
                <a:latin typeface="Caladea"/>
                <a:ea typeface="HY견고딕" pitchFamily="18" charset="-127"/>
              </a:rPr>
              <a:t>L</a:t>
            </a:r>
            <a:r>
              <a:rPr lang="en-US" altLang="ko-KR" sz="2400" dirty="0">
                <a:solidFill>
                  <a:srgbClr val="00B050"/>
                </a:solidFill>
                <a:latin typeface="Caladea"/>
                <a:ea typeface="HY견고딕" pitchFamily="18" charset="-127"/>
              </a:rPr>
              <a:t>I</a:t>
            </a:r>
            <a:r>
              <a:rPr lang="en-US" altLang="ko-KR" sz="2400" dirty="0">
                <a:solidFill>
                  <a:srgbClr val="7030A0"/>
                </a:solidFill>
                <a:latin typeface="Caladea"/>
                <a:ea typeface="HY견고딕" pitchFamily="18" charset="-127"/>
              </a:rPr>
              <a:t>D</a:t>
            </a: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 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0" y="1116335"/>
            <a:ext cx="10679738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Update On Development/Deployment Research Process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1400" dirty="0">
                <a:latin typeface="Consolas" panose="020B0609020204030204" pitchFamily="49" charset="0"/>
              </a:rPr>
              <a:t> — Single Responsibility Principle (SRP)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 class should have only one reason to change — it should do one thing well.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Example: </a:t>
            </a:r>
            <a:r>
              <a:rPr lang="en-US" sz="1400" dirty="0">
                <a:latin typeface="Consolas" panose="020B0609020204030204" pitchFamily="49" charset="0"/>
              </a:rPr>
              <a:t>Separate classes for </a:t>
            </a:r>
            <a:r>
              <a:rPr lang="en-US" sz="1400" dirty="0" err="1">
                <a:latin typeface="Consolas" panose="020B0609020204030204" pitchFamily="49" charset="0"/>
              </a:rPr>
              <a:t>InvoicePrinter</a:t>
            </a:r>
            <a:r>
              <a:rPr lang="en-US" sz="1400" dirty="0">
                <a:latin typeface="Consolas" panose="020B0609020204030204" pitchFamily="49" charset="0"/>
              </a:rPr>
              <a:t> and </a:t>
            </a:r>
            <a:r>
              <a:rPr lang="en-US" sz="1400" dirty="0" err="1">
                <a:latin typeface="Consolas" panose="020B0609020204030204" pitchFamily="49" charset="0"/>
              </a:rPr>
              <a:t>InvoiceCalculator</a:t>
            </a:r>
            <a:r>
              <a:rPr lang="en-US" sz="1400" dirty="0">
                <a:latin typeface="Consolas" panose="020B0609020204030204" pitchFamily="49" charset="0"/>
              </a:rPr>
              <a:t>.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O</a:t>
            </a:r>
            <a:r>
              <a:rPr lang="en-US" sz="1400" dirty="0">
                <a:latin typeface="Consolas" panose="020B0609020204030204" pitchFamily="49" charset="0"/>
              </a:rPr>
              <a:t> — Open/Closed Principle (OCP)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Software entities should be open for extension, but closed for </a:t>
            </a:r>
            <a:r>
              <a:rPr lang="en-US" sz="1400" b="1" dirty="0">
                <a:latin typeface="Consolas" panose="020B0609020204030204" pitchFamily="49" charset="0"/>
              </a:rPr>
              <a:t>modif</a:t>
            </a:r>
            <a:r>
              <a:rPr lang="en-US" sz="1400" dirty="0">
                <a:latin typeface="Consolas" panose="020B0609020204030204" pitchFamily="49" charset="0"/>
              </a:rPr>
              <a:t>ication</a:t>
            </a:r>
          </a:p>
          <a:p>
            <a:r>
              <a:rPr lang="en-US" sz="1400" b="1" dirty="0">
                <a:latin typeface="Consolas" panose="020B0609020204030204" pitchFamily="49" charset="0"/>
              </a:rPr>
              <a:t>Example: </a:t>
            </a:r>
            <a:r>
              <a:rPr lang="en-US" sz="1400" dirty="0">
                <a:latin typeface="Consolas" panose="020B0609020204030204" pitchFamily="49" charset="0"/>
              </a:rPr>
              <a:t>Add new shapes to a draw() method using inheritance, not rewriting.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FFC000"/>
                </a:solidFill>
                <a:latin typeface="Consolas" panose="020B0609020204030204" pitchFamily="49" charset="0"/>
              </a:rPr>
              <a:t>L </a:t>
            </a:r>
            <a:r>
              <a:rPr lang="en-US" sz="1400" dirty="0">
                <a:latin typeface="Consolas" panose="020B0609020204030204" pitchFamily="49" charset="0"/>
              </a:rPr>
              <a:t>—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Liskov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Substitution Principle (LSP)Subtypes must be substitutable for their base types.</a:t>
            </a:r>
          </a:p>
          <a:p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Example: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A Square class should behave like a Rectangle wherever it’s used.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latin typeface="Consolas" panose="020B0609020204030204" pitchFamily="49" charset="0"/>
              </a:rPr>
              <a:t> —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Interface Segregation Principle (ISP)</a:t>
            </a: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Clients should not depend on interfaces they do not use.</a:t>
            </a:r>
          </a:p>
          <a:p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Example: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Split a bulky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IWorker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interface into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IPrinter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, IScanner, etc.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D</a:t>
            </a:r>
            <a:r>
              <a:rPr lang="en-US" sz="1400" dirty="0">
                <a:latin typeface="Consolas" panose="020B0609020204030204" pitchFamily="49" charset="0"/>
              </a:rPr>
              <a:t> —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Dependency Inversion Principle (DIP)Depend on abstractions, not on concrete classes.</a:t>
            </a:r>
          </a:p>
          <a:p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Example: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Use an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ILogger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 interface instead of directly calling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FileLogger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endParaRPr lang="en-US" sz="1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9401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Appendix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023B25-A938-3C4F-8BC6-DB8A2AC5B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219310"/>
              </p:ext>
            </p:extLst>
          </p:nvPr>
        </p:nvGraphicFramePr>
        <p:xfrm>
          <a:off x="162124" y="1044327"/>
          <a:ext cx="10369152" cy="5933275"/>
        </p:xfrm>
        <a:graphic>
          <a:graphicData uri="http://schemas.openxmlformats.org/drawingml/2006/table">
            <a:tbl>
              <a:tblPr/>
              <a:tblGrid>
                <a:gridCol w="1296144">
                  <a:extLst>
                    <a:ext uri="{9D8B030D-6E8A-4147-A177-3AD203B41FA5}">
                      <a16:colId xmlns:a16="http://schemas.microsoft.com/office/drawing/2014/main" val="23407837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782779315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716765803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656439436"/>
                    </a:ext>
                  </a:extLst>
                </a:gridCol>
              </a:tblGrid>
              <a:tr h="157935">
                <a:tc>
                  <a:txBody>
                    <a:bodyPr/>
                    <a:lstStyle/>
                    <a:p>
                      <a:r>
                        <a:rPr lang="en-US" sz="800" b="1" dirty="0"/>
                        <a:t>Abbreviation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Full Form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Meaning / Description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Context in Discussion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727380"/>
                  </a:ext>
                </a:extLst>
              </a:tr>
              <a:tr h="491375">
                <a:tc>
                  <a:txBody>
                    <a:bodyPr/>
                    <a:lstStyle/>
                    <a:p>
                      <a:r>
                        <a:rPr lang="en-US" sz="800" b="1" dirty="0"/>
                        <a:t>BCG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Ballistocardiography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Measurement of tiny body movements caused by cardiac ejection of blood (mechanical action of the heart).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Used as the </a:t>
                      </a:r>
                      <a:r>
                        <a:rPr lang="en-US" sz="800" b="1"/>
                        <a:t>start reference signal</a:t>
                      </a:r>
                      <a:r>
                        <a:rPr lang="en-US" sz="800"/>
                        <a:t> in Yoshioka et al. (2020) via 24 GHz radar to compute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795554"/>
                  </a:ext>
                </a:extLst>
              </a:tr>
              <a:tr h="491375">
                <a:tc>
                  <a:txBody>
                    <a:bodyPr/>
                    <a:lstStyle/>
                    <a:p>
                      <a:r>
                        <a:rPr lang="en-US" sz="800" b="1" dirty="0"/>
                        <a:t>PPG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Photoplethysmography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Optical measurement of blood volume changes in tissue using a light source and detector (usually contact-based).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Conventional </a:t>
                      </a:r>
                      <a:r>
                        <a:rPr lang="en-US" sz="800" b="1"/>
                        <a:t>contact sensor</a:t>
                      </a:r>
                      <a:r>
                        <a:rPr lang="en-US" sz="800"/>
                        <a:t> reference for pulse arrival.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09777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iPPG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Imaging Photoplethysmography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PPG signal extracted from </a:t>
                      </a:r>
                      <a:r>
                        <a:rPr lang="en-US" sz="800" b="1" dirty="0"/>
                        <a:t>video frames</a:t>
                      </a:r>
                      <a:r>
                        <a:rPr lang="en-US" sz="800" dirty="0"/>
                        <a:t> (facial brightness changes), without physical contact.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Used in Yoshioka et al. (2020) for </a:t>
                      </a:r>
                      <a:r>
                        <a:rPr lang="en-US" sz="800" b="1"/>
                        <a:t>noncontact pulse detection</a:t>
                      </a:r>
                      <a:r>
                        <a:rPr lang="en-US" sz="800"/>
                        <a:t>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610254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rPPG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Remote Photoplethysmography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General term for noncontact PPG obtained from camera images (essentially same as iPPG).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The main signal type in current research focus.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466269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PTT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Pulse Transit Time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Time taken for the arterial pulse wave to travel between two sites (from heart to face).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Key physiological metric; shorter PTT means higher arterial stiffness or BP.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78146"/>
                  </a:ext>
                </a:extLst>
              </a:tr>
              <a:tr h="491375">
                <a:tc>
                  <a:txBody>
                    <a:bodyPr/>
                    <a:lstStyle/>
                    <a:p>
                      <a:r>
                        <a:rPr lang="en-US" sz="800" b="1"/>
                        <a:t>PAT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Pulse Arrival Time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Time between ECG R-wave (electrical heart activation) and PPG pulse arrival; includes </a:t>
                      </a:r>
                      <a:r>
                        <a:rPr lang="en-US" sz="800" b="1" dirty="0"/>
                        <a:t>pre-ejection period (PEP)</a:t>
                      </a:r>
                      <a:r>
                        <a:rPr lang="en-US" sz="800" dirty="0"/>
                        <a:t>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Used in both papers as a </a:t>
                      </a:r>
                      <a:r>
                        <a:rPr lang="en-US" sz="800" b="1"/>
                        <a:t>surrogate</a:t>
                      </a:r>
                      <a:r>
                        <a:rPr lang="en-US" sz="800"/>
                        <a:t> of true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554595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PEP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Pre-Ejection Period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Time between the ECG R-wave and the actual mechanical ejection of blood from the heart.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Present in PAT, but </a:t>
                      </a:r>
                      <a:r>
                        <a:rPr lang="en-US" sz="800" b="1"/>
                        <a:t>not</a:t>
                      </a:r>
                      <a:r>
                        <a:rPr lang="en-US" sz="800"/>
                        <a:t> in PTT (BCG avoids this).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921848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sz="800" b="1"/>
                        <a:t>ECG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Electrocardiography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Electrical recording of heart activity, especially used to detect the R-wave for timing.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Contact reference for PAT in Block et al. (2020).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453763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en-US" sz="800" b="1"/>
                        <a:t>BP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Blood Pressure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Force exerted by circulating blood on arterial walls.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Physiological parameter correlated </a:t>
                      </a:r>
                      <a:r>
                        <a:rPr lang="en-US" sz="800" b="1"/>
                        <a:t>inversely</a:t>
                      </a:r>
                      <a:r>
                        <a:rPr lang="en-US" sz="800"/>
                        <a:t> with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934973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en-US" sz="800" b="1"/>
                        <a:t>SBP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Systolic Blood Pressure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Maximum arterial pressure during heart contraction.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Strongly correlated with PTT (R ≈ −0.6).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631409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en-US" sz="800" b="1"/>
                        <a:t>DBP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Diastolic Blood Pressure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Minimum arterial pressure during heart relaxation.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Weak correlation with PTT (R ≈ −0.2).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002393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sz="800" b="1"/>
                        <a:t>ROI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Region of Interest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Specific area in an image or video used for signal extraction (e.g., cheek or forehead).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In iPPG, face ROI used for green-channel brightness analysis.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235589"/>
                  </a:ext>
                </a:extLst>
              </a:tr>
              <a:tr h="289441">
                <a:tc>
                  <a:txBody>
                    <a:bodyPr/>
                    <a:lstStyle/>
                    <a:p>
                      <a:r>
                        <a:rPr lang="en-US" sz="800" b="1"/>
                        <a:t>FIR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Finite Impulse Response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Type of digital filter used for signal smoothing and noise reduction.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Applied to iPPG signals before peak detection in Yoshioka et al. (2020).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163924"/>
                  </a:ext>
                </a:extLst>
              </a:tr>
              <a:tr h="289441">
                <a:tc>
                  <a:txBody>
                    <a:bodyPr/>
                    <a:lstStyle/>
                    <a:p>
                      <a:r>
                        <a:rPr lang="en-US" sz="800" b="1"/>
                        <a:t>cPTT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Conventional Pulse Transit Time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PTT derived from </a:t>
                      </a:r>
                      <a:r>
                        <a:rPr lang="en-US" sz="800" b="1"/>
                        <a:t>ECG–PPG</a:t>
                      </a:r>
                      <a:r>
                        <a:rPr lang="en-US" sz="800"/>
                        <a:t> or </a:t>
                      </a:r>
                      <a:r>
                        <a:rPr lang="en-US" sz="800" b="1"/>
                        <a:t>PPG–PPG</a:t>
                      </a:r>
                      <a:r>
                        <a:rPr lang="en-US" sz="800"/>
                        <a:t> pairs using contact sensors.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Defined in Block et al. (2020) as traditional, contact-based methods.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911810"/>
                  </a:ext>
                </a:extLst>
              </a:tr>
              <a:tr h="289441">
                <a:tc>
                  <a:txBody>
                    <a:bodyPr/>
                    <a:lstStyle/>
                    <a:p>
                      <a:r>
                        <a:rPr lang="en-US" sz="800" b="1"/>
                        <a:t>dPTT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Differential Pulse Transit Time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Time difference between two distal PPGs (e.g., ear–toe).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Represents the </a:t>
                      </a:r>
                      <a:r>
                        <a:rPr lang="en-US" sz="800" b="1" dirty="0"/>
                        <a:t>difference of two PTTs</a:t>
                      </a:r>
                      <a:r>
                        <a:rPr lang="en-US" sz="800" dirty="0"/>
                        <a:t>, not a true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564356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sz="800" b="1"/>
                        <a:t>PATfoot / PPG foot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—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The </a:t>
                      </a:r>
                      <a:r>
                        <a:rPr lang="en-US" sz="800" b="1"/>
                        <a:t>waveform onset</a:t>
                      </a:r>
                      <a:r>
                        <a:rPr lang="en-US" sz="800"/>
                        <a:t> (foot) used as a reliable timing marker for pulse arrival.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Identified in Block et al. (2020) as more consistent than the peak.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27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717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19533</TotalTime>
  <Words>5397</Words>
  <Application>Microsoft Office PowerPoint</Application>
  <PresentationFormat>Custom</PresentationFormat>
  <Paragraphs>745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Caladea</vt:lpstr>
      <vt:lpstr>HY견고딕</vt:lpstr>
      <vt:lpstr>HY중고딕</vt:lpstr>
      <vt:lpstr>맑은 고딕</vt:lpstr>
      <vt:lpstr>Arial</vt:lpstr>
      <vt:lpstr>Consolas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Rafsan Jany</cp:lastModifiedBy>
  <cp:revision>330</cp:revision>
  <cp:lastPrinted>2012-01-03T07:03:32Z</cp:lastPrinted>
  <dcterms:created xsi:type="dcterms:W3CDTF">2011-12-29T06:45:05Z</dcterms:created>
  <dcterms:modified xsi:type="dcterms:W3CDTF">2025-11-11T05:00:03Z</dcterms:modified>
</cp:coreProperties>
</file>