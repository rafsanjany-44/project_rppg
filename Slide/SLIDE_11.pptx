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404" r:id="rId3"/>
    <p:sldId id="414" r:id="rId4"/>
    <p:sldId id="408" r:id="rId5"/>
    <p:sldId id="405" r:id="rId6"/>
    <p:sldId id="413" r:id="rId7"/>
    <p:sldId id="415" r:id="rId8"/>
    <p:sldId id="406" r:id="rId9"/>
    <p:sldId id="407" r:id="rId10"/>
    <p:sldId id="379" r:id="rId11"/>
    <p:sldId id="424" r:id="rId12"/>
    <p:sldId id="409" r:id="rId13"/>
    <p:sldId id="425" r:id="rId14"/>
    <p:sldId id="411" r:id="rId15"/>
    <p:sldId id="412" r:id="rId16"/>
    <p:sldId id="416" r:id="rId17"/>
    <p:sldId id="417" r:id="rId18"/>
    <p:sldId id="418" r:id="rId19"/>
    <p:sldId id="419" r:id="rId20"/>
    <p:sldId id="426" r:id="rId21"/>
    <p:sldId id="423" r:id="rId22"/>
    <p:sldId id="421" r:id="rId23"/>
    <p:sldId id="422" r:id="rId24"/>
    <p:sldId id="427" r:id="rId25"/>
    <p:sldId id="428" r:id="rId26"/>
    <p:sldId id="429" r:id="rId27"/>
    <p:sldId id="431" r:id="rId28"/>
    <p:sldId id="430" r:id="rId29"/>
  </p:sldIdLst>
  <p:sldSz cx="10693400" cy="7561263"/>
  <p:notesSz cx="9874250" cy="6797675"/>
  <p:defaultTextStyle>
    <a:defPPr>
      <a:defRPr lang="ko-KR"/>
    </a:defPPr>
    <a:lvl1pPr marL="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405"/>
    <a:srgbClr val="E78B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81" autoAdjust="0"/>
    <p:restoredTop sz="94647" autoAdjust="0"/>
  </p:normalViewPr>
  <p:slideViewPr>
    <p:cSldViewPr>
      <p:cViewPr varScale="1">
        <p:scale>
          <a:sx n="84" d="100"/>
          <a:sy n="84" d="100"/>
        </p:scale>
        <p:origin x="432" y="108"/>
      </p:cViewPr>
      <p:guideLst>
        <p:guide orient="horz" pos="2382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C65444-5612-4993-A297-66E4EA569180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592027" y="6456699"/>
            <a:ext cx="4279918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70AE1-31D9-4381-959D-9050CC0FE9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8306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93126" y="0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D3867D-DA73-4C30-B686-2D05E2BBC364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133725" y="509588"/>
            <a:ext cx="3606800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6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93126" y="6456612"/>
            <a:ext cx="4278841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0A336D-49A4-4170-8C35-7E5BA4D4E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46915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3744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434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630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34228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846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392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0645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45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0250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3637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387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459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013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39470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1215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470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7079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0092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8662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9004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23345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65053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7853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2981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79329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2347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6021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C5369-3E1F-C091-1516-51CC4584E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F8664E-2EE1-B59B-DFB3-D239703DD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433833-092A-2B17-35C2-9AD5EB64C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8969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3EF1-6E1E-49A8-89C7-5D842E70784B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4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06140" y="91456"/>
            <a:ext cx="8496944" cy="736847"/>
          </a:xfrm>
          <a:prstGeom prst="rect">
            <a:avLst/>
          </a:prstGeom>
        </p:spPr>
        <p:txBody>
          <a:bodyPr anchor="ctr"/>
          <a:lstStyle>
            <a:lvl1pPr algn="l">
              <a:defRPr sz="3000" b="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/>
              <a:t>(HY</a:t>
            </a:r>
            <a:r>
              <a:rPr lang="ko-KR" altLang="en-US" dirty="0"/>
              <a:t>견고딕</a:t>
            </a:r>
            <a:r>
              <a:rPr lang="en-US" altLang="ko-KR" dirty="0"/>
              <a:t>, 30)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306140" y="1260351"/>
            <a:ext cx="10009112" cy="5400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 b="1" baseline="0">
                <a:latin typeface="HY중고딕" pitchFamily="18" charset="-127"/>
                <a:ea typeface="HY중고딕" pitchFamily="18" charset="-127"/>
              </a:defRPr>
            </a:lvl1pPr>
            <a:lvl2pPr marL="497845" indent="0">
              <a:buNone/>
              <a:defRPr sz="2800">
                <a:latin typeface="HY중고딕" pitchFamily="18" charset="-127"/>
                <a:ea typeface="HY중고딕" pitchFamily="18" charset="-127"/>
              </a:defRPr>
            </a:lvl2pPr>
            <a:lvl3pPr>
              <a:defRPr sz="2500">
                <a:latin typeface="HY중고딕" pitchFamily="18" charset="-127"/>
                <a:ea typeface="HY중고딕" pitchFamily="18" charset="-127"/>
              </a:defRPr>
            </a:lvl3pPr>
            <a:lvl4pPr marL="1493535" indent="0">
              <a:buNone/>
              <a:defRPr sz="2500">
                <a:latin typeface="HY중고딕" pitchFamily="18" charset="-127"/>
                <a:ea typeface="HY중고딕" pitchFamily="18" charset="-127"/>
              </a:defRPr>
            </a:lvl4pPr>
            <a:lvl5pPr>
              <a:defRPr sz="2500">
                <a:latin typeface="HY중고딕" pitchFamily="18" charset="-127"/>
                <a:ea typeface="HY중고딕" pitchFamily="18" charset="-127"/>
              </a:defRPr>
            </a:lvl5pPr>
          </a:lstStyle>
          <a:p>
            <a:pPr lvl="0"/>
            <a:r>
              <a:rPr lang="ko-KR" altLang="en-US" dirty="0"/>
              <a:t>□ 첫째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30, </a:t>
            </a:r>
            <a:r>
              <a:rPr lang="ko-KR" altLang="en-US" dirty="0"/>
              <a:t>굵게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r>
              <a:rPr lang="en-US" altLang="ko-KR" dirty="0"/>
              <a:t>-</a:t>
            </a:r>
            <a:r>
              <a:rPr lang="ko-KR" altLang="en-US" dirty="0"/>
              <a:t> 둘째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28)</a:t>
            </a:r>
            <a:endParaRPr lang="ko-KR" altLang="en-US" dirty="0"/>
          </a:p>
          <a:p>
            <a:pPr lvl="2"/>
            <a:r>
              <a:rPr lang="ko-KR" altLang="en-US" dirty="0"/>
              <a:t>셋째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  <a:p>
            <a:pPr lvl="3"/>
            <a:r>
              <a:rPr lang="en-US" altLang="ko-KR" dirty="0"/>
              <a:t>- </a:t>
            </a:r>
            <a:r>
              <a:rPr lang="ko-KR" altLang="en-US" dirty="0"/>
              <a:t>넷째 수준 </a:t>
            </a:r>
            <a:r>
              <a:rPr lang="en-US" altLang="ko-KR" dirty="0"/>
              <a:t>(HY</a:t>
            </a:r>
            <a:r>
              <a:rPr lang="ko-KR" altLang="en-US" dirty="0"/>
              <a:t>중고딕</a:t>
            </a:r>
            <a:r>
              <a:rPr lang="en-US" altLang="ko-KR" dirty="0"/>
              <a:t>, 25)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9D9B9-AAC4-4186-832C-ACCB8141D63A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78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4670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6FB339-8C5D-44DF-A368-296A032EEE0C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53579" y="7008172"/>
            <a:ext cx="338624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97EC8-03FB-421D-BA76-5865596B8B7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</p:sldLayoutIdLst>
  <p:hf hdr="0" ftr="0" dt="0"/>
  <p:txStyles>
    <p:titleStyle>
      <a:lvl1pPr algn="ctr" defTabSz="995690" rtl="0" eaLnBrk="1" latinLnBrk="1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384" indent="-373384" algn="l" defTabSz="995690" rtl="0" eaLnBrk="1" latinLnBrk="1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8998" indent="-311153" algn="l" defTabSz="995690" rtl="0" eaLnBrk="1" latinLnBrk="1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38588" y="4572719"/>
            <a:ext cx="568863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Rafsan</a:t>
            </a:r>
            <a:r>
              <a:rPr lang="ko-KR" altLang="en-US" sz="2500" dirty="0">
                <a:latin typeface="Caladea" panose="020B0600000101010101" charset="0"/>
                <a:ea typeface="HY중고딕" pitchFamily="18" charset="-127"/>
              </a:rPr>
              <a:t> </a:t>
            </a:r>
            <a:r>
              <a:rPr lang="en-US" altLang="ko-KR" sz="2500" dirty="0">
                <a:latin typeface="Caladea" panose="020B0600000101010101" charset="0"/>
                <a:ea typeface="HY중고딕" pitchFamily="18" charset="-127"/>
              </a:rPr>
              <a:t>Jany</a:t>
            </a: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dirty="0">
                <a:solidFill>
                  <a:srgbClr val="000000"/>
                </a:solidFill>
                <a:effectLst/>
                <a:latin typeface="Caladea" panose="020B0600000101010101" charset="0"/>
                <a:cs typeface="Assistant" pitchFamily="2" charset="-79"/>
              </a:rPr>
              <a:t>Korean Convergence Medical Science</a:t>
            </a:r>
            <a:br>
              <a:rPr lang="en-US" sz="2000" dirty="0"/>
            </a:br>
            <a:endParaRPr lang="en-US" sz="2400" b="0" dirty="0">
              <a:effectLst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A47E-2C3C-B12E-FF19-4D5F3486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48" y="6804967"/>
            <a:ext cx="1836174" cy="8735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BF09D3-D4B7-A175-D7F1-10A5F9BC1834}"/>
              </a:ext>
            </a:extLst>
          </p:cNvPr>
          <p:cNvSpPr txBox="1"/>
          <p:nvPr/>
        </p:nvSpPr>
        <p:spPr>
          <a:xfrm>
            <a:off x="810196" y="2099942"/>
            <a:ext cx="9251361" cy="1964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Referenced Based Implementation And Evaluation</a:t>
            </a: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FFT Based HR  Calculation and Evaluation Through </a:t>
            </a:r>
            <a:r>
              <a:rPr lang="en-US" altLang="ko-KR" sz="2800" dirty="0" err="1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pyVHR</a:t>
            </a:r>
            <a:endParaRPr lang="en-US" altLang="ko-KR" sz="2800" dirty="0">
              <a:solidFill>
                <a:srgbClr val="000000"/>
              </a:solidFill>
              <a:latin typeface="Caladea" panose="020B0600000101010101" charset="0"/>
              <a:ea typeface="HY견고딕" pitchFamily="18" charset="-127"/>
              <a:cs typeface="Cavolini" panose="03000502040302020204" pitchFamily="66" charset="0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Peak </a:t>
            </a:r>
            <a:r>
              <a:rPr lang="en-US" altLang="ko-KR" sz="2800" dirty="0" err="1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Ditection</a:t>
            </a:r>
            <a:r>
              <a:rPr lang="en-US" altLang="ko-KR" sz="2800" dirty="0">
                <a:solidFill>
                  <a:srgbClr val="000000"/>
                </a:solidFill>
                <a:latin typeface="Caladea" panose="020B0600000101010101" charset="0"/>
                <a:ea typeface="HY견고딕" pitchFamily="18" charset="-127"/>
                <a:cs typeface="Cavolini" panose="03000502040302020204" pitchFamily="66" charset="0"/>
              </a:rPr>
              <a:t> Algorithm Tunning Based on GT BVP</a:t>
            </a:r>
          </a:p>
        </p:txBody>
      </p:sp>
    </p:spTree>
    <p:extLst>
      <p:ext uri="{BB962C8B-B14F-4D97-AF65-F5344CB8AC3E}">
        <p14:creationId xmlns:p14="http://schemas.microsoft.com/office/powerpoint/2010/main" val="1962923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Dissecting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pyVHR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Library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D47717-7A8B-AC50-7F70-F15679F8B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57" y="2398484"/>
            <a:ext cx="1341586" cy="165094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3BC80E-3C2D-84FA-1702-2F725A68FB80}"/>
              </a:ext>
            </a:extLst>
          </p:cNvPr>
          <p:cNvSpPr txBox="1"/>
          <p:nvPr/>
        </p:nvSpPr>
        <p:spPr>
          <a:xfrm>
            <a:off x="378148" y="4212679"/>
            <a:ext cx="35483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Convex Hull </a:t>
            </a:r>
          </a:p>
          <a:p>
            <a:r>
              <a:rPr lang="en-US" sz="1100" dirty="0"/>
              <a:t>The Convex-hull extractor considers the skin region as the convex-hull of a set of the 468 facial fiducial points delivered by the </a:t>
            </a:r>
            <a:r>
              <a:rPr lang="en-US" sz="1100" dirty="0" err="1"/>
              <a:t>MediaPipe</a:t>
            </a:r>
            <a:r>
              <a:rPr lang="en-US" sz="1100" dirty="0"/>
              <a:t> face mesh</a:t>
            </a:r>
          </a:p>
          <a:p>
            <a:r>
              <a:rPr lang="en-US" sz="1100" dirty="0"/>
              <a:t>(</a:t>
            </a:r>
            <a:r>
              <a:rPr lang="en-US" sz="1100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Lugaresi</a:t>
            </a:r>
            <a:r>
              <a:rPr lang="en-US" sz="11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et al., 2019</a:t>
            </a:r>
            <a:r>
              <a:rPr lang="en-US" sz="1100" dirty="0"/>
              <a:t>). </a:t>
            </a:r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4F2359-CD3D-100E-0BAA-D0DACB0CE82D}"/>
              </a:ext>
            </a:extLst>
          </p:cNvPr>
          <p:cNvSpPr/>
          <p:nvPr/>
        </p:nvSpPr>
        <p:spPr>
          <a:xfrm>
            <a:off x="2898428" y="2867321"/>
            <a:ext cx="1276109" cy="7132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Mean</a:t>
            </a:r>
            <a:r>
              <a:rPr lang="en-US" sz="1400" b="1" dirty="0">
                <a:solidFill>
                  <a:srgbClr val="FF0000"/>
                </a:solidFill>
              </a:rPr>
              <a:t> R</a:t>
            </a:r>
            <a:r>
              <a:rPr lang="en-US" sz="1400" b="1" dirty="0">
                <a:solidFill>
                  <a:srgbClr val="00B050"/>
                </a:solidFill>
              </a:rPr>
              <a:t>G</a:t>
            </a:r>
            <a:r>
              <a:rPr lang="en-US" sz="1400" b="1" dirty="0">
                <a:solidFill>
                  <a:srgbClr val="0070C0"/>
                </a:solidFill>
              </a:rPr>
              <a:t>B</a:t>
            </a:r>
            <a:r>
              <a:rPr lang="en-US" sz="1400" dirty="0"/>
              <a:t> </a:t>
            </a:r>
          </a:p>
          <a:p>
            <a:pPr algn="ctr"/>
            <a:r>
              <a:rPr lang="en-US" sz="1400" dirty="0"/>
              <a:t>Extraction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42002C-B7A5-3D44-DE8F-3A1DFE2FBDDF}"/>
              </a:ext>
            </a:extLst>
          </p:cNvPr>
          <p:cNvSpPr/>
          <p:nvPr/>
        </p:nvSpPr>
        <p:spPr>
          <a:xfrm>
            <a:off x="5130676" y="3016574"/>
            <a:ext cx="1892243" cy="4147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CHROM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AE0DAD-91C8-7BDA-88C2-29F51C33CB90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1791743" y="3223957"/>
            <a:ext cx="1106685" cy="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87CA7C-0EE8-8E75-DCFF-21F2FF6F53F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4174537" y="3223957"/>
            <a:ext cx="956139" cy="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619D7BF-CFD1-A070-3732-28A516D1D979}"/>
              </a:ext>
            </a:extLst>
          </p:cNvPr>
          <p:cNvSpPr/>
          <p:nvPr/>
        </p:nvSpPr>
        <p:spPr>
          <a:xfrm>
            <a:off x="450157" y="1040136"/>
            <a:ext cx="3397658" cy="11820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Ground Truth </a:t>
            </a:r>
          </a:p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0: [values of the BVP signal]</a:t>
            </a:r>
          </a:p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1: [values of instantaneous HR]  ← (not used)</a:t>
            </a:r>
          </a:p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2: [timestamps for each frame]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42344C-8DE1-252D-6E45-E2137960EB58}"/>
              </a:ext>
            </a:extLst>
          </p:cNvPr>
          <p:cNvSpPr/>
          <p:nvPr/>
        </p:nvSpPr>
        <p:spPr>
          <a:xfrm>
            <a:off x="7828463" y="1421649"/>
            <a:ext cx="2021987" cy="4147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STFT 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winsize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sec)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D194FB-0535-F7EE-A4CE-A2D9A47F44C2}"/>
              </a:ext>
            </a:extLst>
          </p:cNvPr>
          <p:cNvSpPr/>
          <p:nvPr/>
        </p:nvSpPr>
        <p:spPr>
          <a:xfrm>
            <a:off x="5000932" y="1421727"/>
            <a:ext cx="2021987" cy="4147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BVP Signal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445536-4120-C23C-C53E-054B4EB25A33}"/>
              </a:ext>
            </a:extLst>
          </p:cNvPr>
          <p:cNvSpPr/>
          <p:nvPr/>
        </p:nvSpPr>
        <p:spPr>
          <a:xfrm>
            <a:off x="7604101" y="3028587"/>
            <a:ext cx="2495127" cy="4147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Max PSD  in [0.65–4.0Hz]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055ABB1-2348-97A9-18A7-E805D90F825F}"/>
              </a:ext>
            </a:extLst>
          </p:cNvPr>
          <p:cNvSpPr/>
          <p:nvPr/>
        </p:nvSpPr>
        <p:spPr>
          <a:xfrm>
            <a:off x="6907216" y="5711154"/>
            <a:ext cx="1617767" cy="7981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BPM Ground 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Truth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Mean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5D36E4-C71C-C946-F402-F3A6EFCA5F61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 flipV="1">
            <a:off x="3847815" y="1629110"/>
            <a:ext cx="1153117" cy="203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83A06C1-6C49-A0C1-4F14-453A0D700B0D}"/>
              </a:ext>
            </a:extLst>
          </p:cNvPr>
          <p:cNvCxnSpPr>
            <a:cxnSpLocks/>
            <a:stCxn id="27" idx="3"/>
            <a:endCxn id="23" idx="1"/>
          </p:cNvCxnSpPr>
          <p:nvPr/>
        </p:nvCxnSpPr>
        <p:spPr>
          <a:xfrm flipV="1">
            <a:off x="7022919" y="1629032"/>
            <a:ext cx="805544" cy="7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78EAF6-5420-7D7B-E102-5463E8D9ED25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>
            <a:off x="8839457" y="1836415"/>
            <a:ext cx="12208" cy="119217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BD44E9-3196-C47F-0F9E-6D91EA5319A1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7716100" y="3443353"/>
            <a:ext cx="1135565" cy="226780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026C85C-831B-3EA3-84E4-8C38F4B3683D}"/>
              </a:ext>
            </a:extLst>
          </p:cNvPr>
          <p:cNvSpPr/>
          <p:nvPr/>
        </p:nvSpPr>
        <p:spPr>
          <a:xfrm>
            <a:off x="5065803" y="4875131"/>
            <a:ext cx="2021987" cy="4147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Welch FFT </a:t>
            </a: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en-US" sz="1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winsize</a:t>
            </a:r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sec)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FA841EE-ABAD-B322-C013-326B61AAC06D}"/>
              </a:ext>
            </a:extLst>
          </p:cNvPr>
          <p:cNvSpPr/>
          <p:nvPr/>
        </p:nvSpPr>
        <p:spPr>
          <a:xfrm>
            <a:off x="5065803" y="3987158"/>
            <a:ext cx="2021987" cy="4147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BVP Signal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A14E3FA-1F87-AAE8-F75C-88E1C1750E47}"/>
              </a:ext>
            </a:extLst>
          </p:cNvPr>
          <p:cNvCxnSpPr>
            <a:cxnSpLocks/>
            <a:stCxn id="12" idx="2"/>
            <a:endCxn id="46" idx="0"/>
          </p:cNvCxnSpPr>
          <p:nvPr/>
        </p:nvCxnSpPr>
        <p:spPr>
          <a:xfrm flipH="1">
            <a:off x="6076797" y="3431340"/>
            <a:ext cx="1" cy="55581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406BEE6-702D-20F5-8F1A-3E95A8F6C9B1}"/>
              </a:ext>
            </a:extLst>
          </p:cNvPr>
          <p:cNvCxnSpPr>
            <a:cxnSpLocks/>
            <a:stCxn id="46" idx="2"/>
            <a:endCxn id="45" idx="0"/>
          </p:cNvCxnSpPr>
          <p:nvPr/>
        </p:nvCxnSpPr>
        <p:spPr>
          <a:xfrm>
            <a:off x="6076797" y="4401924"/>
            <a:ext cx="0" cy="47320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FB9E4EF5-3994-1116-F15C-971B10A5A27B}"/>
              </a:ext>
            </a:extLst>
          </p:cNvPr>
          <p:cNvSpPr/>
          <p:nvPr/>
        </p:nvSpPr>
        <p:spPr>
          <a:xfrm>
            <a:off x="4652419" y="5781918"/>
            <a:ext cx="1339574" cy="7284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BPM Estimated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Median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D156296-CDE8-3D3F-5A2F-9D164EBCB5A8}"/>
              </a:ext>
            </a:extLst>
          </p:cNvPr>
          <p:cNvCxnSpPr>
            <a:cxnSpLocks/>
            <a:stCxn id="45" idx="2"/>
            <a:endCxn id="54" idx="0"/>
          </p:cNvCxnSpPr>
          <p:nvPr/>
        </p:nvCxnSpPr>
        <p:spPr>
          <a:xfrm flipH="1">
            <a:off x="5322206" y="5289897"/>
            <a:ext cx="754591" cy="49202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9332EB7B-313A-22D2-73C8-D0609604762A}"/>
              </a:ext>
            </a:extLst>
          </p:cNvPr>
          <p:cNvSpPr/>
          <p:nvPr/>
        </p:nvSpPr>
        <p:spPr>
          <a:xfrm>
            <a:off x="3042444" y="5779807"/>
            <a:ext cx="1339573" cy="7132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BPM Estimated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Mean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C337102-1D63-DA84-C5B4-CF71043DBA86}"/>
              </a:ext>
            </a:extLst>
          </p:cNvPr>
          <p:cNvCxnSpPr>
            <a:cxnSpLocks/>
            <a:stCxn id="45" idx="2"/>
            <a:endCxn id="61" idx="0"/>
          </p:cNvCxnSpPr>
          <p:nvPr/>
        </p:nvCxnSpPr>
        <p:spPr>
          <a:xfrm flipH="1">
            <a:off x="3712231" y="5289897"/>
            <a:ext cx="2364566" cy="48991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D1C05C6-4C7B-639C-0B29-C6FDE7C75ACB}"/>
              </a:ext>
            </a:extLst>
          </p:cNvPr>
          <p:cNvSpPr/>
          <p:nvPr/>
        </p:nvSpPr>
        <p:spPr>
          <a:xfrm>
            <a:off x="8731076" y="5726856"/>
            <a:ext cx="1617767" cy="7981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BPM Ground 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Truth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Median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CC89C4E-6EC7-D464-9B24-99C793BD69A1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>
            <a:off x="8851665" y="3443353"/>
            <a:ext cx="688295" cy="2283503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15A4BB3-74AE-A929-BF51-7D93C522B34F}"/>
              </a:ext>
            </a:extLst>
          </p:cNvPr>
          <p:cNvSpPr/>
          <p:nvPr/>
        </p:nvSpPr>
        <p:spPr>
          <a:xfrm>
            <a:off x="7984923" y="6632430"/>
            <a:ext cx="1080120" cy="72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MAE</a:t>
            </a:r>
          </a:p>
          <a:p>
            <a:pPr algn="ctr"/>
            <a:r>
              <a:rPr lang="en-US" sz="1400" dirty="0"/>
              <a:t>BPM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A4CDB74-307E-C8E2-75E8-947F8C551B3F}"/>
              </a:ext>
            </a:extLst>
          </p:cNvPr>
          <p:cNvSpPr/>
          <p:nvPr/>
        </p:nvSpPr>
        <p:spPr>
          <a:xfrm>
            <a:off x="3926490" y="6734770"/>
            <a:ext cx="1080120" cy="72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MAE</a:t>
            </a:r>
          </a:p>
          <a:p>
            <a:pPr algn="ctr"/>
            <a:r>
              <a:rPr lang="en-US" sz="1400" dirty="0"/>
              <a:t>BPM</a:t>
            </a: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B3196101-CAE8-269F-9C3A-B76972863133}"/>
              </a:ext>
            </a:extLst>
          </p:cNvPr>
          <p:cNvCxnSpPr>
            <a:cxnSpLocks/>
            <a:stCxn id="61" idx="2"/>
            <a:endCxn id="39" idx="2"/>
          </p:cNvCxnSpPr>
          <p:nvPr/>
        </p:nvCxnSpPr>
        <p:spPr>
          <a:xfrm rot="16200000" flipH="1">
            <a:off x="3518492" y="6686812"/>
            <a:ext cx="601736" cy="214259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88E201D4-4E09-C25D-36C0-1A1945755A38}"/>
              </a:ext>
            </a:extLst>
          </p:cNvPr>
          <p:cNvCxnSpPr>
            <a:cxnSpLocks/>
            <a:stCxn id="29" idx="2"/>
            <a:endCxn id="39" idx="6"/>
          </p:cNvCxnSpPr>
          <p:nvPr/>
        </p:nvCxnSpPr>
        <p:spPr>
          <a:xfrm rot="5400000">
            <a:off x="6068591" y="5447300"/>
            <a:ext cx="585529" cy="270949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2EE85AF5-C557-E6E5-F288-8F669AA5C1E6}"/>
              </a:ext>
            </a:extLst>
          </p:cNvPr>
          <p:cNvCxnSpPr>
            <a:cxnSpLocks/>
            <a:stCxn id="54" idx="2"/>
            <a:endCxn id="38" idx="2"/>
          </p:cNvCxnSpPr>
          <p:nvPr/>
        </p:nvCxnSpPr>
        <p:spPr>
          <a:xfrm rot="16200000" flipH="1">
            <a:off x="6412519" y="5420065"/>
            <a:ext cx="482091" cy="266271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7A1B7B20-F8E2-E4C4-63B8-C351E7CE16FF}"/>
              </a:ext>
            </a:extLst>
          </p:cNvPr>
          <p:cNvCxnSpPr>
            <a:cxnSpLocks/>
            <a:stCxn id="31" idx="2"/>
            <a:endCxn id="38" idx="6"/>
          </p:cNvCxnSpPr>
          <p:nvPr/>
        </p:nvCxnSpPr>
        <p:spPr>
          <a:xfrm rot="5400000">
            <a:off x="9068759" y="6521268"/>
            <a:ext cx="467487" cy="474917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115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Why STFT And Welch?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D1B868-8705-5726-82E9-D1DAF2CF0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070550"/>
              </p:ext>
            </p:extLst>
          </p:nvPr>
        </p:nvGraphicFramePr>
        <p:xfrm>
          <a:off x="306140" y="4156928"/>
          <a:ext cx="9564558" cy="1554480"/>
        </p:xfrm>
        <a:graphic>
          <a:graphicData uri="http://schemas.openxmlformats.org/drawingml/2006/table">
            <a:tbl>
              <a:tblPr/>
              <a:tblGrid>
                <a:gridCol w="1944216">
                  <a:extLst>
                    <a:ext uri="{9D8B030D-6E8A-4147-A177-3AD203B41FA5}">
                      <a16:colId xmlns:a16="http://schemas.microsoft.com/office/drawing/2014/main" val="1815885365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1473347967"/>
                    </a:ext>
                  </a:extLst>
                </a:gridCol>
                <a:gridCol w="5964158">
                  <a:extLst>
                    <a:ext uri="{9D8B030D-6E8A-4147-A177-3AD203B41FA5}">
                      <a16:colId xmlns:a16="http://schemas.microsoft.com/office/drawing/2014/main" val="483594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Method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6950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GT BPM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STFT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Best for time-localized frequency tracking</a:t>
                      </a:r>
                    </a:p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(sliding BPM over time)</a:t>
                      </a:r>
                    </a:p>
                    <a:p>
                      <a:endParaRPr lang="en-US" sz="12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506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Estimated BPM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Welch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Find the dominant heart rate </a:t>
                      </a:r>
                    </a:p>
                    <a:p>
                      <a:r>
                        <a:rPr lang="en-US" sz="1200" b="0" dirty="0">
                          <a:latin typeface="Consolas" panose="020B0609020204030204" pitchFamily="49" charset="0"/>
                        </a:rPr>
                        <a:t>in each short window</a:t>
                      </a:r>
                    </a:p>
                    <a:p>
                      <a:endParaRPr lang="en-US" sz="1200" b="0" dirty="0">
                        <a:latin typeface="Consolas" panose="020B06090202040302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73779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7C95800-3902-7FD9-49A1-136AB4FD2C57}"/>
              </a:ext>
            </a:extLst>
          </p:cNvPr>
          <p:cNvSpPr txBox="1"/>
          <p:nvPr/>
        </p:nvSpPr>
        <p:spPr>
          <a:xfrm>
            <a:off x="275040" y="1125603"/>
            <a:ext cx="98836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u="sng" dirty="0">
                <a:latin typeface="Consolas" panose="020B0609020204030204" pitchFamily="49" charset="0"/>
              </a:rPr>
              <a:t>Purpose: Convert the entire continuous ground truth BVP signal into a time-resolved BPM Track [1,2]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latin typeface="Consolas" panose="020B0609020204030204" pitchFamily="49" charset="0"/>
              </a:rPr>
              <a:t>Why STFT?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STFT allows tracking how frequency content evolves over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Each BPM estimate corresponds to a short window (8 sec) with 1 sec stride (default)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It's suitable when the goal is to generate a BPM time series, not just one global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b="1" u="sng" dirty="0">
                <a:latin typeface="Consolas" panose="020B0609020204030204" pitchFamily="49" charset="0"/>
              </a:rPr>
              <a:t>Purpose: Compute dominant frequency in each estimated BVP window [1,3]</a:t>
            </a:r>
          </a:p>
          <a:p>
            <a:endParaRPr lang="en-US" sz="1200" b="1" dirty="0">
              <a:latin typeface="Consolas" panose="020B0609020204030204" pitchFamily="49" charset="0"/>
            </a:endParaRPr>
          </a:p>
          <a:p>
            <a:r>
              <a:rPr lang="en-US" sz="1200" b="1" dirty="0">
                <a:latin typeface="Consolas" panose="020B0609020204030204" pitchFamily="49" charset="0"/>
              </a:rPr>
              <a:t>Why Welch?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Welch gives a smooth, low-variance estimate of the power spectral density (PSD)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onsolas" panose="020B0609020204030204" pitchFamily="49" charset="0"/>
              </a:rPr>
              <a:t>It is typically used when signal is assumed quasi-stationary within a window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err="1">
                <a:latin typeface="Consolas" panose="020B0609020204030204" pitchFamily="49" charset="0"/>
              </a:rPr>
              <a:t>pyVHR</a:t>
            </a:r>
            <a:r>
              <a:rPr lang="en-US" sz="1200" dirty="0">
                <a:latin typeface="Consolas" panose="020B0609020204030204" pitchFamily="49" charset="0"/>
              </a:rPr>
              <a:t> runs this on each BVP block extracted by </a:t>
            </a:r>
            <a:r>
              <a:rPr lang="en-US" sz="1200" dirty="0" err="1">
                <a:latin typeface="Consolas" panose="020B0609020204030204" pitchFamily="49" charset="0"/>
              </a:rPr>
              <a:t>rPPG</a:t>
            </a:r>
            <a:r>
              <a:rPr lang="en-US" sz="1200" dirty="0">
                <a:latin typeface="Consolas" panose="020B0609020204030204" pitchFamily="49" charset="0"/>
              </a:rPr>
              <a:t> → typically 8-second segments</a:t>
            </a:r>
          </a:p>
          <a:p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2DFFD-52D4-6044-D5A1-EAC62738F57C}"/>
              </a:ext>
            </a:extLst>
          </p:cNvPr>
          <p:cNvSpPr txBox="1"/>
          <p:nvPr/>
        </p:nvSpPr>
        <p:spPr>
          <a:xfrm>
            <a:off x="234132" y="6360934"/>
            <a:ext cx="9471391" cy="120032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[1]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Boccignone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G, Conte D,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Cuculo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V,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D'Amelio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A,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Grossi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G,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Lanzarotti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R,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Mortara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E.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pyVHR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: a Python framework for remote photoplethysmography.</a:t>
            </a:r>
          </a:p>
          <a:p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PeerJ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Comput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Sci. 2022 Apr 15;8:e929.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doi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: 10.7717/peerj-cs.929. PMID: 35494872; PMCID: PMC9044207.</a:t>
            </a:r>
          </a:p>
          <a:p>
            <a:endParaRPr lang="en-US" sz="900" b="0" i="1" dirty="0">
              <a:solidFill>
                <a:schemeClr val="accent1">
                  <a:lumMod val="75000"/>
                </a:schemeClr>
              </a:solidFill>
              <a:effectLst/>
              <a:latin typeface="Roboto Mono Web"/>
            </a:endParaRPr>
          </a:p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[2]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Ming-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Zher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 </a:t>
            </a:r>
            <a:r>
              <a:rPr lang="en-US" sz="900" b="0" i="1" dirty="0" err="1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Poh</a:t>
            </a:r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, Daniel J. McDuff, and Rosalind W. Picard, "Non-contact, automated cardiac pulse measurements using video imaging and blind source separation.,</a:t>
            </a:r>
          </a:p>
          <a:p>
            <a:r>
              <a:rPr lang="en-US" sz="900" b="0" i="1" dirty="0">
                <a:solidFill>
                  <a:schemeClr val="accent1">
                    <a:lumMod val="75000"/>
                  </a:schemeClr>
                </a:solidFill>
                <a:effectLst/>
                <a:latin typeface="Roboto Mono Web"/>
              </a:rPr>
              <a:t>" Opt. Express 18, 10762-10774 (2010)</a:t>
            </a:r>
          </a:p>
          <a:p>
            <a:endParaRPr lang="en-US" sz="900" b="0" i="1" dirty="0">
              <a:solidFill>
                <a:schemeClr val="accent1">
                  <a:lumMod val="75000"/>
                </a:schemeClr>
              </a:solidFill>
              <a:effectLst/>
              <a:latin typeface="Roboto Mono Web"/>
            </a:endParaRPr>
          </a:p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[3] F. Peng, X. -w. Zhu and M. Long, "An ROI Privacy Protection Scheme for H.264 Video Based on FMO and Chaos," in IEEE Transactions on Information Forensics and Security, </a:t>
            </a:r>
          </a:p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vol. 8, no. 10, pp. 1688-1699, Oct. 2013, </a:t>
            </a:r>
            <a:r>
              <a:rPr lang="en-US" sz="900" i="1" dirty="0" err="1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doi</a:t>
            </a:r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: 10.1109/TIFS.2013.2259819</a:t>
            </a:r>
            <a:endParaRPr lang="en-US" sz="9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301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 err="1">
                <a:latin typeface="Caladea"/>
                <a:ea typeface="HY견고딕" pitchFamily="18" charset="-127"/>
              </a:rPr>
              <a:t>pyVHR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Challenges 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E92F4F-1D51-D58B-64A4-ADDB2AEF60CB}"/>
              </a:ext>
            </a:extLst>
          </p:cNvPr>
          <p:cNvSpPr txBox="1"/>
          <p:nvPr/>
        </p:nvSpPr>
        <p:spPr>
          <a:xfrm>
            <a:off x="271953" y="1116335"/>
            <a:ext cx="921702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Availability:</a:t>
            </a:r>
          </a:p>
          <a:p>
            <a:endParaRPr lang="en-US" sz="16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onsolas" panose="020B0609020204030204" pitchFamily="49" charset="0"/>
              </a:rPr>
              <a:t>GPU Supported Version works For Linux Based OS Currently.[4]</a:t>
            </a:r>
            <a:r>
              <a:rPr lang="en-US" sz="1400" dirty="0">
                <a:latin typeface="Consolas" panose="020B0609020204030204" pitchFamily="49" charset="0"/>
              </a:rPr>
              <a:t> 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- Tried Using Chat GPT To Fix the Issue: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		</a:t>
            </a:r>
            <a:br>
              <a:rPr lang="en-US" sz="1200" dirty="0"/>
            </a:b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dirty="0">
                <a:latin typeface="Consolas" panose="020B0609020204030204" pitchFamily="49" charset="0"/>
              </a:rPr>
              <a:t>	</a:t>
            </a:r>
          </a:p>
          <a:p>
            <a:br>
              <a:rPr lang="en-US" sz="1400" dirty="0">
                <a:latin typeface="Consolas" panose="020B0609020204030204" pitchFamily="49" charset="0"/>
              </a:rPr>
            </a:br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onsolas" panose="020B0609020204030204" pitchFamily="49" charset="0"/>
              </a:rPr>
              <a:t>CPU Supported Version Has Some Dependencies Issues For </a:t>
            </a:r>
            <a:r>
              <a:rPr lang="en-US" sz="1400" b="1" dirty="0" err="1">
                <a:latin typeface="Consolas" panose="020B0609020204030204" pitchFamily="49" charset="0"/>
              </a:rPr>
              <a:t>cusignal</a:t>
            </a:r>
            <a:r>
              <a:rPr lang="en-US" sz="1400" b="1" dirty="0">
                <a:latin typeface="Consolas" panose="020B0609020204030204" pitchFamily="49" charset="0"/>
              </a:rPr>
              <a:t> [4].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latin typeface="Consolas" panose="020B0609020204030204" pitchFamily="49" charset="0"/>
              </a:rPr>
              <a:t>Changes Required Inside </a:t>
            </a:r>
            <a:r>
              <a:rPr lang="en-US" sz="1400" b="1" dirty="0" err="1">
                <a:latin typeface="Consolas" panose="020B0609020204030204" pitchFamily="49" charset="0"/>
              </a:rPr>
              <a:t>pyVHR</a:t>
            </a:r>
            <a:r>
              <a:rPr lang="en-US" sz="1400" b="1" dirty="0">
                <a:latin typeface="Consolas" panose="020B0609020204030204" pitchFamily="49" charset="0"/>
              </a:rPr>
              <a:t> Library:</a:t>
            </a:r>
            <a:br>
              <a:rPr lang="en-US" sz="1400" b="1" dirty="0">
                <a:latin typeface="Consolas" panose="020B0609020204030204" pitchFamily="49" charset="0"/>
              </a:rPr>
            </a:br>
            <a:r>
              <a:rPr lang="en-US" sz="1400" b="1" dirty="0">
                <a:latin typeface="Consolas" panose="020B0609020204030204" pitchFamily="49" charset="0"/>
              </a:rPr>
              <a:t>- </a:t>
            </a:r>
            <a:r>
              <a:rPr lang="en-US" sz="1400" dirty="0">
                <a:latin typeface="Consolas" panose="020B0609020204030204" pitchFamily="49" charset="0"/>
              </a:rPr>
              <a:t>Disable </a:t>
            </a:r>
            <a:r>
              <a:rPr lang="en-US" sz="1400" dirty="0" err="1">
                <a:latin typeface="Consolas" panose="020B0609020204030204" pitchFamily="49" charset="0"/>
              </a:rPr>
              <a:t>cupy</a:t>
            </a:r>
            <a:r>
              <a:rPr lang="en-US" sz="1400" dirty="0">
                <a:latin typeface="Consolas" panose="020B0609020204030204" pitchFamily="49" charset="0"/>
              </a:rPr>
              <a:t> Usage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- Edit sig_processing.py</a:t>
            </a:r>
            <a:br>
              <a:rPr lang="en-US" sz="1400" dirty="0">
                <a:latin typeface="Consolas" panose="020B0609020204030204" pitchFamily="49" charset="0"/>
              </a:rPr>
            </a:br>
            <a:r>
              <a:rPr lang="en-US" sz="1400" dirty="0">
                <a:latin typeface="Consolas" panose="020B0609020204030204" pitchFamily="49" charset="0"/>
              </a:rPr>
              <a:t>- Remove </a:t>
            </a:r>
            <a:r>
              <a:rPr lang="en-US" sz="1400" dirty="0" err="1">
                <a:latin typeface="Consolas" panose="020B0609020204030204" pitchFamily="49" charset="0"/>
              </a:rPr>
              <a:t>cusignal</a:t>
            </a:r>
            <a:r>
              <a:rPr lang="en-US" sz="1400" dirty="0">
                <a:latin typeface="Consolas" panose="020B0609020204030204" pitchFamily="49" charset="0"/>
              </a:rPr>
              <a:t> Dependency</a:t>
            </a:r>
            <a:br>
              <a:rPr lang="en-US" sz="1400" b="1" dirty="0">
                <a:latin typeface="Consolas" panose="020B0609020204030204" pitchFamily="49" charset="0"/>
              </a:rPr>
            </a:br>
            <a:br>
              <a:rPr lang="en-US" sz="1400" b="1" dirty="0">
                <a:latin typeface="Consolas" panose="020B0609020204030204" pitchFamily="49" charset="0"/>
              </a:rPr>
            </a:br>
            <a:endParaRPr lang="en-US" sz="14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0CDFE1-5ADA-206C-2F9D-0A452F411F65}"/>
              </a:ext>
            </a:extLst>
          </p:cNvPr>
          <p:cNvSpPr/>
          <p:nvPr/>
        </p:nvSpPr>
        <p:spPr>
          <a:xfrm>
            <a:off x="1803032" y="2393955"/>
            <a:ext cx="6154866" cy="93610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that confirms </a:t>
            </a:r>
            <a:r>
              <a:rPr lang="en-US" sz="1200" dirty="0" err="1">
                <a:solidFill>
                  <a:schemeClr val="accent2">
                    <a:lumMod val="40000"/>
                    <a:lumOff val="60000"/>
                  </a:schemeClr>
                </a:solidFill>
              </a:rPr>
              <a:t>cusignal</a:t>
            </a:r>
            <a:r>
              <a:rPr lang="en-US" sz="1200" dirty="0"/>
              <a:t> cannot be installed via pip on your system (as expected). It’s only officially available through NVIDIA’s RAPIDS </a:t>
            </a:r>
            <a:r>
              <a:rPr lang="en-US" sz="1200" dirty="0" err="1"/>
              <a:t>conda</a:t>
            </a:r>
            <a:r>
              <a:rPr lang="en-US" sz="1200" dirty="0"/>
              <a:t> channels and requires a full CUDA + Linux/WSL2 setup.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D7D082-7445-0453-221E-471EBC3BBAF8}"/>
              </a:ext>
            </a:extLst>
          </p:cNvPr>
          <p:cNvSpPr txBox="1"/>
          <p:nvPr/>
        </p:nvSpPr>
        <p:spPr>
          <a:xfrm>
            <a:off x="306140" y="7001224"/>
            <a:ext cx="9471391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[4] https://github.com/rapidsai/cusignal</a:t>
            </a:r>
            <a:endParaRPr lang="en-US" sz="9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46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Ground Truth BVP Signal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7CD6F8-709A-8153-77E2-5F1B7AC37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17" y="941559"/>
            <a:ext cx="7991749" cy="3151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78D91E-8F0F-8845-1968-E9A207059D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994" y="4135888"/>
            <a:ext cx="8361470" cy="329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5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Sliding Window Mechanism Used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rPPG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DD4CBC-5187-53BA-E2F9-8B31DD5F7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727869"/>
              </p:ext>
            </p:extLst>
          </p:nvPr>
        </p:nvGraphicFramePr>
        <p:xfrm>
          <a:off x="450156" y="1162304"/>
          <a:ext cx="3240360" cy="2773680"/>
        </p:xfrm>
        <a:graphic>
          <a:graphicData uri="http://schemas.openxmlformats.org/drawingml/2006/table">
            <a:tbl>
              <a:tblPr/>
              <a:tblGrid>
                <a:gridCol w="1620180">
                  <a:extLst>
                    <a:ext uri="{9D8B030D-6E8A-4147-A177-3AD203B41FA5}">
                      <a16:colId xmlns:a16="http://schemas.microsoft.com/office/drawing/2014/main" val="853670983"/>
                    </a:ext>
                  </a:extLst>
                </a:gridCol>
                <a:gridCol w="1620180">
                  <a:extLst>
                    <a:ext uri="{9D8B030D-6E8A-4147-A177-3AD203B41FA5}">
                      <a16:colId xmlns:a16="http://schemas.microsoft.com/office/drawing/2014/main" val="119137862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adea" panose="020B0600000101010101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73319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Video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adea" panose="020B0600000101010101"/>
                        </a:rPr>
                        <a:t>10 seconds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69697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Frame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adea" panose="020B0600000101010101"/>
                        </a:rPr>
                        <a:t>30 FPS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758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Total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adea" panose="020B0600000101010101"/>
                        </a:rPr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25406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Window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adea" panose="020B0600000101010101"/>
                        </a:rPr>
                        <a:t>3 seconds = 90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56903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Stride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adea" panose="020B0600000101010101"/>
                        </a:rPr>
                        <a:t>1 second = 30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2217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Overlap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adea" panose="020B0600000101010101"/>
                        </a:rPr>
                        <a:t>2 seconds = 60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2283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CA4A6A-88BA-55A0-9C16-89A85B7C6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798679"/>
              </p:ext>
            </p:extLst>
          </p:nvPr>
        </p:nvGraphicFramePr>
        <p:xfrm>
          <a:off x="4698628" y="1116335"/>
          <a:ext cx="5259760" cy="3025266"/>
        </p:xfrm>
        <a:graphic>
          <a:graphicData uri="http://schemas.openxmlformats.org/drawingml/2006/table">
            <a:tbl>
              <a:tblPr/>
              <a:tblGrid>
                <a:gridCol w="1051952">
                  <a:extLst>
                    <a:ext uri="{9D8B030D-6E8A-4147-A177-3AD203B41FA5}">
                      <a16:colId xmlns:a16="http://schemas.microsoft.com/office/drawing/2014/main" val="2961661923"/>
                    </a:ext>
                  </a:extLst>
                </a:gridCol>
                <a:gridCol w="1051952">
                  <a:extLst>
                    <a:ext uri="{9D8B030D-6E8A-4147-A177-3AD203B41FA5}">
                      <a16:colId xmlns:a16="http://schemas.microsoft.com/office/drawing/2014/main" val="785465794"/>
                    </a:ext>
                  </a:extLst>
                </a:gridCol>
                <a:gridCol w="1051952">
                  <a:extLst>
                    <a:ext uri="{9D8B030D-6E8A-4147-A177-3AD203B41FA5}">
                      <a16:colId xmlns:a16="http://schemas.microsoft.com/office/drawing/2014/main" val="3851334728"/>
                    </a:ext>
                  </a:extLst>
                </a:gridCol>
                <a:gridCol w="1051952">
                  <a:extLst>
                    <a:ext uri="{9D8B030D-6E8A-4147-A177-3AD203B41FA5}">
                      <a16:colId xmlns:a16="http://schemas.microsoft.com/office/drawing/2014/main" val="2415151733"/>
                    </a:ext>
                  </a:extLst>
                </a:gridCol>
                <a:gridCol w="1051952">
                  <a:extLst>
                    <a:ext uri="{9D8B030D-6E8A-4147-A177-3AD203B41FA5}">
                      <a16:colId xmlns:a16="http://schemas.microsoft.com/office/drawing/2014/main" val="4158571755"/>
                    </a:ext>
                  </a:extLst>
                </a:gridCol>
              </a:tblGrid>
              <a:tr h="52538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Window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Start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Start 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End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End 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315928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0s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3s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721093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1s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4s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119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985075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2s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5s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149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827642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3s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6s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179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812508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4s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120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7s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209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896461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5s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150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8s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239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393475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6s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180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9s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269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1598243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7s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210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10s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299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60699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50FC24-BAC2-A084-D38A-2B5042549A7F}"/>
              </a:ext>
            </a:extLst>
          </p:cNvPr>
          <p:cNvSpPr txBox="1"/>
          <p:nvPr/>
        </p:nvSpPr>
        <p:spPr>
          <a:xfrm>
            <a:off x="162124" y="4594413"/>
            <a:ext cx="5071660" cy="2462213"/>
          </a:xfrm>
          <a:prstGeom prst="rect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aladea" panose="020B0600000101010101"/>
              </a:rPr>
              <a:t>Frame Index (0 to 299):</a:t>
            </a:r>
          </a:p>
          <a:p>
            <a:endParaRPr lang="en-US" sz="1400" dirty="0">
              <a:latin typeface="Caladea" panose="020B0600000101010101"/>
            </a:endParaRPr>
          </a:p>
          <a:p>
            <a:r>
              <a:rPr lang="en-US" sz="1400" dirty="0" err="1">
                <a:latin typeface="Caladea" panose="020B0600000101010101"/>
              </a:rPr>
              <a:t>Fmares</a:t>
            </a:r>
            <a:r>
              <a:rPr lang="en-US" sz="1400" dirty="0">
                <a:latin typeface="Caladea" panose="020B0600000101010101"/>
              </a:rPr>
              <a:t>:</a:t>
            </a:r>
          </a:p>
          <a:p>
            <a:r>
              <a:rPr lang="en-US" sz="1400" dirty="0">
                <a:latin typeface="Caladea" panose="020B0600000101010101"/>
              </a:rPr>
              <a:t>Window 1:  [0 ............................................. 89]</a:t>
            </a:r>
          </a:p>
          <a:p>
            <a:r>
              <a:rPr lang="en-US" sz="1400" dirty="0">
                <a:latin typeface="Caladea" panose="020B0600000101010101"/>
              </a:rPr>
              <a:t>Window 2:      [30 ..............................................119]</a:t>
            </a:r>
          </a:p>
          <a:p>
            <a:r>
              <a:rPr lang="en-US" sz="1400" dirty="0">
                <a:latin typeface="Caladea" panose="020B0600000101010101"/>
              </a:rPr>
              <a:t>Window 3:           [60 ..............................................149]</a:t>
            </a:r>
          </a:p>
          <a:p>
            <a:r>
              <a:rPr lang="en-US" sz="1400" dirty="0">
                <a:latin typeface="Caladea" panose="020B0600000101010101"/>
              </a:rPr>
              <a:t>Window 4:                [90 ..............................................179]</a:t>
            </a:r>
          </a:p>
          <a:p>
            <a:r>
              <a:rPr lang="en-US" sz="1400" dirty="0">
                <a:latin typeface="Caladea" panose="020B0600000101010101"/>
              </a:rPr>
              <a:t>Window 5:                    [120 ............................................209]</a:t>
            </a:r>
          </a:p>
          <a:p>
            <a:r>
              <a:rPr lang="en-US" sz="1400" dirty="0">
                <a:latin typeface="Caladea" panose="020B0600000101010101"/>
              </a:rPr>
              <a:t>Window 6:                         [150 ............................................239]</a:t>
            </a:r>
          </a:p>
          <a:p>
            <a:r>
              <a:rPr lang="en-US" sz="1400" dirty="0">
                <a:latin typeface="Caladea" panose="020B0600000101010101"/>
              </a:rPr>
              <a:t>Window 7:                              [180 ............................................269]</a:t>
            </a:r>
          </a:p>
          <a:p>
            <a:r>
              <a:rPr lang="en-US" sz="1400" dirty="0">
                <a:latin typeface="Caladea" panose="020B0600000101010101"/>
              </a:rPr>
              <a:t>Window 8:                                   [210 ............................................299]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663DB-2504-8D42-7BFA-1F8F339D7BFE}"/>
              </a:ext>
            </a:extLst>
          </p:cNvPr>
          <p:cNvSpPr txBox="1"/>
          <p:nvPr/>
        </p:nvSpPr>
        <p:spPr>
          <a:xfrm>
            <a:off x="6210796" y="4590541"/>
            <a:ext cx="3096344" cy="2462213"/>
          </a:xfrm>
          <a:prstGeom prst="rect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aladea" panose="020B0600000101010101"/>
              </a:rPr>
              <a:t>Frame Index (0 to 299):</a:t>
            </a:r>
          </a:p>
          <a:p>
            <a:endParaRPr lang="en-US" sz="1400" dirty="0">
              <a:latin typeface="Caladea" panose="020B0600000101010101"/>
            </a:endParaRPr>
          </a:p>
          <a:p>
            <a:r>
              <a:rPr lang="en-US" sz="1400" dirty="0">
                <a:latin typeface="Caladea" panose="020B0600000101010101"/>
              </a:rPr>
              <a:t>Duration</a:t>
            </a:r>
          </a:p>
          <a:p>
            <a:r>
              <a:rPr lang="en-US" sz="1400" dirty="0">
                <a:latin typeface="Caladea" panose="020B0600000101010101"/>
              </a:rPr>
              <a:t>Window 1:  [0 .. 3 ]</a:t>
            </a:r>
          </a:p>
          <a:p>
            <a:r>
              <a:rPr lang="en-US" sz="1400" dirty="0">
                <a:latin typeface="Caladea" panose="020B0600000101010101"/>
              </a:rPr>
              <a:t>Window 2:      [1 .. 4]</a:t>
            </a:r>
          </a:p>
          <a:p>
            <a:r>
              <a:rPr lang="en-US" sz="1400" dirty="0">
                <a:latin typeface="Caladea" panose="020B0600000101010101"/>
              </a:rPr>
              <a:t>Window 3:           [2 .. 5]</a:t>
            </a:r>
          </a:p>
          <a:p>
            <a:r>
              <a:rPr lang="en-US" sz="1400" dirty="0">
                <a:latin typeface="Caladea" panose="020B0600000101010101"/>
              </a:rPr>
              <a:t>Window 4:                [3 .. 6]</a:t>
            </a:r>
          </a:p>
          <a:p>
            <a:r>
              <a:rPr lang="en-US" sz="1400" dirty="0">
                <a:latin typeface="Caladea" panose="020B0600000101010101"/>
              </a:rPr>
              <a:t>Window 5:                    [4 .. 7]</a:t>
            </a:r>
          </a:p>
          <a:p>
            <a:r>
              <a:rPr lang="en-US" sz="1400" dirty="0">
                <a:latin typeface="Caladea" panose="020B0600000101010101"/>
              </a:rPr>
              <a:t>Window 6:                         [5 .. 8]</a:t>
            </a:r>
          </a:p>
          <a:p>
            <a:r>
              <a:rPr lang="en-US" sz="1400" dirty="0">
                <a:latin typeface="Caladea" panose="020B0600000101010101"/>
              </a:rPr>
              <a:t>Window 7:                              [6 .. 9]</a:t>
            </a:r>
          </a:p>
          <a:p>
            <a:r>
              <a:rPr lang="en-US" sz="1400" dirty="0">
                <a:latin typeface="Caladea" panose="020B0600000101010101"/>
              </a:rPr>
              <a:t>Window 8:                                   [7 .. 10]</a:t>
            </a:r>
          </a:p>
        </p:txBody>
      </p:sp>
    </p:spTree>
    <p:extLst>
      <p:ext uri="{BB962C8B-B14F-4D97-AF65-F5344CB8AC3E}">
        <p14:creationId xmlns:p14="http://schemas.microsoft.com/office/powerpoint/2010/main" val="94054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Sliding Window Mechanism Used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rPPG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6DD4CBC-5187-53BA-E2F9-8B31DD5F7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775214"/>
              </p:ext>
            </p:extLst>
          </p:nvPr>
        </p:nvGraphicFramePr>
        <p:xfrm>
          <a:off x="450156" y="1162304"/>
          <a:ext cx="3384376" cy="2773680"/>
        </p:xfrm>
        <a:graphic>
          <a:graphicData uri="http://schemas.openxmlformats.org/drawingml/2006/table">
            <a:tbl>
              <a:tblPr/>
              <a:tblGrid>
                <a:gridCol w="1692188">
                  <a:extLst>
                    <a:ext uri="{9D8B030D-6E8A-4147-A177-3AD203B41FA5}">
                      <a16:colId xmlns:a16="http://schemas.microsoft.com/office/drawing/2014/main" val="853670983"/>
                    </a:ext>
                  </a:extLst>
                </a:gridCol>
                <a:gridCol w="1692188">
                  <a:extLst>
                    <a:ext uri="{9D8B030D-6E8A-4147-A177-3AD203B41FA5}">
                      <a16:colId xmlns:a16="http://schemas.microsoft.com/office/drawing/2014/main" val="119137862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adea" panose="020B0600000101010101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73319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Video 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adea" panose="020B0600000101010101"/>
                        </a:rPr>
                        <a:t>10 seconds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69697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Frame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Caladea" panose="020B0600000101010101"/>
                        </a:rPr>
                        <a:t>30 FPS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7584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Total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adea" panose="020B0600000101010101"/>
                        </a:rPr>
                        <a:t>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25406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Window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adea" panose="020B0600000101010101"/>
                        </a:rPr>
                        <a:t>8 seconds = 240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656903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Stride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adea" panose="020B0600000101010101"/>
                        </a:rPr>
                        <a:t>1 second = 30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22217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lang="en-US" sz="1200" b="1" dirty="0">
                          <a:latin typeface="Caladea" panose="020B0600000101010101"/>
                        </a:rPr>
                        <a:t>Overlap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Caladea" panose="020B0600000101010101"/>
                        </a:rPr>
                        <a:t>7 seconds = 210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622837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CA4A6A-88BA-55A0-9C16-89A85B7C6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53664"/>
              </p:ext>
            </p:extLst>
          </p:nvPr>
        </p:nvGraphicFramePr>
        <p:xfrm>
          <a:off x="4698628" y="1692399"/>
          <a:ext cx="5259760" cy="1462841"/>
        </p:xfrm>
        <a:graphic>
          <a:graphicData uri="http://schemas.openxmlformats.org/drawingml/2006/table">
            <a:tbl>
              <a:tblPr/>
              <a:tblGrid>
                <a:gridCol w="1051952">
                  <a:extLst>
                    <a:ext uri="{9D8B030D-6E8A-4147-A177-3AD203B41FA5}">
                      <a16:colId xmlns:a16="http://schemas.microsoft.com/office/drawing/2014/main" val="2961661923"/>
                    </a:ext>
                  </a:extLst>
                </a:gridCol>
                <a:gridCol w="1051952">
                  <a:extLst>
                    <a:ext uri="{9D8B030D-6E8A-4147-A177-3AD203B41FA5}">
                      <a16:colId xmlns:a16="http://schemas.microsoft.com/office/drawing/2014/main" val="785465794"/>
                    </a:ext>
                  </a:extLst>
                </a:gridCol>
                <a:gridCol w="1051952">
                  <a:extLst>
                    <a:ext uri="{9D8B030D-6E8A-4147-A177-3AD203B41FA5}">
                      <a16:colId xmlns:a16="http://schemas.microsoft.com/office/drawing/2014/main" val="3851334728"/>
                    </a:ext>
                  </a:extLst>
                </a:gridCol>
                <a:gridCol w="1051952">
                  <a:extLst>
                    <a:ext uri="{9D8B030D-6E8A-4147-A177-3AD203B41FA5}">
                      <a16:colId xmlns:a16="http://schemas.microsoft.com/office/drawing/2014/main" val="2415151733"/>
                    </a:ext>
                  </a:extLst>
                </a:gridCol>
                <a:gridCol w="1051952">
                  <a:extLst>
                    <a:ext uri="{9D8B030D-6E8A-4147-A177-3AD203B41FA5}">
                      <a16:colId xmlns:a16="http://schemas.microsoft.com/office/drawing/2014/main" val="4158571755"/>
                    </a:ext>
                  </a:extLst>
                </a:gridCol>
              </a:tblGrid>
              <a:tr h="52538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Window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Start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Start 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End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End Frame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315928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0s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8s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239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721093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>
                          <a:latin typeface="Caladea" panose="020B0600000101010101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1s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9s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269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985075"/>
                  </a:ext>
                </a:extLst>
              </a:tr>
              <a:tr h="31248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2s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10s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aladea" panose="020B0600000101010101"/>
                        </a:rPr>
                        <a:t>299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82764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50FC24-BAC2-A084-D38A-2B5042549A7F}"/>
              </a:ext>
            </a:extLst>
          </p:cNvPr>
          <p:cNvSpPr txBox="1"/>
          <p:nvPr/>
        </p:nvSpPr>
        <p:spPr>
          <a:xfrm>
            <a:off x="234132" y="4860751"/>
            <a:ext cx="5071660" cy="1384995"/>
          </a:xfrm>
          <a:prstGeom prst="rect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aladea" panose="020B0600000101010101"/>
              </a:rPr>
              <a:t>Frame Index (0 to 299):</a:t>
            </a:r>
          </a:p>
          <a:p>
            <a:endParaRPr lang="en-US" sz="1400" dirty="0">
              <a:latin typeface="Caladea" panose="020B0600000101010101"/>
            </a:endParaRPr>
          </a:p>
          <a:p>
            <a:r>
              <a:rPr lang="en-US" sz="1400" dirty="0" err="1">
                <a:latin typeface="Caladea" panose="020B0600000101010101"/>
              </a:rPr>
              <a:t>Fmares</a:t>
            </a:r>
            <a:r>
              <a:rPr lang="en-US" sz="1400" dirty="0">
                <a:latin typeface="Caladea" panose="020B0600000101010101"/>
              </a:rPr>
              <a:t>:</a:t>
            </a:r>
          </a:p>
          <a:p>
            <a:r>
              <a:rPr lang="en-US" sz="1400" dirty="0">
                <a:latin typeface="Caladea" panose="020B0600000101010101"/>
              </a:rPr>
              <a:t>Window 1:  [0 ............................................. 239]</a:t>
            </a:r>
          </a:p>
          <a:p>
            <a:r>
              <a:rPr lang="en-US" sz="1400" dirty="0">
                <a:latin typeface="Caladea" panose="020B0600000101010101"/>
              </a:rPr>
              <a:t>Window 2:      [30 ..............................................269]</a:t>
            </a:r>
          </a:p>
          <a:p>
            <a:r>
              <a:rPr lang="en-US" sz="1400" dirty="0">
                <a:latin typeface="Caladea" panose="020B0600000101010101"/>
              </a:rPr>
              <a:t>Window 3:           [60 ..............................................299]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B663DB-2504-8D42-7BFA-1F8F339D7BFE}"/>
              </a:ext>
            </a:extLst>
          </p:cNvPr>
          <p:cNvSpPr txBox="1"/>
          <p:nvPr/>
        </p:nvSpPr>
        <p:spPr>
          <a:xfrm>
            <a:off x="6426820" y="4860750"/>
            <a:ext cx="3096344" cy="1384995"/>
          </a:xfrm>
          <a:prstGeom prst="rect">
            <a:avLst/>
          </a:prstGeom>
          <a:noFill/>
          <a:ln w="28575"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latin typeface="Caladea" panose="020B0600000101010101"/>
              </a:rPr>
              <a:t>Frame Index (0 to 299):</a:t>
            </a:r>
          </a:p>
          <a:p>
            <a:endParaRPr lang="en-US" sz="1400" dirty="0">
              <a:latin typeface="Caladea" panose="020B0600000101010101"/>
            </a:endParaRPr>
          </a:p>
          <a:p>
            <a:r>
              <a:rPr lang="en-US" sz="1400" dirty="0">
                <a:latin typeface="Caladea" panose="020B0600000101010101"/>
              </a:rPr>
              <a:t>Duration</a:t>
            </a:r>
          </a:p>
          <a:p>
            <a:r>
              <a:rPr lang="en-US" sz="1400" dirty="0">
                <a:latin typeface="Caladea" panose="020B0600000101010101"/>
              </a:rPr>
              <a:t>Window 1:  [0 .. 8 ]</a:t>
            </a:r>
          </a:p>
          <a:p>
            <a:r>
              <a:rPr lang="en-US" sz="1400" dirty="0">
                <a:latin typeface="Caladea" panose="020B0600000101010101"/>
              </a:rPr>
              <a:t>Window 2:      [1 .. 9]</a:t>
            </a:r>
          </a:p>
          <a:p>
            <a:r>
              <a:rPr lang="en-US" sz="1400" dirty="0">
                <a:latin typeface="Caladea" panose="020B0600000101010101"/>
              </a:rPr>
              <a:t>Window 3:           [2 .. 10]</a:t>
            </a:r>
          </a:p>
        </p:txBody>
      </p:sp>
    </p:spTree>
    <p:extLst>
      <p:ext uri="{BB962C8B-B14F-4D97-AF65-F5344CB8AC3E}">
        <p14:creationId xmlns:p14="http://schemas.microsoft.com/office/powerpoint/2010/main" val="706011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Ground Truth BVP Signal First 10 Sec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FC35FE-CA12-AE94-553E-2BAE5D56E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720" y="2994866"/>
            <a:ext cx="6615564" cy="193789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C3AEA9-FEC0-9F6C-9DE2-81074BAAA4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050" y="4860751"/>
            <a:ext cx="8213259" cy="26940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2486762-0D72-4254-7924-8F3053A985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666" y="925266"/>
            <a:ext cx="6772225" cy="222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Ground Truth BVP Signal Full Length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E6321B-C2B5-7871-C1B6-65E94818E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4" y="921757"/>
            <a:ext cx="7002884" cy="22969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0CF1CD-7C74-FF4E-6DD0-01CF242CE1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8548" y="3011217"/>
            <a:ext cx="6550946" cy="1920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195253-0935-DD68-CCC9-F13DAF8E79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4473" y="4935749"/>
            <a:ext cx="8004454" cy="262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279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Applying Solved Workflow of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pyVHR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on UBFC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9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3E37DF1A-163A-25B5-4242-87270115CC7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40" y="3077827"/>
            <a:ext cx="10076189" cy="373896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883BC-217F-D99B-D51F-978761605E56}"/>
              </a:ext>
            </a:extLst>
          </p:cNvPr>
          <p:cNvSpPr txBox="1"/>
          <p:nvPr/>
        </p:nvSpPr>
        <p:spPr>
          <a:xfrm>
            <a:off x="378148" y="1458760"/>
            <a:ext cx="5904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MAE Using MEAN    :  1.518333 BPM</a:t>
            </a:r>
          </a:p>
          <a:p>
            <a:r>
              <a:rPr lang="en-US" dirty="0"/>
              <a:t>MAE Using  MEDIAN:  1.265714 BPM</a:t>
            </a:r>
          </a:p>
        </p:txBody>
      </p:sp>
    </p:spTree>
    <p:extLst>
      <p:ext uri="{BB962C8B-B14F-4D97-AF65-F5344CB8AC3E}">
        <p14:creationId xmlns:p14="http://schemas.microsoft.com/office/powerpoint/2010/main" val="1335942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From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pyVHR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Repository On UBFC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883BC-217F-D99B-D51F-978761605E56}"/>
              </a:ext>
            </a:extLst>
          </p:cNvPr>
          <p:cNvSpPr txBox="1"/>
          <p:nvPr/>
        </p:nvSpPr>
        <p:spPr>
          <a:xfrm>
            <a:off x="378148" y="1458760"/>
            <a:ext cx="5904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MEANS     STD     MEDIANS</a:t>
            </a:r>
          </a:p>
          <a:p>
            <a:r>
              <a:rPr lang="en-US" dirty="0"/>
              <a:t>MAE    5.27      12.99       1.88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C554F2-138A-D8AC-7824-FAFA95D01D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0331"/>
            <a:ext cx="10693400" cy="331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68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Applying Solved Workflow of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pyVHR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on PURE</a:t>
            </a:r>
            <a:r>
              <a:rPr lang="en-US" altLang="ko-KR" sz="1800" dirty="0">
                <a:latin typeface="Caladea"/>
                <a:ea typeface="HY견고딕" pitchFamily="18" charset="-127"/>
              </a:rPr>
              <a:t>(steady)</a:t>
            </a:r>
            <a:endParaRPr lang="ko-KR" altLang="en-US" sz="18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11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883BC-217F-D99B-D51F-978761605E56}"/>
              </a:ext>
            </a:extLst>
          </p:cNvPr>
          <p:cNvSpPr txBox="1"/>
          <p:nvPr/>
        </p:nvSpPr>
        <p:spPr>
          <a:xfrm>
            <a:off x="378148" y="1458760"/>
            <a:ext cx="5904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MAE Using MEAN    :  1.024  BPM</a:t>
            </a:r>
          </a:p>
          <a:p>
            <a:r>
              <a:rPr lang="en-US" dirty="0"/>
              <a:t>MAE Using  MEDIAN:  0.817  BPM</a:t>
            </a:r>
          </a:p>
        </p:txBody>
      </p:sp>
      <p:pic>
        <p:nvPicPr>
          <p:cNvPr id="9" name="Picture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9332B8A-43C6-212A-D5DE-6A5FA2220A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6" y="2847020"/>
            <a:ext cx="10549384" cy="391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175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From </a:t>
            </a:r>
            <a:r>
              <a:rPr lang="en-US" altLang="ko-KR" sz="3000" dirty="0" err="1">
                <a:latin typeface="Caladea"/>
                <a:ea typeface="HY견고딕" pitchFamily="18" charset="-127"/>
              </a:rPr>
              <a:t>pyVHR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Repository On PURE</a:t>
            </a:r>
            <a:r>
              <a:rPr lang="en-US" altLang="ko-KR" sz="1800" dirty="0">
                <a:latin typeface="Caladea"/>
                <a:ea typeface="HY견고딕" pitchFamily="18" charset="-127"/>
              </a:rPr>
              <a:t>(steady)</a:t>
            </a:r>
            <a:endParaRPr lang="ko-KR" altLang="en-US" sz="18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7528" y="7008172"/>
            <a:ext cx="2495127" cy="402567"/>
          </a:xfrm>
        </p:spPr>
        <p:txBody>
          <a:bodyPr/>
          <a:lstStyle/>
          <a:p>
            <a:fld id="{1B597EC8-03FB-421D-BA76-5865596B8B77}" type="slidenum">
              <a:rPr lang="ko-KR" altLang="en-US" smtClean="0"/>
              <a:pPr/>
              <a:t>12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163485-F67F-229A-86E1-0F17770FAD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6604"/>
            <a:ext cx="10693400" cy="39811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42E2338-B558-2933-5310-0187C2E6F176}"/>
              </a:ext>
            </a:extLst>
          </p:cNvPr>
          <p:cNvSpPr/>
          <p:nvPr/>
        </p:nvSpPr>
        <p:spPr>
          <a:xfrm>
            <a:off x="8875092" y="5220791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22032-2C67-38B4-30A7-825ECCAE15E1}"/>
              </a:ext>
            </a:extLst>
          </p:cNvPr>
          <p:cNvSpPr/>
          <p:nvPr/>
        </p:nvSpPr>
        <p:spPr>
          <a:xfrm>
            <a:off x="8530880" y="5220791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793EDC-C5D4-D0AE-528A-9DE4AA320116}"/>
              </a:ext>
            </a:extLst>
          </p:cNvPr>
          <p:cNvSpPr/>
          <p:nvPr/>
        </p:nvSpPr>
        <p:spPr>
          <a:xfrm>
            <a:off x="8214758" y="5220791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0DF5F-5135-ED6D-5EDF-71927E3AD702}"/>
              </a:ext>
            </a:extLst>
          </p:cNvPr>
          <p:cNvSpPr/>
          <p:nvPr/>
        </p:nvSpPr>
        <p:spPr>
          <a:xfrm>
            <a:off x="6376362" y="5220791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64C486-EC38-ABAA-0133-28847B4DDABF}"/>
              </a:ext>
            </a:extLst>
          </p:cNvPr>
          <p:cNvSpPr/>
          <p:nvPr/>
        </p:nvSpPr>
        <p:spPr>
          <a:xfrm>
            <a:off x="5412282" y="5215780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4F89E51-520F-BEBD-CD54-2BE15A6283EA}"/>
              </a:ext>
            </a:extLst>
          </p:cNvPr>
          <p:cNvSpPr/>
          <p:nvPr/>
        </p:nvSpPr>
        <p:spPr>
          <a:xfrm>
            <a:off x="5096160" y="5215780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E1A396-A183-770F-036C-A46207B5FCEC}"/>
              </a:ext>
            </a:extLst>
          </p:cNvPr>
          <p:cNvSpPr/>
          <p:nvPr/>
        </p:nvSpPr>
        <p:spPr>
          <a:xfrm>
            <a:off x="4952144" y="5220791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CB2051-5721-B315-57B7-785C8254EB98}"/>
              </a:ext>
            </a:extLst>
          </p:cNvPr>
          <p:cNvSpPr/>
          <p:nvPr/>
        </p:nvSpPr>
        <p:spPr>
          <a:xfrm>
            <a:off x="4014442" y="5215780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9BCFA6-70E1-740E-8434-6374FD661997}"/>
              </a:ext>
            </a:extLst>
          </p:cNvPr>
          <p:cNvSpPr/>
          <p:nvPr/>
        </p:nvSpPr>
        <p:spPr>
          <a:xfrm>
            <a:off x="2293684" y="5217188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B74B62-FC64-6440-D7A5-893ABB7A2C6E}"/>
              </a:ext>
            </a:extLst>
          </p:cNvPr>
          <p:cNvSpPr/>
          <p:nvPr/>
        </p:nvSpPr>
        <p:spPr>
          <a:xfrm>
            <a:off x="870358" y="5215780"/>
            <a:ext cx="144016" cy="432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E27430-00DD-2BBC-7496-877708C75919}"/>
              </a:ext>
            </a:extLst>
          </p:cNvPr>
          <p:cNvSpPr txBox="1"/>
          <p:nvPr/>
        </p:nvSpPr>
        <p:spPr>
          <a:xfrm>
            <a:off x="500038" y="1378718"/>
            <a:ext cx="5904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       MEANS    STD     MEDIANS</a:t>
            </a:r>
          </a:p>
          <a:p>
            <a:r>
              <a:rPr lang="en-US" dirty="0"/>
              <a:t>MAE    7.37      9.75        2.24</a:t>
            </a:r>
          </a:p>
        </p:txBody>
      </p:sp>
    </p:spTree>
    <p:extLst>
      <p:ext uri="{BB962C8B-B14F-4D97-AF65-F5344CB8AC3E}">
        <p14:creationId xmlns:p14="http://schemas.microsoft.com/office/powerpoint/2010/main" val="1802606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UBFC For window Size: 3 sec For 10 sec long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13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883BC-217F-D99B-D51F-978761605E56}"/>
              </a:ext>
            </a:extLst>
          </p:cNvPr>
          <p:cNvSpPr txBox="1"/>
          <p:nvPr/>
        </p:nvSpPr>
        <p:spPr>
          <a:xfrm>
            <a:off x="275040" y="1260351"/>
            <a:ext cx="4927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MAE Using MEAN    :  6.62     BPM</a:t>
            </a:r>
          </a:p>
          <a:p>
            <a:r>
              <a:rPr lang="en-US" sz="1600" dirty="0"/>
              <a:t>MAE Using  MEDIAN:  4.0277  BPM</a:t>
            </a:r>
          </a:p>
        </p:txBody>
      </p:sp>
      <p:pic>
        <p:nvPicPr>
          <p:cNvPr id="10" name="Picture 9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5E49CED0-6C3C-E5CC-B499-F409C0C84D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5" y="2844526"/>
            <a:ext cx="10617320" cy="393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0868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UBFC For window Size:  10 sec For 10 sec long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14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883BC-217F-D99B-D51F-978761605E56}"/>
              </a:ext>
            </a:extLst>
          </p:cNvPr>
          <p:cNvSpPr txBox="1"/>
          <p:nvPr/>
        </p:nvSpPr>
        <p:spPr>
          <a:xfrm>
            <a:off x="275040" y="1260351"/>
            <a:ext cx="4927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Average MAE Using MEAN    :  7.54 BPM</a:t>
            </a:r>
          </a:p>
          <a:p>
            <a:r>
              <a:rPr lang="en-US" sz="1600" dirty="0"/>
              <a:t>Average MAE Using  MEDIAN:  7.54 BPM</a:t>
            </a:r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5EBA5D55-0347-1472-A9C2-17C8C624D4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900" y="2772519"/>
            <a:ext cx="10603284" cy="393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60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PURE For window Size: 3 sec For 10 sec long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883BC-217F-D99B-D51F-978761605E56}"/>
              </a:ext>
            </a:extLst>
          </p:cNvPr>
          <p:cNvSpPr txBox="1"/>
          <p:nvPr/>
        </p:nvSpPr>
        <p:spPr>
          <a:xfrm>
            <a:off x="275040" y="1260351"/>
            <a:ext cx="4927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Average MAE Using MEAN    :  3.59  BPM</a:t>
            </a:r>
          </a:p>
          <a:p>
            <a:r>
              <a:rPr lang="en-US" sz="1600" dirty="0"/>
              <a:t>Average MAE Using  MEDIAN:  2.56  BPM</a:t>
            </a:r>
          </a:p>
        </p:txBody>
      </p:sp>
      <p:pic>
        <p:nvPicPr>
          <p:cNvPr id="4" name="Picture 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69921E2-CB75-35C8-7A6F-828A69039A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28503"/>
            <a:ext cx="10693400" cy="396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090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PURE For window Size: 10 sec For 10 sec long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16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5883BC-217F-D99B-D51F-978761605E56}"/>
              </a:ext>
            </a:extLst>
          </p:cNvPr>
          <p:cNvSpPr txBox="1"/>
          <p:nvPr/>
        </p:nvSpPr>
        <p:spPr>
          <a:xfrm>
            <a:off x="275040" y="1260351"/>
            <a:ext cx="4927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Average MAE Using MEAN    :  4.60  BPM</a:t>
            </a:r>
          </a:p>
          <a:p>
            <a:r>
              <a:rPr lang="en-US" sz="1600" dirty="0"/>
              <a:t>Average MAE Using  MEDIAN:  4.60  BPM</a:t>
            </a:r>
          </a:p>
        </p:txBody>
      </p:sp>
      <p:pic>
        <p:nvPicPr>
          <p:cNvPr id="6" name="Picture 5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A8547BF-AA8F-B616-0149-9401A5E5C24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56495"/>
            <a:ext cx="10693400" cy="396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270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B8C67DF3-A7D3-DD71-342E-4257AFB7D03F}"/>
              </a:ext>
            </a:extLst>
          </p:cNvPr>
          <p:cNvSpPr/>
          <p:nvPr/>
        </p:nvSpPr>
        <p:spPr>
          <a:xfrm>
            <a:off x="1818308" y="3960025"/>
            <a:ext cx="7488832" cy="3493013"/>
          </a:xfrm>
          <a:prstGeom prst="round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A4560FD-0B19-B3D6-EE72-2B3C4B64207C}"/>
              </a:ext>
            </a:extLst>
          </p:cNvPr>
          <p:cNvSpPr/>
          <p:nvPr/>
        </p:nvSpPr>
        <p:spPr>
          <a:xfrm>
            <a:off x="234132" y="1044327"/>
            <a:ext cx="10308112" cy="273630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 err="1">
                <a:latin typeface="Caladea"/>
                <a:ea typeface="HY견고딕" pitchFamily="18" charset="-127"/>
              </a:rPr>
              <a:t>pyVHR</a:t>
            </a:r>
            <a:r>
              <a:rPr lang="en-US" altLang="ko-KR" sz="3000" dirty="0">
                <a:latin typeface="Caladea"/>
                <a:ea typeface="HY견고딕" pitchFamily="18" charset="-127"/>
              </a:rPr>
              <a:t>       Peak Detection Hybrid Experiment</a:t>
            </a:r>
            <a:endParaRPr lang="ko-KR" altLang="en-US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D47717-7A8B-AC50-7F70-F15679F8B3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48" y="1260351"/>
            <a:ext cx="1341586" cy="165094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E4F2359-CD3D-100E-0BAA-D0DACB0CE82D}"/>
              </a:ext>
            </a:extLst>
          </p:cNvPr>
          <p:cNvSpPr/>
          <p:nvPr/>
        </p:nvSpPr>
        <p:spPr>
          <a:xfrm>
            <a:off x="2092673" y="1733384"/>
            <a:ext cx="1276109" cy="71327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>
                    <a:lumMod val="95000"/>
                  </a:schemeClr>
                </a:solidFill>
              </a:rPr>
              <a:t>Mean</a:t>
            </a:r>
            <a:r>
              <a:rPr lang="en-US" sz="1400" b="1" dirty="0">
                <a:solidFill>
                  <a:srgbClr val="FF0000"/>
                </a:solidFill>
              </a:rPr>
              <a:t> R</a:t>
            </a:r>
            <a:r>
              <a:rPr lang="en-US" sz="1400" b="1" dirty="0">
                <a:solidFill>
                  <a:srgbClr val="00B050"/>
                </a:solidFill>
              </a:rPr>
              <a:t>G</a:t>
            </a:r>
            <a:r>
              <a:rPr lang="en-US" sz="1400" b="1" dirty="0">
                <a:solidFill>
                  <a:srgbClr val="0070C0"/>
                </a:solidFill>
              </a:rPr>
              <a:t>B</a:t>
            </a:r>
            <a:r>
              <a:rPr lang="en-US" sz="1400" dirty="0"/>
              <a:t> </a:t>
            </a:r>
          </a:p>
          <a:p>
            <a:pPr algn="ctr"/>
            <a:r>
              <a:rPr lang="en-US" sz="1400" dirty="0"/>
              <a:t>Extraction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42002C-B7A5-3D44-DE8F-3A1DFE2FBDDF}"/>
              </a:ext>
            </a:extLst>
          </p:cNvPr>
          <p:cNvSpPr/>
          <p:nvPr/>
        </p:nvSpPr>
        <p:spPr>
          <a:xfrm>
            <a:off x="3774147" y="1878441"/>
            <a:ext cx="1892243" cy="4147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CHROM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AE0DAD-91C8-7BDA-88C2-29F51C33CB90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1719734" y="2085825"/>
            <a:ext cx="372939" cy="419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987CA7C-0EE8-8E75-DCFF-21F2FF6F53F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3368782" y="2085824"/>
            <a:ext cx="405365" cy="4196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619D7BF-CFD1-A070-3732-28A516D1D979}"/>
              </a:ext>
            </a:extLst>
          </p:cNvPr>
          <p:cNvSpPr/>
          <p:nvPr/>
        </p:nvSpPr>
        <p:spPr>
          <a:xfrm>
            <a:off x="6864179" y="1264648"/>
            <a:ext cx="3397658" cy="11820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Ground Truth </a:t>
            </a:r>
          </a:p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0: [values of the BVP signal]</a:t>
            </a:r>
          </a:p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1: [values of instantaneous HR]  ← (not used)</a:t>
            </a:r>
          </a:p>
          <a:p>
            <a:r>
              <a:rPr lang="en-US" sz="1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2: [timestamps for each frame]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D194FB-0535-F7EE-A4CE-A2D9A47F44C2}"/>
              </a:ext>
            </a:extLst>
          </p:cNvPr>
          <p:cNvSpPr/>
          <p:nvPr/>
        </p:nvSpPr>
        <p:spPr>
          <a:xfrm>
            <a:off x="7542535" y="2931255"/>
            <a:ext cx="2021987" cy="4147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BVP Signal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5D36E4-C71C-C946-F402-F3A6EFCA5F61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 flipH="1">
            <a:off x="8553529" y="2446656"/>
            <a:ext cx="9479" cy="484599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BD44E9-3196-C47F-0F9E-6D91EA5319A1}"/>
              </a:ext>
            </a:extLst>
          </p:cNvPr>
          <p:cNvCxnSpPr>
            <a:cxnSpLocks/>
            <a:stCxn id="27" idx="2"/>
            <a:endCxn id="45" idx="0"/>
          </p:cNvCxnSpPr>
          <p:nvPr/>
        </p:nvCxnSpPr>
        <p:spPr>
          <a:xfrm flipH="1">
            <a:off x="6763700" y="3346021"/>
            <a:ext cx="1789829" cy="78868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0026C85C-831B-3EA3-84E4-8C38F4B3683D}"/>
              </a:ext>
            </a:extLst>
          </p:cNvPr>
          <p:cNvSpPr/>
          <p:nvPr/>
        </p:nvSpPr>
        <p:spPr>
          <a:xfrm>
            <a:off x="5827595" y="4134709"/>
            <a:ext cx="1872209" cy="15448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Peak Detection</a:t>
            </a:r>
          </a:p>
          <a:p>
            <a:pPr algn="ctr"/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FA841EE-ABAD-B322-C013-326B61AAC06D}"/>
              </a:ext>
            </a:extLst>
          </p:cNvPr>
          <p:cNvSpPr/>
          <p:nvPr/>
        </p:nvSpPr>
        <p:spPr>
          <a:xfrm>
            <a:off x="3709274" y="2963095"/>
            <a:ext cx="2021987" cy="4147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BVP Signal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A14E3FA-1F87-AAE8-F75C-88E1C1750E47}"/>
              </a:ext>
            </a:extLst>
          </p:cNvPr>
          <p:cNvCxnSpPr>
            <a:cxnSpLocks/>
            <a:stCxn id="12" idx="2"/>
            <a:endCxn id="46" idx="0"/>
          </p:cNvCxnSpPr>
          <p:nvPr/>
        </p:nvCxnSpPr>
        <p:spPr>
          <a:xfrm flipH="1">
            <a:off x="4720268" y="2293207"/>
            <a:ext cx="1" cy="66988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406BEE6-702D-20F5-8F1A-3E95A8F6C9B1}"/>
              </a:ext>
            </a:extLst>
          </p:cNvPr>
          <p:cNvCxnSpPr>
            <a:cxnSpLocks/>
            <a:stCxn id="46" idx="2"/>
            <a:endCxn id="45" idx="0"/>
          </p:cNvCxnSpPr>
          <p:nvPr/>
        </p:nvCxnSpPr>
        <p:spPr>
          <a:xfrm>
            <a:off x="4720268" y="3377861"/>
            <a:ext cx="2043432" cy="75684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91D1C66E-2623-FCC6-51CB-554A891E0BE5}"/>
              </a:ext>
            </a:extLst>
          </p:cNvPr>
          <p:cNvSpPr/>
          <p:nvPr/>
        </p:nvSpPr>
        <p:spPr>
          <a:xfrm>
            <a:off x="5963317" y="4630875"/>
            <a:ext cx="1584176" cy="4147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scipy_find_peaks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12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Tunned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F63915D-EDB1-F0AF-D409-9A8D90FE3657}"/>
              </a:ext>
            </a:extLst>
          </p:cNvPr>
          <p:cNvSpPr/>
          <p:nvPr/>
        </p:nvSpPr>
        <p:spPr>
          <a:xfrm>
            <a:off x="5971611" y="5140222"/>
            <a:ext cx="1584176" cy="4147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ampd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3" name="Flowchart: Punched Tape 62">
            <a:extLst>
              <a:ext uri="{FF2B5EF4-FFF2-40B4-BE49-F238E27FC236}">
                <a16:creationId xmlns:a16="http://schemas.microsoft.com/office/drawing/2014/main" id="{F86C3242-DC0F-410F-2EF3-9061BCD06C59}"/>
              </a:ext>
            </a:extLst>
          </p:cNvPr>
          <p:cNvSpPr/>
          <p:nvPr/>
        </p:nvSpPr>
        <p:spPr>
          <a:xfrm>
            <a:off x="3794793" y="1058323"/>
            <a:ext cx="1928291" cy="640723"/>
          </a:xfrm>
          <a:prstGeom prst="flowChartPunchedTape">
            <a:avLst/>
          </a:prstGeom>
          <a:gradFill flip="none" rotWithShape="1">
            <a:gsLst>
              <a:gs pos="0">
                <a:schemeClr val="bg1">
                  <a:shade val="30000"/>
                  <a:satMod val="115000"/>
                </a:schemeClr>
              </a:gs>
              <a:gs pos="50000">
                <a:schemeClr val="bg1">
                  <a:shade val="67500"/>
                  <a:satMod val="115000"/>
                </a:schemeClr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pyVHR</a:t>
            </a:r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Framework</a:t>
            </a:r>
          </a:p>
        </p:txBody>
      </p:sp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A8561CC-F12B-9F83-9B69-CFDC401967A0}"/>
              </a:ext>
            </a:extLst>
          </p:cNvPr>
          <p:cNvSpPr/>
          <p:nvPr/>
        </p:nvSpPr>
        <p:spPr>
          <a:xfrm>
            <a:off x="1906203" y="5652839"/>
            <a:ext cx="1339574" cy="72846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BPM Estimated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Median/Mean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284C3CA-5180-FE20-0F9A-C61F9EFD300C}"/>
              </a:ext>
            </a:extLst>
          </p:cNvPr>
          <p:cNvSpPr/>
          <p:nvPr/>
        </p:nvSpPr>
        <p:spPr>
          <a:xfrm>
            <a:off x="3304543" y="5652837"/>
            <a:ext cx="1669327" cy="72846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BPM Ground Truth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Using Median/Mean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7023169C-F427-82E8-B256-76EC9030FFE5}"/>
              </a:ext>
            </a:extLst>
          </p:cNvPr>
          <p:cNvSpPr/>
          <p:nvPr/>
        </p:nvSpPr>
        <p:spPr>
          <a:xfrm>
            <a:off x="2828722" y="6588943"/>
            <a:ext cx="1080120" cy="7200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MAE</a:t>
            </a:r>
          </a:p>
          <a:p>
            <a:pPr algn="ctr"/>
            <a:r>
              <a:rPr lang="en-US" sz="1400" dirty="0"/>
              <a:t>BPM</a:t>
            </a:r>
          </a:p>
        </p:txBody>
      </p: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58DD664F-37E4-0099-A7D9-4DA9FE91517D}"/>
              </a:ext>
            </a:extLst>
          </p:cNvPr>
          <p:cNvCxnSpPr>
            <a:cxnSpLocks/>
            <a:stCxn id="66" idx="2"/>
            <a:endCxn id="69" idx="2"/>
          </p:cNvCxnSpPr>
          <p:nvPr/>
        </p:nvCxnSpPr>
        <p:spPr>
          <a:xfrm rot="16200000" flipH="1">
            <a:off x="2418515" y="6538775"/>
            <a:ext cx="567683" cy="252732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8F9FEC59-E615-0AD3-0800-E4E289742FD3}"/>
              </a:ext>
            </a:extLst>
          </p:cNvPr>
          <p:cNvCxnSpPr>
            <a:cxnSpLocks/>
          </p:cNvCxnSpPr>
          <p:nvPr/>
        </p:nvCxnSpPr>
        <p:spPr>
          <a:xfrm rot="5400000">
            <a:off x="3746904" y="6549958"/>
            <a:ext cx="567685" cy="230365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D0B0F189-6C36-9595-BF59-347FDD0210E0}"/>
              </a:ext>
            </a:extLst>
          </p:cNvPr>
          <p:cNvSpPr/>
          <p:nvPr/>
        </p:nvSpPr>
        <p:spPr>
          <a:xfrm>
            <a:off x="2514699" y="4699759"/>
            <a:ext cx="2021987" cy="4147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Peak-to-Peak Interval </a:t>
            </a:r>
          </a:p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BPM Calculation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1957842-9177-94AD-4597-B3C1DCD8938C}"/>
              </a:ext>
            </a:extLst>
          </p:cNvPr>
          <p:cNvSpPr/>
          <p:nvPr/>
        </p:nvSpPr>
        <p:spPr>
          <a:xfrm>
            <a:off x="8172600" y="6316308"/>
            <a:ext cx="860576" cy="2647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Turning 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6A42DFB4-CE87-2A1B-5FB0-002886E57BD7}"/>
              </a:ext>
            </a:extLst>
          </p:cNvPr>
          <p:cNvCxnSpPr>
            <a:cxnSpLocks/>
            <a:stCxn id="69" idx="4"/>
            <a:endCxn id="95" idx="2"/>
          </p:cNvCxnSpPr>
          <p:nvPr/>
        </p:nvCxnSpPr>
        <p:spPr>
          <a:xfrm rot="5400000" flipH="1" flipV="1">
            <a:off x="5621835" y="4327971"/>
            <a:ext cx="727999" cy="5234106"/>
          </a:xfrm>
          <a:prstGeom prst="bentConnector3">
            <a:avLst>
              <a:gd name="adj1" fmla="val -8384"/>
            </a:avLst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47659101-5293-8792-D050-81B5AA6F634D}"/>
              </a:ext>
            </a:extLst>
          </p:cNvPr>
          <p:cNvCxnSpPr>
            <a:cxnSpLocks/>
            <a:stCxn id="95" idx="0"/>
            <a:endCxn id="45" idx="3"/>
          </p:cNvCxnSpPr>
          <p:nvPr/>
        </p:nvCxnSpPr>
        <p:spPr>
          <a:xfrm rot="16200000" flipV="1">
            <a:off x="7446764" y="5160184"/>
            <a:ext cx="1409165" cy="903084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95D7776B-9927-B19B-5494-516053A51893}"/>
              </a:ext>
            </a:extLst>
          </p:cNvPr>
          <p:cNvCxnSpPr>
            <a:cxnSpLocks/>
            <a:stCxn id="45" idx="1"/>
            <a:endCxn id="77" idx="3"/>
          </p:cNvCxnSpPr>
          <p:nvPr/>
        </p:nvCxnSpPr>
        <p:spPr>
          <a:xfrm flipH="1" flipV="1">
            <a:off x="4536686" y="4907142"/>
            <a:ext cx="1290909" cy="1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60AFCFD1-C75F-52D5-6A94-0EB71792E043}"/>
              </a:ext>
            </a:extLst>
          </p:cNvPr>
          <p:cNvCxnSpPr>
            <a:cxnSpLocks/>
            <a:stCxn id="77" idx="2"/>
            <a:endCxn id="66" idx="0"/>
          </p:cNvCxnSpPr>
          <p:nvPr/>
        </p:nvCxnSpPr>
        <p:spPr>
          <a:xfrm flipH="1">
            <a:off x="2575990" y="5114525"/>
            <a:ext cx="949703" cy="538314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D0DF18D-0702-73A2-0F42-DD13916E84E9}"/>
              </a:ext>
            </a:extLst>
          </p:cNvPr>
          <p:cNvCxnSpPr>
            <a:cxnSpLocks/>
            <a:stCxn id="77" idx="2"/>
            <a:endCxn id="68" idx="0"/>
          </p:cNvCxnSpPr>
          <p:nvPr/>
        </p:nvCxnSpPr>
        <p:spPr>
          <a:xfrm>
            <a:off x="3525693" y="5114525"/>
            <a:ext cx="613514" cy="53831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7" name="Cross 116">
            <a:extLst>
              <a:ext uri="{FF2B5EF4-FFF2-40B4-BE49-F238E27FC236}">
                <a16:creationId xmlns:a16="http://schemas.microsoft.com/office/drawing/2014/main" id="{D3F75F0B-B072-AF00-08BE-B374CADA9F87}"/>
              </a:ext>
            </a:extLst>
          </p:cNvPr>
          <p:cNvSpPr/>
          <p:nvPr/>
        </p:nvSpPr>
        <p:spPr>
          <a:xfrm rot="5400000">
            <a:off x="1529379" y="392875"/>
            <a:ext cx="380710" cy="376996"/>
          </a:xfrm>
          <a:prstGeom prst="plus">
            <a:avLst>
              <a:gd name="adj" fmla="val 42345"/>
            </a:avLst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Flowchart: Punched Tape 118">
            <a:extLst>
              <a:ext uri="{FF2B5EF4-FFF2-40B4-BE49-F238E27FC236}">
                <a16:creationId xmlns:a16="http://schemas.microsoft.com/office/drawing/2014/main" id="{B0BD4EAE-CC68-3CB3-9438-63EA951DC7AD}"/>
              </a:ext>
            </a:extLst>
          </p:cNvPr>
          <p:cNvSpPr/>
          <p:nvPr/>
        </p:nvSpPr>
        <p:spPr>
          <a:xfrm>
            <a:off x="5643656" y="6228903"/>
            <a:ext cx="2098655" cy="518530"/>
          </a:xfrm>
          <a:prstGeom prst="flowChartPunchedTape">
            <a:avLst/>
          </a:prstGeom>
          <a:gradFill flip="none" rotWithShape="1">
            <a:gsLst>
              <a:gs pos="0">
                <a:schemeClr val="accent6">
                  <a:tint val="66000"/>
                  <a:satMod val="160000"/>
                </a:schemeClr>
              </a:gs>
              <a:gs pos="50000">
                <a:schemeClr val="accent6">
                  <a:tint val="44500"/>
                  <a:satMod val="160000"/>
                </a:schemeClr>
              </a:gs>
              <a:gs pos="100000">
                <a:schemeClr val="accent6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Peak Detection Experiments </a:t>
            </a:r>
          </a:p>
        </p:txBody>
      </p:sp>
    </p:spTree>
    <p:extLst>
      <p:ext uri="{BB962C8B-B14F-4D97-AF65-F5344CB8AC3E}">
        <p14:creationId xmlns:p14="http://schemas.microsoft.com/office/powerpoint/2010/main" val="2097997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92">
            <a:extLst>
              <a:ext uri="{FF2B5EF4-FFF2-40B4-BE49-F238E27FC236}">
                <a16:creationId xmlns:a16="http://schemas.microsoft.com/office/drawing/2014/main" id="{86D1D1D2-3C87-FAC1-D36E-2365A5C192C7}"/>
              </a:ext>
            </a:extLst>
          </p:cNvPr>
          <p:cNvSpPr/>
          <p:nvPr/>
        </p:nvSpPr>
        <p:spPr>
          <a:xfrm>
            <a:off x="3490316" y="936129"/>
            <a:ext cx="7187504" cy="49095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EBF9B2-2D9D-B1FB-A062-2CD489843B74}"/>
              </a:ext>
            </a:extLst>
          </p:cNvPr>
          <p:cNvSpPr/>
          <p:nvPr/>
        </p:nvSpPr>
        <p:spPr>
          <a:xfrm>
            <a:off x="638469" y="5029752"/>
            <a:ext cx="1656184" cy="7690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PPI BPM Calculation Algorithm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45D36E4-C71C-C946-F402-F3A6EFCA5F61}"/>
              </a:ext>
            </a:extLst>
          </p:cNvPr>
          <p:cNvCxnSpPr>
            <a:cxnSpLocks/>
          </p:cNvCxnSpPr>
          <p:nvPr/>
        </p:nvCxnSpPr>
        <p:spPr>
          <a:xfrm flipH="1">
            <a:off x="1458267" y="1387085"/>
            <a:ext cx="1" cy="310506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6F63915D-EDB1-F0AF-D409-9A8D90FE3657}"/>
              </a:ext>
            </a:extLst>
          </p:cNvPr>
          <p:cNvSpPr/>
          <p:nvPr/>
        </p:nvSpPr>
        <p:spPr>
          <a:xfrm>
            <a:off x="666180" y="972319"/>
            <a:ext cx="1584176" cy="4147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BVP</a:t>
            </a:r>
          </a:p>
        </p:txBody>
      </p:sp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642EF6-B27D-5647-1950-94ED202634E4}"/>
              </a:ext>
            </a:extLst>
          </p:cNvPr>
          <p:cNvSpPr/>
          <p:nvPr/>
        </p:nvSpPr>
        <p:spPr>
          <a:xfrm>
            <a:off x="522162" y="1697591"/>
            <a:ext cx="1872209" cy="154486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Peak Detection</a:t>
            </a:r>
          </a:p>
          <a:p>
            <a:pPr algn="ctr"/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5844E2-69D8-12AF-9BD2-573210B72918}"/>
              </a:ext>
            </a:extLst>
          </p:cNvPr>
          <p:cNvSpPr/>
          <p:nvPr/>
        </p:nvSpPr>
        <p:spPr>
          <a:xfrm>
            <a:off x="666179" y="2158655"/>
            <a:ext cx="1584176" cy="4147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scipy_find_peaks</a:t>
            </a:r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ctr"/>
            <a:r>
              <a:rPr lang="en-US" sz="105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Tunned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4639B9-4684-4CD5-F47D-0C262984431F}"/>
              </a:ext>
            </a:extLst>
          </p:cNvPr>
          <p:cNvSpPr/>
          <p:nvPr/>
        </p:nvSpPr>
        <p:spPr>
          <a:xfrm>
            <a:off x="674473" y="2668002"/>
            <a:ext cx="1584176" cy="41476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ampd</a:t>
            </a:r>
            <a:endParaRPr lang="en-US" sz="105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B7DB05-83E4-6E5D-6E24-C1261356BA6C}"/>
              </a:ext>
            </a:extLst>
          </p:cNvPr>
          <p:cNvSpPr/>
          <p:nvPr/>
        </p:nvSpPr>
        <p:spPr>
          <a:xfrm>
            <a:off x="522163" y="3552965"/>
            <a:ext cx="1872209" cy="4147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Peaks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8FDED-21E7-59F7-C288-D23911DF1D08}"/>
              </a:ext>
            </a:extLst>
          </p:cNvPr>
          <p:cNvSpPr/>
          <p:nvPr/>
        </p:nvSpPr>
        <p:spPr>
          <a:xfrm>
            <a:off x="169217" y="4249088"/>
            <a:ext cx="2578100" cy="41476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Calculate Peak-to-Peak Intervals (PPIs)</a:t>
            </a:r>
          </a:p>
        </p:txBody>
      </p:sp>
      <p:pic>
        <p:nvPicPr>
          <p:cNvPr id="19" name="Picture 1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3A719C6-8464-173C-D436-520EEC265C7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48" y="5176965"/>
            <a:ext cx="1479318" cy="4601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50D619C-631B-FBC6-353C-3465FAAC3FD6}"/>
              </a:ext>
            </a:extLst>
          </p:cNvPr>
          <p:cNvSpPr/>
          <p:nvPr/>
        </p:nvSpPr>
        <p:spPr>
          <a:xfrm rot="19806957">
            <a:off x="162027" y="6487376"/>
            <a:ext cx="1925564" cy="4922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Median BPM across PPIs</a:t>
            </a:r>
          </a:p>
          <a:p>
            <a:pPr algn="ctr"/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Median BPM for the block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A90B91-DA5C-1F7F-69AE-2EA4F193D8AD}"/>
              </a:ext>
            </a:extLst>
          </p:cNvPr>
          <p:cNvSpPr/>
          <p:nvPr/>
        </p:nvSpPr>
        <p:spPr>
          <a:xfrm rot="19872186">
            <a:off x="1970396" y="6398544"/>
            <a:ext cx="1804664" cy="4751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Mean BPM across PPIs</a:t>
            </a:r>
          </a:p>
          <a:p>
            <a:pPr algn="ctr"/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Mean BPM for the block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9F175E3-48BF-324E-FB2A-142C17D363C2}"/>
              </a:ext>
            </a:extLst>
          </p:cNvPr>
          <p:cNvCxnSpPr>
            <a:cxnSpLocks/>
          </p:cNvCxnSpPr>
          <p:nvPr/>
        </p:nvCxnSpPr>
        <p:spPr>
          <a:xfrm>
            <a:off x="1458267" y="3242458"/>
            <a:ext cx="1" cy="31050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1B420D8-3367-9E44-D517-B39922A23509}"/>
              </a:ext>
            </a:extLst>
          </p:cNvPr>
          <p:cNvCxnSpPr>
            <a:cxnSpLocks/>
          </p:cNvCxnSpPr>
          <p:nvPr/>
        </p:nvCxnSpPr>
        <p:spPr>
          <a:xfrm flipH="1">
            <a:off x="1458267" y="3967731"/>
            <a:ext cx="1" cy="281357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7AA1DB-A517-F340-6135-31F9A6F7CD2E}"/>
              </a:ext>
            </a:extLst>
          </p:cNvPr>
          <p:cNvCxnSpPr>
            <a:cxnSpLocks/>
          </p:cNvCxnSpPr>
          <p:nvPr/>
        </p:nvCxnSpPr>
        <p:spPr>
          <a:xfrm>
            <a:off x="1458267" y="4663854"/>
            <a:ext cx="8294" cy="365898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EE2BE3-2467-B78F-6FDF-0EC90789F055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1002185" y="5798778"/>
            <a:ext cx="464376" cy="72132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2092A0D-0A15-D5C6-361E-5040B493A1AA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466561" y="5798778"/>
            <a:ext cx="1291726" cy="629146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231A94A8-74AD-B2D2-4A72-B75C350AB6F3}"/>
              </a:ext>
            </a:extLst>
          </p:cNvPr>
          <p:cNvSpPr txBox="1"/>
          <p:nvPr/>
        </p:nvSpPr>
        <p:spPr>
          <a:xfrm>
            <a:off x="3550799" y="6733488"/>
            <a:ext cx="6166670" cy="78483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[4] </a:t>
            </a:r>
            <a:r>
              <a:rPr lang="en-US" sz="900" i="1" dirty="0" err="1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Poh</a:t>
            </a:r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, M.-Z., et al. (2010). "Monitoring of Heart Rate Variability from a Video Using Remote Photoplethysmography.</a:t>
            </a:r>
          </a:p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" IEEE Transactions on Biomedical Engineering.</a:t>
            </a:r>
          </a:p>
          <a:p>
            <a:endParaRPr lang="en-US" sz="900" i="1" dirty="0">
              <a:solidFill>
                <a:schemeClr val="accent1">
                  <a:lumMod val="75000"/>
                </a:schemeClr>
              </a:solidFill>
              <a:latin typeface="Roboto Mono Web"/>
            </a:endParaRPr>
          </a:p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[5] Khan, U., et al. (2015). "Remote Photoplethysmography Using a Low-Cost Camera for Heart Rate Measurement.“</a:t>
            </a:r>
          </a:p>
          <a:p>
            <a:r>
              <a:rPr lang="en-US" sz="900" i="1" dirty="0">
                <a:solidFill>
                  <a:schemeClr val="accent1">
                    <a:lumMod val="75000"/>
                  </a:schemeClr>
                </a:solidFill>
                <a:latin typeface="Roboto Mono Web"/>
              </a:rPr>
              <a:t> IEEE Transactions on Biomedical Engineering.</a:t>
            </a:r>
            <a:endParaRPr lang="en-US" sz="900" b="0" i="1" dirty="0">
              <a:solidFill>
                <a:schemeClr val="accent1">
                  <a:lumMod val="75000"/>
                </a:schemeClr>
              </a:solidFill>
              <a:effectLst/>
              <a:latin typeface="Roboto Mono Web"/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EE876F-9D33-0AE5-51E6-54A00BDA839F}"/>
              </a:ext>
            </a:extLst>
          </p:cNvPr>
          <p:cNvCxnSpPr>
            <a:cxnSpLocks/>
            <a:stCxn id="21" idx="3"/>
            <a:endCxn id="93" idx="1"/>
          </p:cNvCxnSpPr>
          <p:nvPr/>
        </p:nvCxnSpPr>
        <p:spPr>
          <a:xfrm flipV="1">
            <a:off x="2294653" y="3390893"/>
            <a:ext cx="1195663" cy="2023372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27AB2BA-FD9A-D16E-70C1-DA3825B96A92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2747317" y="3397711"/>
            <a:ext cx="732029" cy="1058760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E48BD95-2589-27E7-54C4-FAF21C3729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421" y="3458278"/>
            <a:ext cx="6825105" cy="22750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B9FE66-C48C-A07C-988F-336B6F7632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421" y="1059527"/>
            <a:ext cx="6825105" cy="227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60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816076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Default Peak Algo Result: GT_BVP vs CHROM_BVP </a:t>
            </a:r>
            <a:r>
              <a:rPr lang="en-US" altLang="ko-KR" sz="1400" b="1" dirty="0">
                <a:solidFill>
                  <a:srgbClr val="FB7405"/>
                </a:solidFill>
                <a:latin typeface="Caladea"/>
                <a:ea typeface="HY견고딕" pitchFamily="18" charset="-127"/>
              </a:rPr>
              <a:t>[Sub 36]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19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461C91-7ABC-5479-1C35-678B558D7D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68" y="3780630"/>
            <a:ext cx="8496944" cy="2832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62E94A-58E6-0A9A-B05C-B0C052F51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96" y="1027925"/>
            <a:ext cx="8496944" cy="28323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69DAF9-E0AB-709E-0ED3-510C90A5FCA2}"/>
              </a:ext>
            </a:extLst>
          </p:cNvPr>
          <p:cNvSpPr txBox="1"/>
          <p:nvPr/>
        </p:nvSpPr>
        <p:spPr>
          <a:xfrm>
            <a:off x="2694556" y="6654229"/>
            <a:ext cx="5904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MAE Using MEAN    :   68.90 BPM</a:t>
            </a:r>
          </a:p>
          <a:p>
            <a:r>
              <a:rPr lang="en-US" dirty="0"/>
              <a:t>MAE Using  MEDIAN:   23.62 BPM</a:t>
            </a:r>
          </a:p>
        </p:txBody>
      </p:sp>
    </p:spTree>
    <p:extLst>
      <p:ext uri="{BB962C8B-B14F-4D97-AF65-F5344CB8AC3E}">
        <p14:creationId xmlns:p14="http://schemas.microsoft.com/office/powerpoint/2010/main" val="1262974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39" y="150524"/>
            <a:ext cx="9997977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Peak Detection Algorithm Tunning -&gt; Ground Truth BVP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B7405"/>
                </a:solidFill>
                <a:effectLst/>
                <a:uLnTx/>
                <a:uFillTx/>
                <a:latin typeface="Caladea"/>
                <a:ea typeface="HY견고딕" pitchFamily="18" charset="-127"/>
                <a:cs typeface="+mn-cs"/>
              </a:rPr>
              <a:t> [Sub 36]</a:t>
            </a:r>
            <a:endParaRPr lang="en-US" altLang="ko-KR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20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B64C01-6982-CF71-E9DA-DB5C66B9C165}"/>
              </a:ext>
            </a:extLst>
          </p:cNvPr>
          <p:cNvSpPr txBox="1"/>
          <p:nvPr/>
        </p:nvSpPr>
        <p:spPr>
          <a:xfrm>
            <a:off x="8472817" y="1608255"/>
            <a:ext cx="180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SciPy peak find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peak setup: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Distance:– Default,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Prominence:-Default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A7015-74C5-F8E6-F3B7-5D1D626F365A}"/>
              </a:ext>
            </a:extLst>
          </p:cNvPr>
          <p:cNvSpPr txBox="1"/>
          <p:nvPr/>
        </p:nvSpPr>
        <p:spPr>
          <a:xfrm>
            <a:off x="8602888" y="4788743"/>
            <a:ext cx="180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Consolas" panose="020B0609020204030204" pitchFamily="49" charset="0"/>
              </a:rPr>
              <a:t>SciPy peak find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peak setup: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>
                <a:latin typeface="Consolas" panose="020B0609020204030204" pitchFamily="49" charset="0"/>
              </a:rPr>
              <a:t>Distance:– 10,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Prominence:- 0.5</a:t>
            </a:r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A44E4D7D-53BC-463E-BEB6-88A4D732BA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" y="4044284"/>
            <a:ext cx="8566097" cy="28553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185F7D-4884-580A-289D-F0C1C9AD80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74" y="1029130"/>
            <a:ext cx="8254503" cy="275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863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9536156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Peak Detection Algorithm Tunning -&gt; CHROM BVP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B7405"/>
                </a:solidFill>
                <a:effectLst/>
                <a:uLnTx/>
                <a:uFillTx/>
                <a:latin typeface="Caladea"/>
                <a:ea typeface="HY견고딕" pitchFamily="18" charset="-127"/>
                <a:cs typeface="+mn-cs"/>
              </a:rPr>
              <a:t> [Sub 36]</a:t>
            </a:r>
            <a:endParaRPr lang="en-US" altLang="ko-KR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12" name="Picture 11" descr="A graph of a signal&#10;&#10;AI-generated content may be incorrect.">
            <a:extLst>
              <a:ext uri="{FF2B5EF4-FFF2-40B4-BE49-F238E27FC236}">
                <a16:creationId xmlns:a16="http://schemas.microsoft.com/office/drawing/2014/main" id="{74D7C671-E13B-E5CF-BE05-A26933F93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4" y="4048338"/>
            <a:ext cx="8640961" cy="28803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B64C01-6982-CF71-E9DA-DB5C66B9C165}"/>
              </a:ext>
            </a:extLst>
          </p:cNvPr>
          <p:cNvSpPr txBox="1"/>
          <p:nvPr/>
        </p:nvSpPr>
        <p:spPr>
          <a:xfrm>
            <a:off x="8515052" y="1652279"/>
            <a:ext cx="180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Scipy</a:t>
            </a:r>
            <a:r>
              <a:rPr lang="en-US" sz="1200" dirty="0">
                <a:latin typeface="Consolas" panose="020B0609020204030204" pitchFamily="49" charset="0"/>
              </a:rPr>
              <a:t> peak find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peak setup: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err="1">
                <a:latin typeface="Consolas" panose="020B0609020204030204" pitchFamily="49" charset="0"/>
              </a:rPr>
              <a:t>Distnce</a:t>
            </a:r>
            <a:r>
              <a:rPr lang="en-US" sz="1200" dirty="0">
                <a:latin typeface="Consolas" panose="020B0609020204030204" pitchFamily="49" charset="0"/>
              </a:rPr>
              <a:t>:– </a:t>
            </a:r>
            <a:r>
              <a:rPr lang="en-US" sz="1200" dirty="0" err="1">
                <a:latin typeface="Consolas" panose="020B0609020204030204" pitchFamily="49" charset="0"/>
              </a:rPr>
              <a:t>Dfault</a:t>
            </a:r>
            <a:r>
              <a:rPr lang="en-US" sz="1200" dirty="0">
                <a:latin typeface="Consolas" panose="020B0609020204030204" pitchFamily="49" charset="0"/>
              </a:rPr>
              <a:t>,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Prominence:-Default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0A7015-74C5-F8E6-F3B7-5D1D626F365A}"/>
              </a:ext>
            </a:extLst>
          </p:cNvPr>
          <p:cNvSpPr txBox="1"/>
          <p:nvPr/>
        </p:nvSpPr>
        <p:spPr>
          <a:xfrm>
            <a:off x="8602888" y="4572719"/>
            <a:ext cx="1800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nsolas" panose="020B0609020204030204" pitchFamily="49" charset="0"/>
              </a:rPr>
              <a:t>Scipy</a:t>
            </a:r>
            <a:r>
              <a:rPr lang="en-US" sz="1200" dirty="0">
                <a:latin typeface="Consolas" panose="020B0609020204030204" pitchFamily="49" charset="0"/>
              </a:rPr>
              <a:t> peak find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peak setup: </a:t>
            </a:r>
          </a:p>
          <a:p>
            <a:endParaRPr lang="en-US" sz="1200" dirty="0">
              <a:latin typeface="Consolas" panose="020B0609020204030204" pitchFamily="49" charset="0"/>
            </a:endParaRPr>
          </a:p>
          <a:p>
            <a:r>
              <a:rPr lang="en-US" sz="1200" dirty="0" err="1">
                <a:latin typeface="Consolas" panose="020B0609020204030204" pitchFamily="49" charset="0"/>
              </a:rPr>
              <a:t>Distnce</a:t>
            </a:r>
            <a:r>
              <a:rPr lang="en-US" sz="1200" dirty="0">
                <a:latin typeface="Consolas" panose="020B0609020204030204" pitchFamily="49" charset="0"/>
              </a:rPr>
              <a:t>:– 10, </a:t>
            </a:r>
          </a:p>
          <a:p>
            <a:r>
              <a:rPr lang="en-US" sz="1200" dirty="0">
                <a:latin typeface="Consolas" panose="020B0609020204030204" pitchFamily="49" charset="0"/>
              </a:rPr>
              <a:t>Prominence:- 0.5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45FD88-9AF0-D13C-3BB8-BFE0B55E1C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8" y="1068330"/>
            <a:ext cx="8136904" cy="271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43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After Tunning Result: GT_BVP vs CHROM_BVP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B7405"/>
                </a:solidFill>
                <a:effectLst/>
                <a:uLnTx/>
                <a:uFillTx/>
                <a:latin typeface="Caladea"/>
                <a:ea typeface="HY견고딕" pitchFamily="18" charset="-127"/>
                <a:cs typeface="+mn-cs"/>
              </a:rPr>
              <a:t> [Sub 36]</a:t>
            </a:r>
            <a:endParaRPr lang="en-US" altLang="ko-KR" sz="3000" dirty="0">
              <a:latin typeface="Caladea"/>
              <a:ea typeface="HY견고딕" pitchFamily="18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DE081873-38FA-8687-2892-B87F0E3E0E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651" y="3899419"/>
            <a:ext cx="8566097" cy="2855365"/>
          </a:xfrm>
          <a:prstGeom prst="rect">
            <a:avLst/>
          </a:prstGeom>
        </p:spPr>
      </p:pic>
      <p:pic>
        <p:nvPicPr>
          <p:cNvPr id="11" name="Picture 10" descr="A graph of a signal&#10;&#10;AI-generated content may be incorrect.">
            <a:extLst>
              <a:ext uri="{FF2B5EF4-FFF2-40B4-BE49-F238E27FC236}">
                <a16:creationId xmlns:a16="http://schemas.microsoft.com/office/drawing/2014/main" id="{6C9749AB-A337-96B9-973E-4694035BBB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04" y="1046014"/>
            <a:ext cx="8640961" cy="28803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437D54-6F3D-0EF4-4CB2-A487F468EA66}"/>
              </a:ext>
            </a:extLst>
          </p:cNvPr>
          <p:cNvSpPr txBox="1"/>
          <p:nvPr/>
        </p:nvSpPr>
        <p:spPr>
          <a:xfrm>
            <a:off x="2694556" y="6654229"/>
            <a:ext cx="59046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MAE Using MEAN    :   0 BPM</a:t>
            </a:r>
          </a:p>
          <a:p>
            <a:r>
              <a:rPr lang="en-US" dirty="0"/>
              <a:t>MAE Using  MEDIAN:   0.338 BPM</a:t>
            </a:r>
          </a:p>
        </p:txBody>
      </p:sp>
    </p:spTree>
    <p:extLst>
      <p:ext uri="{BB962C8B-B14F-4D97-AF65-F5344CB8AC3E}">
        <p14:creationId xmlns:p14="http://schemas.microsoft.com/office/powerpoint/2010/main" val="40910701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816076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Experiment With Suspicious Subject </a:t>
            </a:r>
            <a:r>
              <a:rPr lang="en-US" altLang="ko-KR" sz="1400" b="1" dirty="0">
                <a:solidFill>
                  <a:srgbClr val="FB7405"/>
                </a:solidFill>
                <a:latin typeface="Caladea"/>
                <a:ea typeface="HY견고딕" pitchFamily="18" charset="-127"/>
              </a:rPr>
              <a:t>[Sub 32]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B2467-FB93-D62D-4F68-A2FDF6DF6F4D}"/>
              </a:ext>
            </a:extLst>
          </p:cNvPr>
          <p:cNvSpPr txBox="1"/>
          <p:nvPr/>
        </p:nvSpPr>
        <p:spPr>
          <a:xfrm>
            <a:off x="178475" y="1116335"/>
            <a:ext cx="9217024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</a:rPr>
              <a:t>Highest Error Blocks:</a:t>
            </a:r>
          </a:p>
          <a:p>
            <a:r>
              <a:rPr lang="en-US" sz="1600" b="1" dirty="0">
                <a:latin typeface="Consolas" panose="020B0609020204030204" pitchFamily="49" charset="0"/>
              </a:rPr>
              <a:t>Peak Detection Algorithm</a:t>
            </a:r>
            <a:r>
              <a:rPr lang="en-US" sz="1400" dirty="0">
                <a:latin typeface="Consolas" panose="020B0609020204030204" pitchFamily="49" charset="0"/>
              </a:rPr>
              <a:t>: Default SciPy Peak Finder</a:t>
            </a: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b="1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Peak Detection Algorithm</a:t>
            </a:r>
            <a:r>
              <a:rPr lang="en-US" sz="1400" dirty="0">
                <a:latin typeface="Consolas" panose="020B0609020204030204" pitchFamily="49" charset="0"/>
              </a:rPr>
              <a:t>: Tunned SciPy Peak Finder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400" b="1" dirty="0">
                <a:latin typeface="Consolas" panose="020B0609020204030204" pitchFamily="49" charset="0"/>
              </a:rPr>
              <a:t>Highest Error Block:</a:t>
            </a:r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Peak Detection Algorithm</a:t>
            </a:r>
            <a:r>
              <a:rPr lang="en-US" sz="1400" dirty="0">
                <a:latin typeface="Consolas" panose="020B0609020204030204" pitchFamily="49" charset="0"/>
              </a:rPr>
              <a:t>: Default AMPD Peak Finder</a:t>
            </a: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endParaRPr lang="en-US" sz="1400" dirty="0">
              <a:latin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</a:rPr>
              <a:t>Peak Detection Algorithm</a:t>
            </a:r>
            <a:r>
              <a:rPr lang="en-US" sz="1400" dirty="0">
                <a:latin typeface="Consolas" panose="020B0609020204030204" pitchFamily="49" charset="0"/>
              </a:rPr>
              <a:t>: Tunned AMPD Peak Finder</a:t>
            </a:r>
          </a:p>
          <a:p>
            <a:endParaRPr lang="en-US" sz="1400" dirty="0">
              <a:latin typeface="Consolas" panose="020B0609020204030204" pitchFamily="49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0BC7E82-EA59-0475-D83C-77907B183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877824"/>
              </p:ext>
            </p:extLst>
          </p:nvPr>
        </p:nvGraphicFramePr>
        <p:xfrm>
          <a:off x="254036" y="1627264"/>
          <a:ext cx="5059320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864">
                  <a:extLst>
                    <a:ext uri="{9D8B030D-6E8A-4147-A177-3AD203B41FA5}">
                      <a16:colId xmlns:a16="http://schemas.microsoft.com/office/drawing/2014/main" val="1556372157"/>
                    </a:ext>
                  </a:extLst>
                </a:gridCol>
                <a:gridCol w="1011864">
                  <a:extLst>
                    <a:ext uri="{9D8B030D-6E8A-4147-A177-3AD203B41FA5}">
                      <a16:colId xmlns:a16="http://schemas.microsoft.com/office/drawing/2014/main" val="3612688961"/>
                    </a:ext>
                  </a:extLst>
                </a:gridCol>
                <a:gridCol w="1011864">
                  <a:extLst>
                    <a:ext uri="{9D8B030D-6E8A-4147-A177-3AD203B41FA5}">
                      <a16:colId xmlns:a16="http://schemas.microsoft.com/office/drawing/2014/main" val="1598255225"/>
                    </a:ext>
                  </a:extLst>
                </a:gridCol>
                <a:gridCol w="1011864">
                  <a:extLst>
                    <a:ext uri="{9D8B030D-6E8A-4147-A177-3AD203B41FA5}">
                      <a16:colId xmlns:a16="http://schemas.microsoft.com/office/drawing/2014/main" val="4294478690"/>
                    </a:ext>
                  </a:extLst>
                </a:gridCol>
                <a:gridCol w="1011864">
                  <a:extLst>
                    <a:ext uri="{9D8B030D-6E8A-4147-A177-3AD203B41FA5}">
                      <a16:colId xmlns:a16="http://schemas.microsoft.com/office/drawing/2014/main" val="22549846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GT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EST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140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55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105.34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162.81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Consolas" panose="020B0609020204030204" pitchFamily="49" charset="0"/>
                        </a:rPr>
                        <a:t>57.46</a:t>
                      </a:r>
                    </a:p>
                    <a:p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11.61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8151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AD02689-88BA-0730-A0E0-9F00B7F52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860296"/>
              </p:ext>
            </p:extLst>
          </p:nvPr>
        </p:nvGraphicFramePr>
        <p:xfrm>
          <a:off x="223198" y="3025135"/>
          <a:ext cx="5059320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864">
                  <a:extLst>
                    <a:ext uri="{9D8B030D-6E8A-4147-A177-3AD203B41FA5}">
                      <a16:colId xmlns:a16="http://schemas.microsoft.com/office/drawing/2014/main" val="1556372157"/>
                    </a:ext>
                  </a:extLst>
                </a:gridCol>
                <a:gridCol w="1011864">
                  <a:extLst>
                    <a:ext uri="{9D8B030D-6E8A-4147-A177-3AD203B41FA5}">
                      <a16:colId xmlns:a16="http://schemas.microsoft.com/office/drawing/2014/main" val="3612688961"/>
                    </a:ext>
                  </a:extLst>
                </a:gridCol>
                <a:gridCol w="1011864">
                  <a:extLst>
                    <a:ext uri="{9D8B030D-6E8A-4147-A177-3AD203B41FA5}">
                      <a16:colId xmlns:a16="http://schemas.microsoft.com/office/drawing/2014/main" val="1598255225"/>
                    </a:ext>
                  </a:extLst>
                </a:gridCol>
                <a:gridCol w="1011864">
                  <a:extLst>
                    <a:ext uri="{9D8B030D-6E8A-4147-A177-3AD203B41FA5}">
                      <a16:colId xmlns:a16="http://schemas.microsoft.com/office/drawing/2014/main" val="4294478690"/>
                    </a:ext>
                  </a:extLst>
                </a:gridCol>
                <a:gridCol w="1011864">
                  <a:extLst>
                    <a:ext uri="{9D8B030D-6E8A-4147-A177-3AD203B41FA5}">
                      <a16:colId xmlns:a16="http://schemas.microsoft.com/office/drawing/2014/main" val="487266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GT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EST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140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55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105.34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105.348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Consolas" panose="020B0609020204030204" pitchFamily="49" charset="0"/>
                        </a:rPr>
                        <a:t>0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6.85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815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456AF0B-2AAE-651F-40DD-E52EC64C3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209979"/>
              </p:ext>
            </p:extLst>
          </p:nvPr>
        </p:nvGraphicFramePr>
        <p:xfrm>
          <a:off x="289234" y="4726611"/>
          <a:ext cx="5071660" cy="79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332">
                  <a:extLst>
                    <a:ext uri="{9D8B030D-6E8A-4147-A177-3AD203B41FA5}">
                      <a16:colId xmlns:a16="http://schemas.microsoft.com/office/drawing/2014/main" val="1556372157"/>
                    </a:ext>
                  </a:extLst>
                </a:gridCol>
                <a:gridCol w="1014332">
                  <a:extLst>
                    <a:ext uri="{9D8B030D-6E8A-4147-A177-3AD203B41FA5}">
                      <a16:colId xmlns:a16="http://schemas.microsoft.com/office/drawing/2014/main" val="3612688961"/>
                    </a:ext>
                  </a:extLst>
                </a:gridCol>
                <a:gridCol w="1014332">
                  <a:extLst>
                    <a:ext uri="{9D8B030D-6E8A-4147-A177-3AD203B41FA5}">
                      <a16:colId xmlns:a16="http://schemas.microsoft.com/office/drawing/2014/main" val="1598255225"/>
                    </a:ext>
                  </a:extLst>
                </a:gridCol>
                <a:gridCol w="1014332">
                  <a:extLst>
                    <a:ext uri="{9D8B030D-6E8A-4147-A177-3AD203B41FA5}">
                      <a16:colId xmlns:a16="http://schemas.microsoft.com/office/drawing/2014/main" val="4294478690"/>
                    </a:ext>
                  </a:extLst>
                </a:gridCol>
                <a:gridCol w="1014332">
                  <a:extLst>
                    <a:ext uri="{9D8B030D-6E8A-4147-A177-3AD203B41FA5}">
                      <a16:colId xmlns:a16="http://schemas.microsoft.com/office/drawing/2014/main" val="487266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GT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EST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140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52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205.20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44.86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Consolas" panose="020B0609020204030204" pitchFamily="49" charset="0"/>
                        </a:rPr>
                        <a:t>160.33</a:t>
                      </a:r>
                    </a:p>
                    <a:p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60.26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815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8E0372-1CD3-8234-13AC-272B8BC1C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970629"/>
              </p:ext>
            </p:extLst>
          </p:nvPr>
        </p:nvGraphicFramePr>
        <p:xfrm>
          <a:off x="289234" y="5998812"/>
          <a:ext cx="507166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4332">
                  <a:extLst>
                    <a:ext uri="{9D8B030D-6E8A-4147-A177-3AD203B41FA5}">
                      <a16:colId xmlns:a16="http://schemas.microsoft.com/office/drawing/2014/main" val="1556372157"/>
                    </a:ext>
                  </a:extLst>
                </a:gridCol>
                <a:gridCol w="1014332">
                  <a:extLst>
                    <a:ext uri="{9D8B030D-6E8A-4147-A177-3AD203B41FA5}">
                      <a16:colId xmlns:a16="http://schemas.microsoft.com/office/drawing/2014/main" val="3612688961"/>
                    </a:ext>
                  </a:extLst>
                </a:gridCol>
                <a:gridCol w="1014332">
                  <a:extLst>
                    <a:ext uri="{9D8B030D-6E8A-4147-A177-3AD203B41FA5}">
                      <a16:colId xmlns:a16="http://schemas.microsoft.com/office/drawing/2014/main" val="1598255225"/>
                    </a:ext>
                  </a:extLst>
                </a:gridCol>
                <a:gridCol w="1014332">
                  <a:extLst>
                    <a:ext uri="{9D8B030D-6E8A-4147-A177-3AD203B41FA5}">
                      <a16:colId xmlns:a16="http://schemas.microsoft.com/office/drawing/2014/main" val="4294478690"/>
                    </a:ext>
                  </a:extLst>
                </a:gridCol>
                <a:gridCol w="1014332">
                  <a:extLst>
                    <a:ext uri="{9D8B030D-6E8A-4147-A177-3AD203B41FA5}">
                      <a16:colId xmlns:a16="http://schemas.microsoft.com/office/drawing/2014/main" val="4872662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Block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GT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EST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140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52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111.93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Consolas" panose="020B0609020204030204" pitchFamily="49" charset="0"/>
                        </a:rPr>
                        <a:t>111.93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dirty="0"/>
                        <a:t>2.91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481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0430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Before/After Tunning SciPy Peak Finder: GT BVP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C9C87C-D902-0A31-EF99-64E75BCC42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40" y="972319"/>
            <a:ext cx="9595172" cy="31983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2476C4-028B-4292-89FA-AA0161D8C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80" y="4170709"/>
            <a:ext cx="9078124" cy="302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9613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Before/After Tunning SciPy Peak Finder: EST BVP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F4C63E-1101-DFEC-3BE1-461005564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24" y="1116335"/>
            <a:ext cx="10099229" cy="33664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BD0D8B-507D-558B-3068-3E10225663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20" y="4088477"/>
            <a:ext cx="10418360" cy="347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868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Before/After Tunning AMPD Peak Finder:  GT BVP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256143-CC7D-94AA-C72A-B5FD08710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148" y="1044327"/>
            <a:ext cx="9577064" cy="3192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E9F088-4CF7-DA49-FDF5-006E4A6EA4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122" y="4047234"/>
            <a:ext cx="9451156" cy="315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90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697D-9580-B24A-F1FC-3CF451DE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54F7FB-5E84-9754-F8D8-5A93A053C8E5}"/>
              </a:ext>
            </a:extLst>
          </p:cNvPr>
          <p:cNvSpPr txBox="1"/>
          <p:nvPr/>
        </p:nvSpPr>
        <p:spPr>
          <a:xfrm>
            <a:off x="275040" y="150524"/>
            <a:ext cx="8327848" cy="713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dirty="0">
                <a:latin typeface="Caladea"/>
                <a:ea typeface="HY견고딕" pitchFamily="18" charset="-127"/>
              </a:rPr>
              <a:t>Before/After Tunning AMPD Peak Finder:  EST BVP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D476398-AE04-8425-0422-AA0A0139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97EC8-03FB-421D-BA76-5865596B8B77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945CC2-28F9-4A66-91B1-DC51417A13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917" y="-107801"/>
            <a:ext cx="1571625" cy="747713"/>
          </a:xfrm>
          <a:prstGeom prst="rect">
            <a:avLst/>
          </a:prstGeom>
        </p:spPr>
      </p:pic>
      <p:sp>
        <p:nvSpPr>
          <p:cNvPr id="64" name="슬라이드 번호 개체 틀 2">
            <a:extLst>
              <a:ext uri="{FF2B5EF4-FFF2-40B4-BE49-F238E27FC236}">
                <a16:creationId xmlns:a16="http://schemas.microsoft.com/office/drawing/2014/main" id="{E24F6677-9527-B590-58C4-88BA25798912}"/>
              </a:ext>
            </a:extLst>
          </p:cNvPr>
          <p:cNvSpPr txBox="1">
            <a:spLocks/>
          </p:cNvSpPr>
          <p:nvPr/>
        </p:nvSpPr>
        <p:spPr>
          <a:xfrm>
            <a:off x="7663603" y="7008172"/>
            <a:ext cx="2495127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95690" rtl="0" eaLnBrk="1" latinLnBrk="1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784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9569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9353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9138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89225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87070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84916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82761" algn="l" defTabSz="995690" rtl="0" eaLnBrk="1" latinLnBrk="1" hangingPunct="1"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597EC8-03FB-421D-BA76-5865596B8B77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2E1710-F790-2D0B-A58D-FEBCC94A8B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44327"/>
            <a:ext cx="10693400" cy="35644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5CDE04-0F59-6653-22BA-E8A62DEF5F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028" y="4110259"/>
            <a:ext cx="10189344" cy="339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53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6006</TotalTime>
  <Words>1630</Words>
  <Application>Microsoft Office PowerPoint</Application>
  <PresentationFormat>Custom</PresentationFormat>
  <Paragraphs>424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Caladea</vt:lpstr>
      <vt:lpstr>HY견고딕</vt:lpstr>
      <vt:lpstr>HY중고딕</vt:lpstr>
      <vt:lpstr>Roboto Mono Web</vt:lpstr>
      <vt:lpstr>맑은 고딕</vt:lpstr>
      <vt:lpstr>Arial</vt:lpstr>
      <vt:lpstr>Consolas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XP SP3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Rafsan Jany</cp:lastModifiedBy>
  <cp:revision>87</cp:revision>
  <cp:lastPrinted>2012-01-03T07:03:32Z</cp:lastPrinted>
  <dcterms:created xsi:type="dcterms:W3CDTF">2011-12-29T06:45:05Z</dcterms:created>
  <dcterms:modified xsi:type="dcterms:W3CDTF">2025-07-15T04:48:02Z</dcterms:modified>
</cp:coreProperties>
</file>