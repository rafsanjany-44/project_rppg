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546" r:id="rId3"/>
    <p:sldId id="550" r:id="rId4"/>
    <p:sldId id="549" r:id="rId5"/>
    <p:sldId id="551" r:id="rId6"/>
    <p:sldId id="557" r:id="rId7"/>
    <p:sldId id="558" r:id="rId8"/>
    <p:sldId id="553" r:id="rId9"/>
    <p:sldId id="555" r:id="rId10"/>
    <p:sldId id="554" r:id="rId11"/>
    <p:sldId id="552" r:id="rId12"/>
    <p:sldId id="556" r:id="rId13"/>
    <p:sldId id="548" r:id="rId14"/>
    <p:sldId id="559" r:id="rId15"/>
    <p:sldId id="560" r:id="rId16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8B03"/>
    <a:srgbClr val="FF0505"/>
    <a:srgbClr val="FB74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81" autoAdjust="0"/>
    <p:restoredTop sz="94647" autoAdjust="0"/>
  </p:normalViewPr>
  <p:slideViewPr>
    <p:cSldViewPr>
      <p:cViewPr varScale="1">
        <p:scale>
          <a:sx n="96" d="100"/>
          <a:sy n="96" d="100"/>
        </p:scale>
        <p:origin x="58" y="267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112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437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835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555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142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768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576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431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228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767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373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140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806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113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rch-data.ubfc.fr/FR-18008901306731-2022-05-05_UBFC-Phys-A-Multimodal-Dataset-For.html#data_depos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eterstab/Robust-Pulse-Rate-From-Chrominance-Based-rPPG/blob/main/Robust_Pulse_Rate_From_Chrominance-Based_rPPG_paper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med.ncbi.nlm.nih.gov/26737757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g.optica.org/boe/fulltext.cfm?uri=boe-11-3-1268&amp;id=426664" TargetMode="External"/><Relationship Id="rId4" Type="http://schemas.openxmlformats.org/officeDocument/2006/relationships/hyperlink" Target="https://biomedical-engineering-online.biomedcentral.com/articles/10.1186/s12938-018-0450-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1560" y="3535281"/>
            <a:ext cx="56886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5" y="1980431"/>
            <a:ext cx="925136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CHROM Phase Lag Analysis</a:t>
            </a:r>
          </a:p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Synthetic Dataset Experiment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Another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69355-42B7-8E3B-9BE6-DCC0336F6FA4}"/>
              </a:ext>
            </a:extLst>
          </p:cNvPr>
          <p:cNvSpPr txBox="1"/>
          <p:nvPr/>
        </p:nvSpPr>
        <p:spPr>
          <a:xfrm>
            <a:off x="0" y="900311"/>
            <a:ext cx="10266265" cy="6478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SCAMPS : </a:t>
            </a:r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 Multimodal Dataset For Psychophysiological Studies Of Social Stress </a:t>
            </a:r>
            <a:r>
              <a:rPr lang="en-US" sz="11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sz="11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hlinkClick r:id="rId4"/>
              </a:rPr>
              <a:t>PORTAL</a:t>
            </a:r>
            <a:r>
              <a:rPr lang="en-US" sz="11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Total size: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-&gt; 2,800 videos (~1.68M frames)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-&gt; Each video: 20 seconds long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Ground-truth signals (frame-level &amp; video-level labels):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Photoplethysmography (PPG), ECG (inter-beat intervals / RR intervals), Breathing waveform + breathing intervals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Heart rate variability (HRV, SDNN), Pulse arrival time (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rPAT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), Dicrotic wave amplitude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Facial action units (10 AUs: brow raise, lip corner puller, jaw drop, eyes closed, etc.)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Head pose (rotations)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Waveform sampling: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PPG waveforms at 300 Hz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Normalized signals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Dataset splits: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Video files (RGB frames)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Synchronized ground-truth provided as MAT and CSV files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219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90116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Another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69355-42B7-8E3B-9BE6-DCC0336F6FA4}"/>
              </a:ext>
            </a:extLst>
          </p:cNvPr>
          <p:cNvSpPr txBox="1"/>
          <p:nvPr/>
        </p:nvSpPr>
        <p:spPr>
          <a:xfrm>
            <a:off x="0" y="900311"/>
            <a:ext cx="10266265" cy="666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COHFACE : </a:t>
            </a:r>
            <a:r>
              <a:rPr lang="en-US" sz="14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COntinuous</a:t>
            </a:r>
            <a:r>
              <a:rPr 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Health and FACE video dataset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Participants: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-&gt; 40 healthy subjects.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-&gt; Gender: 12 women (30%), 28 men (70%).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-&gt; Age: Mean = 35.6 years, Std = 11.47 years.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Recording Sessions: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Each subject recorded 4 sessions, about 60 seconds each.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Two sessions under studio lighting (controlled) and two under natural lighting (blinds open, no artificial lamps).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Total videos: 160.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Video Data: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Camera: Logitech HD Webcam C525.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Resolution: 640 × 480 pixels.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Frame rate: 20 fps.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File format: MP4 (AVI container).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Ground-Truth Physiological Signals: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Blood Volume Pulse (BVP):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Sensor: Thought Technologies SA9308M.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Sampling rate: 256 Hz.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2A818-A307-1D88-75F3-350E1620F6E9}"/>
              </a:ext>
            </a:extLst>
          </p:cNvPr>
          <p:cNvSpPr txBox="1"/>
          <p:nvPr/>
        </p:nvSpPr>
        <p:spPr>
          <a:xfrm>
            <a:off x="4266368" y="6149088"/>
            <a:ext cx="5497830" cy="893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9569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Respiration: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Sensor: Thought Technologies SA9311M..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Sampling rate: 32 Hz.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66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Dataset Collection till 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69355-42B7-8E3B-9BE6-DCC0336F6FA4}"/>
              </a:ext>
            </a:extLst>
          </p:cNvPr>
          <p:cNvSpPr txBox="1"/>
          <p:nvPr/>
        </p:nvSpPr>
        <p:spPr>
          <a:xfrm>
            <a:off x="0" y="900311"/>
            <a:ext cx="1026626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1. CCUHR (Full)</a:t>
            </a:r>
          </a:p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2. COHFACE (Full)</a:t>
            </a:r>
          </a:p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3. PURE (Full)</a:t>
            </a:r>
          </a:p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4. SCAMPs (Synthetic Data, Full - Downloading in process)</a:t>
            </a:r>
          </a:p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5. UBFC (Full)</a:t>
            </a:r>
          </a:p>
          <a:p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6. UBFC-PHYS (20 subjects, Full dataset is too large for storing (754 GB in zip) )</a:t>
            </a:r>
          </a:p>
        </p:txBody>
      </p:sp>
    </p:spTree>
    <p:extLst>
      <p:ext uri="{BB962C8B-B14F-4D97-AF65-F5344CB8AC3E}">
        <p14:creationId xmlns:p14="http://schemas.microsoft.com/office/powerpoint/2010/main" val="280920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378148" y="100740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CHROM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2AF64E-921F-4B6A-1515-288181300F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4" y="988389"/>
            <a:ext cx="5186174" cy="6234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DA481F-BEDD-DD5E-9C93-4DD28F639E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724" y="1067851"/>
            <a:ext cx="5094072" cy="2712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8E8268-3047-8FD9-7282-70DC2B8A7D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735" y="4240590"/>
            <a:ext cx="49720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93907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Need Solid Evidence in Existing Work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665F5-59D7-C64F-402E-5E1BB873DBAA}"/>
              </a:ext>
            </a:extLst>
          </p:cNvPr>
          <p:cNvSpPr txBox="1"/>
          <p:nvPr/>
        </p:nvSpPr>
        <p:spPr>
          <a:xfrm>
            <a:off x="0" y="931518"/>
            <a:ext cx="10603284" cy="389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Two Types of Lag in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Literature:</a:t>
            </a:r>
            <a:endParaRPr lang="nn-NO" sz="18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nn-NO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Constant Lag</a:t>
            </a:r>
            <a:br>
              <a:rPr lang="nn-NO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nn-NO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Study 1 [1] </a:t>
            </a:r>
            <a:r>
              <a:rPr lang="nn-NO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(main paper of CHROM)</a:t>
            </a:r>
            <a:br>
              <a:rPr lang="nn-NO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In Section III, they describe computing color signal standard deviations over sliding temporal windows (1.6–2 s). Because these are effectively linear phase FIR filters (moving averages), they introduce a 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constant group delay = (N−1)/2 samples.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That’s the mathematical basis of the constant lag in CHROM.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nn-NO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Study 2 [2]</a:t>
            </a:r>
            <a:br>
              <a:rPr lang="nn-NO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 linear-phase FIR filter introduces a constant group delay equal to (N−1)/2 samples.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This applies directly because CHROM’s moving-average over a fixed temporal window is 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exactly a linear-phase FIR.</a:t>
            </a:r>
            <a:endParaRPr lang="nn-NO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C0849-C1B1-D4A1-D398-81BBFEDBD407}"/>
              </a:ext>
            </a:extLst>
          </p:cNvPr>
          <p:cNvSpPr txBox="1"/>
          <p:nvPr/>
        </p:nvSpPr>
        <p:spPr>
          <a:xfrm>
            <a:off x="90116" y="6082361"/>
            <a:ext cx="10266265" cy="13849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Calculation Ref: </a:t>
            </a:r>
            <a:b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</a:br>
            <a:endParaRPr lang="en-US" sz="1200" b="1" i="1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1. de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Haan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, G., &amp; Jeanne, V. (2013). Robust pulse-rate from chrominance-based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rPPG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. IEEE Transactions on Biomedical Engineering, 60(10), 2878–2886.DOI: 10.1109/TBME.2013.2266196 [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hlinkClick r:id="rId4"/>
              </a:rPr>
              <a:t>link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]</a:t>
            </a:r>
            <a:b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</a:br>
            <a:endParaRPr lang="en-US" sz="1200" b="1" i="1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2. Oppenheim, A.V., &amp; Schafer, R.W. (2010). Discrete-Time Signal Processing (3rd ed.). Pearson.2. Lyons, Understanding Digital Signal Processing (3rd ed.)</a:t>
            </a:r>
          </a:p>
        </p:txBody>
      </p:sp>
    </p:spTree>
    <p:extLst>
      <p:ext uri="{BB962C8B-B14F-4D97-AF65-F5344CB8AC3E}">
        <p14:creationId xmlns:p14="http://schemas.microsoft.com/office/powerpoint/2010/main" val="213030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93907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Need Solid Evidence in Existing Work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665F5-59D7-C64F-402E-5E1BB873DBAA}"/>
              </a:ext>
            </a:extLst>
          </p:cNvPr>
          <p:cNvSpPr txBox="1"/>
          <p:nvPr/>
        </p:nvSpPr>
        <p:spPr>
          <a:xfrm>
            <a:off x="0" y="931518"/>
            <a:ext cx="10603284" cy="389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Two Types of Lag in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Literature:</a:t>
            </a:r>
            <a:endParaRPr lang="nn-NO" sz="18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nn-NO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2. FPS lag (drift)</a:t>
            </a:r>
          </a:p>
          <a:p>
            <a:pPr lvl="1">
              <a:lnSpc>
                <a:spcPct val="150000"/>
              </a:lnSpc>
            </a:pPr>
            <a:r>
              <a:rPr kumimoji="0" lang="nn-NO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Study 1 [1] </a:t>
            </a:r>
            <a: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(main paper of CHROM)</a:t>
            </a:r>
            <a:b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 this Study: Nominal frame rates may differ from actual effective frame rates, introducing temporal misalignment between ground truth and video-derived signals.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 applies to all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rPPG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algorithms (CHROM, POS, ICA,): a drift between ground truth BVP (60 Hz) and video stream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(~29.85 fps vs 30 fps) will accumulate as phase lag.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nn-NO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Study 2 [2]</a:t>
            </a:r>
            <a:br>
              <a:rPr kumimoji="0" lang="nn-NO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AVI files often store only a nominal frame rate (30 fps). The true timestamps may deviate, leading to cumulative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drift between streams. This proves that even if CHROM is applied, the video frames are not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exactly 30 fps, so the reconstructed signal drifts relative to 60 Hz ground truth.</a:t>
            </a:r>
            <a:endParaRPr lang="nn-NO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C0849-C1B1-D4A1-D398-81BBFEDBD407}"/>
              </a:ext>
            </a:extLst>
          </p:cNvPr>
          <p:cNvSpPr txBox="1"/>
          <p:nvPr/>
        </p:nvSpPr>
        <p:spPr>
          <a:xfrm>
            <a:off x="90116" y="6082361"/>
            <a:ext cx="10266265" cy="120032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Calculation Ref: </a:t>
            </a:r>
            <a:b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</a:br>
            <a:endParaRPr lang="en-US" sz="1200" b="1" i="1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1. McDuff, D.,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Estepp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, J. R.,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Piasecki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, A. M., &amp; Blackford, E. B. (2015). A survey of remote optical PPG. Proc. IEEE, 103(5), 1207–1225.[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hlinkClick r:id="rId4"/>
              </a:rPr>
              <a:t>link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]</a:t>
            </a:r>
            <a:b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</a:br>
            <a:endParaRPr lang="en-US" sz="1200" b="1" i="1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2.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FFmpeg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 Documentation – Video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092758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Mathematical Analysis of Phase Lag for Subject 09-01.avi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B3023-BB6F-CE90-6E84-74381127608A}"/>
              </a:ext>
            </a:extLst>
          </p:cNvPr>
          <p:cNvSpPr txBox="1"/>
          <p:nvPr/>
        </p:nvSpPr>
        <p:spPr>
          <a:xfrm>
            <a:off x="0" y="1149388"/>
            <a:ext cx="9595172" cy="402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Constant Lag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nn-NO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Observed Initial Lag (Full Dataset):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The mean initial lag over all blocks in the dataset is: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Mean Initial Lag = −8.81frames.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2. Theoretical Constant Lag (from FIR Windowing):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From CHROM's windowing (linear-phase FIR filter with window size N=21):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Constant Lag (theoretical) = (21−1​)\2 = 10 frames.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3. Comparison of Observed and Theoretical Lag: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Theoretical constant lag = 10 frames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Observed constant lag (mean from full dataset) = −8.81 frames.</a:t>
            </a:r>
          </a:p>
        </p:txBody>
      </p:sp>
    </p:spTree>
    <p:extLst>
      <p:ext uri="{BB962C8B-B14F-4D97-AF65-F5344CB8AC3E}">
        <p14:creationId xmlns:p14="http://schemas.microsoft.com/office/powerpoint/2010/main" val="182282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Mathematical Analysis of Phase Lag for Subject 09-01.avi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B3023-BB6F-CE90-6E84-74381127608A}"/>
              </a:ext>
            </a:extLst>
          </p:cNvPr>
          <p:cNvSpPr txBox="1"/>
          <p:nvPr/>
        </p:nvSpPr>
        <p:spPr>
          <a:xfrm>
            <a:off x="0" y="872490"/>
            <a:ext cx="6642844" cy="6182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Nominal fps: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1400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= 30.000 fps  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Blocks: 𝑁 = 58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Stride: 𝑇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= 1 s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Data: lag values 𝐿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k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(frames) at block indices k=0,1,…,57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Time axis: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1400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k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= k. T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</a:t>
            </a:r>
          </a:p>
          <a:p>
            <a:pPr>
              <a:lnSpc>
                <a:spcPct val="150000"/>
              </a:lnSpc>
            </a:pPr>
            <a:endParaRPr lang="en-US" sz="1400" b="1" baseline="-250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Linear regression model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L(t) ≈ a +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bt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Intercept a: constant offset at t=0.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Slope b: change in lag (frames) per second.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True fps: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1400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true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1400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+ b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Start offset: t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= a/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1400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true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1400" b="1" u="sng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After Calculations </a:t>
            </a:r>
            <a:b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 = −4.8212 frames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b = −0.1388frames/s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sz="14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= 0.954 (very good fit)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95% CI for slope: [−0.1469,−0.1306].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B5BEB-16A6-4855-3920-C1C662EBE0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693" y="1107986"/>
            <a:ext cx="4184572" cy="50303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B21061-D639-D150-24B6-2BF0421089DF}"/>
              </a:ext>
            </a:extLst>
          </p:cNvPr>
          <p:cNvSpPr/>
          <p:nvPr/>
        </p:nvSpPr>
        <p:spPr>
          <a:xfrm>
            <a:off x="5922764" y="3642419"/>
            <a:ext cx="4713399" cy="2453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37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Mathematical Analysis of Phase Lag for Subject 09-01.avi </a:t>
            </a:r>
            <a:r>
              <a:rPr lang="en-US" altLang="ko-KR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adea"/>
                <a:ea typeface="HY견고딕" pitchFamily="18" charset="-127"/>
              </a:rPr>
              <a:t>[cont.]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5B5050-009C-2FEA-F6AD-B13BFF87ECBF}"/>
              </a:ext>
            </a:extLst>
          </p:cNvPr>
          <p:cNvSpPr txBox="1"/>
          <p:nvPr/>
        </p:nvSpPr>
        <p:spPr>
          <a:xfrm>
            <a:off x="0" y="984888"/>
            <a:ext cx="6642844" cy="199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Applying Formula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True fps: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1400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true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sz="1400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1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+ b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     = 30 + (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−0.1388)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     = 29.8612 fps</a:t>
            </a:r>
          </a:p>
          <a:p>
            <a:pPr>
              <a:lnSpc>
                <a:spcPct val="150000"/>
              </a:lnSpc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From the MUNet we got the true fps = 29.84 fps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8CB13-7CE0-22E1-D833-5E738DC2307B}"/>
              </a:ext>
            </a:extLst>
          </p:cNvPr>
          <p:cNvSpPr txBox="1"/>
          <p:nvPr/>
        </p:nvSpPr>
        <p:spPr>
          <a:xfrm>
            <a:off x="162124" y="5292799"/>
            <a:ext cx="10266265" cy="175432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Calculation Ref: </a:t>
            </a:r>
            <a:br>
              <a:rPr lang="en-US" sz="12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1. 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Oppenheim, A.V., &amp; Schafer, R.W. (2010). Discrete-Time Signal Processing (3rd ed.). Pearson.2. Lyons, Understanding Digital Signal Processing (3rd ed.), Section 4.6:</a:t>
            </a:r>
            <a:b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</a:br>
            <a:endParaRPr lang="en-US" sz="1200" b="1" i="1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2.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Pilz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, C.-S.,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Zaunseder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, S.,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Krajewski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, J., &amp; Blazek, V. (2018). Local group invariance for heart rate estimation from face videos in the wild. Biomedical Engineering Online, 17(1), 45. [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hlinkClick r:id="rId4"/>
              </a:rPr>
              <a:t>link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]</a:t>
            </a:r>
            <a:b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</a:br>
            <a:endParaRPr lang="en-US" sz="1200" b="1" i="1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3. Chen, W., &amp; McDuff, D. (2020). </a:t>
            </a:r>
            <a:r>
              <a:rPr lang="en-US" sz="1200" b="1" i="1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DeepPhys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++: Reproducing and Benchmarking Remote PPG Methods. Biomedical Optics Express, 11(3), 1268–1283.[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hlinkClick r:id="rId5"/>
              </a:rPr>
              <a:t>link</a:t>
            </a:r>
            <a:r>
              <a:rPr lang="en-US" sz="1200" b="1" i="1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25209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378148" y="100740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CHROM For UBFC(36)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024F5-02A9-3706-A864-EBC0CEC9F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724" y="1132274"/>
            <a:ext cx="4972050" cy="2647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64059C-0416-B551-F65B-F4AB556ED3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26" y="925622"/>
            <a:ext cx="4467993" cy="35569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6EF729-BE95-EF26-BEDA-3B1319612C0E}"/>
              </a:ext>
            </a:extLst>
          </p:cNvPr>
          <p:cNvSpPr txBox="1"/>
          <p:nvPr/>
        </p:nvSpPr>
        <p:spPr>
          <a:xfrm>
            <a:off x="534392" y="4512045"/>
            <a:ext cx="4467993" cy="268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After Calculations </a:t>
            </a:r>
            <a:b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 = -0.848 frames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b = −0.087 frames/s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</a:t>
            </a:r>
            <a:r>
              <a:rPr lang="en-US" sz="14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= 0.924 (very good fit)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True fps: ftrue = fv + b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     = 30 + (−0.087)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     = 29.913 fps</a:t>
            </a:r>
          </a:p>
          <a:p>
            <a:pPr>
              <a:lnSpc>
                <a:spcPct val="150000"/>
              </a:lnSpc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Verified fps: 29.90 fps</a:t>
            </a:r>
          </a:p>
        </p:txBody>
      </p:sp>
    </p:spTree>
    <p:extLst>
      <p:ext uri="{BB962C8B-B14F-4D97-AF65-F5344CB8AC3E}">
        <p14:creationId xmlns:p14="http://schemas.microsoft.com/office/powerpoint/2010/main" val="1097171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n-NO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CHROM For UBFC(36)</a:t>
            </a:r>
          </a:p>
        </p:txBody>
      </p:sp>
      <p:sp>
        <p:nvSpPr>
          <p:cNvPr id="4" name="AutoShape 2" descr="Output image">
            <a:extLst>
              <a:ext uri="{FF2B5EF4-FFF2-40B4-BE49-F238E27FC236}">
                <a16:creationId xmlns:a16="http://schemas.microsoft.com/office/drawing/2014/main" id="{0C1D0D3A-41C7-BD4D-1ECD-12D20AF83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336550"/>
            <a:ext cx="10693400" cy="688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B3023-BB6F-CE90-6E84-74381127608A}"/>
              </a:ext>
            </a:extLst>
          </p:cNvPr>
          <p:cNvSpPr txBox="1"/>
          <p:nvPr/>
        </p:nvSpPr>
        <p:spPr>
          <a:xfrm>
            <a:off x="0" y="1149388"/>
            <a:ext cx="9595172" cy="402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Constant Lag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nn-NO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Observed Initial Lag (Full Dataset):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The mean initial lag over all blocks in the dataset is: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Mean Initial Lag = −3.46frames.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2. Theoretical Constant Lag (from FIR Windowing):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From CHROM's windowing (linear-phase FIR filter with window size N=21):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Constant Lag (theoretical) = (21−1​)\2 = 10 frames.</a:t>
            </a:r>
          </a:p>
          <a:p>
            <a:pPr>
              <a:lnSpc>
                <a:spcPct val="150000"/>
              </a:lnSpc>
            </a:pP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3. Comparison of Observed and Theoretical Lag: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Theoretical constant lag = 10 frames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Observed constant lag (mean from full dataset) = −8.81 frames.</a:t>
            </a:r>
          </a:p>
        </p:txBody>
      </p:sp>
    </p:spTree>
    <p:extLst>
      <p:ext uri="{BB962C8B-B14F-4D97-AF65-F5344CB8AC3E}">
        <p14:creationId xmlns:p14="http://schemas.microsoft.com/office/powerpoint/2010/main" val="2693184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Experimenting With the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SCAMPS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69355-42B7-8E3B-9BE6-DCC0336F6FA4}"/>
              </a:ext>
            </a:extLst>
          </p:cNvPr>
          <p:cNvSpPr txBox="1"/>
          <p:nvPr/>
        </p:nvSpPr>
        <p:spPr>
          <a:xfrm>
            <a:off x="0" y="828303"/>
            <a:ext cx="10243243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SCAMPS dataset contain </a:t>
            </a:r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.mat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file which contains: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Frame data: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RawFrames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Xsub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Label / physiological signals: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d_ppg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photoplethysmogram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– PPG)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d_br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(breathing rate or respiration)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d_ekg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(ECG / electrocardiogram)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d_pitch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d_roll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d_yaw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(head pose / orientation)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Facial action units: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au2, au4, au7, au12, au15, au17, au18, au26, au27, au45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Masks: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combined_mask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numerical_mask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skin_mask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The Full Dataset could not be unzipped because of due to storage shortages.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For experiment the small example of 10 videos and labels (.mat format - 1.2GB) was used. 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pyVHR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does not support the SCAMPS dataset. 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rPPG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toolbox supports SCAMPS but does not support Media Pipe land marks, uses the full face detection rectangle.</a:t>
            </a:r>
          </a:p>
        </p:txBody>
      </p:sp>
    </p:spTree>
    <p:extLst>
      <p:ext uri="{BB962C8B-B14F-4D97-AF65-F5344CB8AC3E}">
        <p14:creationId xmlns:p14="http://schemas.microsoft.com/office/powerpoint/2010/main" val="3667524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Experimenting With the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SCAMPS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69355-42B7-8E3B-9BE6-DCC0336F6FA4}"/>
              </a:ext>
            </a:extLst>
          </p:cNvPr>
          <p:cNvSpPr txBox="1"/>
          <p:nvPr/>
        </p:nvSpPr>
        <p:spPr>
          <a:xfrm>
            <a:off x="0" y="828303"/>
            <a:ext cx="901910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It is important to check if Media Pipe can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ditect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the synthetic video face landmarks.</a:t>
            </a:r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CD86F-E72D-5BE7-2750-FA74840DC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480" y="1741191"/>
            <a:ext cx="3353249" cy="3168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1E33F0-B874-66FF-05DA-1578F1FE5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25" y="1764407"/>
            <a:ext cx="372641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74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Experimenting With the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SCAMPS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69355-42B7-8E3B-9BE6-DCC0336F6FA4}"/>
              </a:ext>
            </a:extLst>
          </p:cNvPr>
          <p:cNvSpPr txBox="1"/>
          <p:nvPr/>
        </p:nvSpPr>
        <p:spPr>
          <a:xfrm>
            <a:off x="0" y="828303"/>
            <a:ext cx="10243243" cy="388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pyVHR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does not support the SCAMPS dataset. So we can not use 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Mediapipe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landmarks for extracting the 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rgb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mean.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But it important to experiment with SCAMPS with the 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pyVHR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/Media Pipe cause most of our excellent results came out from this setup.</a:t>
            </a:r>
          </a:p>
          <a:p>
            <a:pPr marL="342900" indent="-342900">
              <a:buAutoNum type="alphaUcPeriod"/>
            </a:pP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AutoNum type="alphaUcPeriod"/>
            </a:pP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So I followed some steps </a:t>
            </a:r>
          </a:p>
          <a:p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Convert all raw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R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nsolas" panose="020B0609020204030204" pitchFamily="49" charset="0"/>
              </a:rPr>
              <a:t>G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nsolas" panose="020B0609020204030204" pitchFamily="49" charset="0"/>
              </a:rPr>
              <a:t>B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frames to a single video.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Check Media pipe can recognize the face and detect the landmarks.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Considering the 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Ground_Truth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as 300Hz (as in documentation), Retrieve the ppg, respiration, and timestamp to match 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the 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ground_truth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as UBFC dataset so that we can use the same pipeline in 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pyVHR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.</a:t>
            </a:r>
            <a:b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We are expecting that CHROM VS Ground Truth should not have any lags or zero lags.</a:t>
            </a:r>
            <a:b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</a:b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43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16253</TotalTime>
  <Words>1797</Words>
  <Application>Microsoft Office PowerPoint</Application>
  <PresentationFormat>Custom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Caladea</vt:lpstr>
      <vt:lpstr>HY견고딕</vt:lpstr>
      <vt:lpstr>HY중고딕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228</cp:revision>
  <cp:lastPrinted>2012-01-03T07:03:32Z</cp:lastPrinted>
  <dcterms:created xsi:type="dcterms:W3CDTF">2011-12-29T06:45:05Z</dcterms:created>
  <dcterms:modified xsi:type="dcterms:W3CDTF">2025-08-26T06:00:07Z</dcterms:modified>
</cp:coreProperties>
</file>