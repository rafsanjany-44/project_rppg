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64" r:id="rId3"/>
    <p:sldId id="399" r:id="rId4"/>
    <p:sldId id="379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401" r:id="rId13"/>
    <p:sldId id="402" r:id="rId14"/>
    <p:sldId id="403" r:id="rId15"/>
    <p:sldId id="391" r:id="rId16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81" autoAdjust="0"/>
    <p:restoredTop sz="94647" autoAdjust="0"/>
  </p:normalViewPr>
  <p:slideViewPr>
    <p:cSldViewPr>
      <p:cViewPr varScale="1">
        <p:scale>
          <a:sx n="100" d="100"/>
          <a:sy n="100" d="100"/>
        </p:scale>
        <p:origin x="72" y="120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771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985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637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645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574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444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151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160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973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33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786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172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450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426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38588" y="4572719"/>
            <a:ext cx="568863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br>
              <a:rPr lang="en-US" sz="2000" dirty="0"/>
            </a:b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2985759" y="2099942"/>
            <a:ext cx="707579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Applying Various Processing Methods</a:t>
            </a:r>
            <a:r>
              <a:rPr lang="en-US" altLang="ko-KR" sz="2800" b="1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with FFT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Compare 3 types of FFTs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FFT + Sliding Window Approach 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6818A8C1-6C86-8D94-A5AD-501E9CDCAEE9}"/>
              </a:ext>
            </a:extLst>
          </p:cNvPr>
          <p:cNvSpPr/>
          <p:nvPr/>
        </p:nvSpPr>
        <p:spPr>
          <a:xfrm>
            <a:off x="2059689" y="3371787"/>
            <a:ext cx="8540767" cy="10423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A29983-1D6A-106E-D63D-01BB7FD4A04A}"/>
              </a:ext>
            </a:extLst>
          </p:cNvPr>
          <p:cNvSpPr/>
          <p:nvPr/>
        </p:nvSpPr>
        <p:spPr>
          <a:xfrm>
            <a:off x="305046" y="1866116"/>
            <a:ext cx="1497764" cy="16611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Experiment Paths For FFT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C986E4-9615-0CC8-C9F7-56DB9A91E12F}"/>
              </a:ext>
            </a:extLst>
          </p:cNvPr>
          <p:cNvSpPr/>
          <p:nvPr/>
        </p:nvSpPr>
        <p:spPr>
          <a:xfrm>
            <a:off x="189832" y="1062073"/>
            <a:ext cx="864096" cy="442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83961-E3C1-A8E4-682D-50F769000A62}"/>
              </a:ext>
            </a:extLst>
          </p:cNvPr>
          <p:cNvSpPr/>
          <p:nvPr/>
        </p:nvSpPr>
        <p:spPr>
          <a:xfrm>
            <a:off x="1138904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C514B-5432-1438-9E3F-6FD5EAA5F30D}"/>
              </a:ext>
            </a:extLst>
          </p:cNvPr>
          <p:cNvSpPr/>
          <p:nvPr/>
        </p:nvSpPr>
        <p:spPr>
          <a:xfrm>
            <a:off x="208797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427E8-4495-C858-0B39-05BFEB280237}"/>
              </a:ext>
            </a:extLst>
          </p:cNvPr>
          <p:cNvSpPr/>
          <p:nvPr/>
        </p:nvSpPr>
        <p:spPr>
          <a:xfrm>
            <a:off x="302814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7356D-A02A-2034-FD3F-58127C975730}"/>
              </a:ext>
            </a:extLst>
          </p:cNvPr>
          <p:cNvSpPr/>
          <p:nvPr/>
        </p:nvSpPr>
        <p:spPr>
          <a:xfrm>
            <a:off x="3968316" y="1072679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49903-3352-A106-DD67-F5B963E12789}"/>
              </a:ext>
            </a:extLst>
          </p:cNvPr>
          <p:cNvSpPr/>
          <p:nvPr/>
        </p:nvSpPr>
        <p:spPr>
          <a:xfrm>
            <a:off x="5665357" y="1061508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982D7-0AF7-D7E0-E9B4-CC9B7311A1A3}"/>
              </a:ext>
            </a:extLst>
          </p:cNvPr>
          <p:cNvSpPr/>
          <p:nvPr/>
        </p:nvSpPr>
        <p:spPr>
          <a:xfrm>
            <a:off x="6589615" y="1073245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793FFB-7D17-CD72-8344-87BC98043603}"/>
              </a:ext>
            </a:extLst>
          </p:cNvPr>
          <p:cNvSpPr/>
          <p:nvPr/>
        </p:nvSpPr>
        <p:spPr>
          <a:xfrm>
            <a:off x="7507985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ABCF4-4E4E-F35E-CAE7-251221A5221F}"/>
              </a:ext>
            </a:extLst>
          </p:cNvPr>
          <p:cNvSpPr/>
          <p:nvPr/>
        </p:nvSpPr>
        <p:spPr>
          <a:xfrm>
            <a:off x="8432243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C642E7-3263-A562-43FF-1CDE7DB9114C}"/>
              </a:ext>
            </a:extLst>
          </p:cNvPr>
          <p:cNvCxnSpPr>
            <a:cxnSpLocks/>
          </p:cNvCxnSpPr>
          <p:nvPr/>
        </p:nvCxnSpPr>
        <p:spPr>
          <a:xfrm flipV="1">
            <a:off x="4914652" y="1482384"/>
            <a:ext cx="720080" cy="223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3F462-0F78-B3EC-5589-E0CFC11F21B6}"/>
              </a:ext>
            </a:extLst>
          </p:cNvPr>
          <p:cNvSpPr/>
          <p:nvPr/>
        </p:nvSpPr>
        <p:spPr>
          <a:xfrm>
            <a:off x="2278541" y="2342671"/>
            <a:ext cx="1276109" cy="7132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Mean</a:t>
            </a:r>
            <a:r>
              <a:rPr lang="en-US" sz="1600" b="1" dirty="0">
                <a:solidFill>
                  <a:srgbClr val="FF0000"/>
                </a:solidFill>
              </a:rPr>
              <a:t> R</a:t>
            </a:r>
            <a:r>
              <a:rPr lang="en-US" sz="1600" b="1" dirty="0">
                <a:solidFill>
                  <a:srgbClr val="00B050"/>
                </a:solidFill>
              </a:rPr>
              <a:t>G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 </a:t>
            </a:r>
          </a:p>
          <a:p>
            <a:pPr algn="ctr"/>
            <a:r>
              <a:rPr lang="en-US" sz="1600" dirty="0"/>
              <a:t>Extraction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1E0987-495C-E37C-6268-56AA84CA0C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96" y="2127781"/>
            <a:ext cx="1137830" cy="113783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B5BA5BB-376B-C2BB-3888-EADB82417BED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657210" y="1469397"/>
            <a:ext cx="361389" cy="432048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92A6F77-E3FB-AD09-5563-C52760A8F1B1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5400000">
            <a:off x="1126443" y="1421606"/>
            <a:ext cx="371995" cy="51702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8EB3C9C-02E0-8FF4-BB75-2994DC3E2A3A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 rot="5400000">
            <a:off x="1600979" y="947070"/>
            <a:ext cx="371995" cy="14660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12C3BDA-D736-65F0-B803-86472996EEAA}"/>
              </a:ext>
            </a:extLst>
          </p:cNvPr>
          <p:cNvCxnSpPr>
            <a:cxnSpLocks/>
            <a:stCxn id="10" idx="2"/>
            <a:endCxn id="32" idx="0"/>
          </p:cNvCxnSpPr>
          <p:nvPr/>
        </p:nvCxnSpPr>
        <p:spPr>
          <a:xfrm rot="5400000">
            <a:off x="2071064" y="476985"/>
            <a:ext cx="371995" cy="240626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E05CDBD-6D8C-E87F-277A-974138B1DC43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 rot="5400000">
            <a:off x="2546452" y="12203"/>
            <a:ext cx="361389" cy="334643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82019AC-7969-E8EA-39DF-FE882B1826A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5400000">
            <a:off x="3389387" y="-841902"/>
            <a:ext cx="372560" cy="50434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1D3C3F5-F602-ED29-AC97-EFFD6C978097}"/>
              </a:ext>
            </a:extLst>
          </p:cNvPr>
          <p:cNvCxnSpPr>
            <a:cxnSpLocks/>
            <a:stCxn id="13" idx="2"/>
            <a:endCxn id="32" idx="0"/>
          </p:cNvCxnSpPr>
          <p:nvPr/>
        </p:nvCxnSpPr>
        <p:spPr>
          <a:xfrm rot="5400000">
            <a:off x="3857385" y="-1298163"/>
            <a:ext cx="360823" cy="5967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FAE7F6A-1885-E55C-BEBE-691BDCF46B55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4321873" y="-1752045"/>
            <a:ext cx="350217" cy="68861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1E6941D-F401-4F1C-ED8B-D12ECDBAAE4B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 rot="5400000">
            <a:off x="4784002" y="-2214174"/>
            <a:ext cx="350217" cy="781036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B8AAAE5-79AB-3729-A85F-916067380559}"/>
              </a:ext>
            </a:extLst>
          </p:cNvPr>
          <p:cNvSpPr txBox="1"/>
          <p:nvPr/>
        </p:nvSpPr>
        <p:spPr>
          <a:xfrm>
            <a:off x="758536" y="3246793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All ROI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5E6F739-3D8D-7463-2A1F-C9573C8F35D7}"/>
              </a:ext>
            </a:extLst>
          </p:cNvPr>
          <p:cNvCxnSpPr>
            <a:cxnSpLocks/>
            <a:stCxn id="32" idx="3"/>
            <a:endCxn id="24" idx="1"/>
          </p:cNvCxnSpPr>
          <p:nvPr/>
        </p:nvCxnSpPr>
        <p:spPr>
          <a:xfrm>
            <a:off x="1802810" y="2696696"/>
            <a:ext cx="475731" cy="261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3A27AA3-3C2D-B09E-71E3-2EB5CD0EDA6F}"/>
              </a:ext>
            </a:extLst>
          </p:cNvPr>
          <p:cNvSpPr/>
          <p:nvPr/>
        </p:nvSpPr>
        <p:spPr>
          <a:xfrm>
            <a:off x="438814" y="6831687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Normal HR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BB9453B-91E3-BB63-896B-AEC2516E4365}"/>
              </a:ext>
            </a:extLst>
          </p:cNvPr>
          <p:cNvSpPr/>
          <p:nvPr/>
        </p:nvSpPr>
        <p:spPr>
          <a:xfrm>
            <a:off x="3461093" y="6824520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Z Scored Based HR 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995D8F0-2707-7527-44AF-7BD5328173F9}"/>
              </a:ext>
            </a:extLst>
          </p:cNvPr>
          <p:cNvSpPr/>
          <p:nvPr/>
        </p:nvSpPr>
        <p:spPr>
          <a:xfrm>
            <a:off x="6624878" y="6831687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Threshold based HR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D6DEF52-6D62-9051-BBBF-7F01C08B458D}"/>
              </a:ext>
            </a:extLst>
          </p:cNvPr>
          <p:cNvCxnSpPr>
            <a:cxnSpLocks/>
            <a:stCxn id="171" idx="2"/>
            <a:endCxn id="102" idx="0"/>
          </p:cNvCxnSpPr>
          <p:nvPr/>
        </p:nvCxnSpPr>
        <p:spPr>
          <a:xfrm rot="16200000" flipH="1">
            <a:off x="6545078" y="4199152"/>
            <a:ext cx="930018" cy="136002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DC5A5C3-1C5F-A437-CDDF-03DA4DE09614}"/>
              </a:ext>
            </a:extLst>
          </p:cNvPr>
          <p:cNvCxnSpPr>
            <a:cxnSpLocks/>
            <a:stCxn id="171" idx="2"/>
            <a:endCxn id="94" idx="0"/>
          </p:cNvCxnSpPr>
          <p:nvPr/>
        </p:nvCxnSpPr>
        <p:spPr>
          <a:xfrm rot="5400000">
            <a:off x="5115956" y="4182521"/>
            <a:ext cx="982480" cy="144575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6F54C9F-8971-21C7-5483-BA39EA3BCE93}"/>
              </a:ext>
            </a:extLst>
          </p:cNvPr>
          <p:cNvCxnSpPr>
            <a:cxnSpLocks/>
            <a:stCxn id="171" idx="2"/>
            <a:endCxn id="93" idx="0"/>
          </p:cNvCxnSpPr>
          <p:nvPr/>
        </p:nvCxnSpPr>
        <p:spPr>
          <a:xfrm rot="5400000">
            <a:off x="3475222" y="2536457"/>
            <a:ext cx="977151" cy="47325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DA6EAEE3-C6BD-1803-A7A0-B514077D2DD1}"/>
              </a:ext>
            </a:extLst>
          </p:cNvPr>
          <p:cNvSpPr/>
          <p:nvPr/>
        </p:nvSpPr>
        <p:spPr>
          <a:xfrm>
            <a:off x="596557" y="5391309"/>
            <a:ext cx="2001926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FFT</a:t>
            </a:r>
            <a:endParaRPr lang="en-US" sz="16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DA92EF9-6A66-E668-6398-CB6DC98D4F3C}"/>
              </a:ext>
            </a:extLst>
          </p:cNvPr>
          <p:cNvSpPr/>
          <p:nvPr/>
        </p:nvSpPr>
        <p:spPr>
          <a:xfrm>
            <a:off x="3704473" y="5396638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Multi-Harmonic FFT</a:t>
            </a:r>
            <a:endParaRPr lang="en-US" sz="160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B1B648F-0ACA-C3FD-14F8-362A06F8BA91}"/>
              </a:ext>
            </a:extLst>
          </p:cNvPr>
          <p:cNvSpPr/>
          <p:nvPr/>
        </p:nvSpPr>
        <p:spPr>
          <a:xfrm>
            <a:off x="6510256" y="5344176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Welch FFT</a:t>
            </a:r>
            <a:endParaRPr lang="en-US" sz="16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290C8E4-8837-14D4-8671-4438AF44F062}"/>
              </a:ext>
            </a:extLst>
          </p:cNvPr>
          <p:cNvCxnSpPr>
            <a:cxnSpLocks/>
            <a:stCxn id="24" idx="3"/>
            <a:endCxn id="171" idx="0"/>
          </p:cNvCxnSpPr>
          <p:nvPr/>
        </p:nvCxnSpPr>
        <p:spPr>
          <a:xfrm>
            <a:off x="3554650" y="2699307"/>
            <a:ext cx="2775423" cy="67248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B2812928-C6E6-481A-549F-7BBEC3893E38}"/>
              </a:ext>
            </a:extLst>
          </p:cNvPr>
          <p:cNvCxnSpPr>
            <a:cxnSpLocks/>
            <a:stCxn id="94" idx="2"/>
            <a:endCxn id="160" idx="0"/>
          </p:cNvCxnSpPr>
          <p:nvPr/>
        </p:nvCxnSpPr>
        <p:spPr>
          <a:xfrm rot="5400000">
            <a:off x="2985323" y="4932691"/>
            <a:ext cx="786978" cy="301101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F2B81D78-AE31-C591-4EC4-9FFEEE4BFAB7}"/>
              </a:ext>
            </a:extLst>
          </p:cNvPr>
          <p:cNvCxnSpPr>
            <a:cxnSpLocks/>
            <a:stCxn id="94" idx="2"/>
            <a:endCxn id="161" idx="0"/>
          </p:cNvCxnSpPr>
          <p:nvPr/>
        </p:nvCxnSpPr>
        <p:spPr>
          <a:xfrm rot="16200000" flipH="1">
            <a:off x="4500046" y="6428981"/>
            <a:ext cx="779811" cy="1126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A9780681-0A55-D30F-DB66-5A64822DFA5F}"/>
              </a:ext>
            </a:extLst>
          </p:cNvPr>
          <p:cNvCxnSpPr>
            <a:cxnSpLocks/>
            <a:stCxn id="94" idx="2"/>
            <a:endCxn id="162" idx="0"/>
          </p:cNvCxnSpPr>
          <p:nvPr/>
        </p:nvCxnSpPr>
        <p:spPr>
          <a:xfrm rot="16200000" flipH="1">
            <a:off x="6078355" y="4850673"/>
            <a:ext cx="786978" cy="317505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AD90F453-7967-6542-38B0-D8716153BA33}"/>
              </a:ext>
            </a:extLst>
          </p:cNvPr>
          <p:cNvCxnSpPr>
            <a:cxnSpLocks/>
            <a:stCxn id="93" idx="2"/>
            <a:endCxn id="160" idx="0"/>
          </p:cNvCxnSpPr>
          <p:nvPr/>
        </p:nvCxnSpPr>
        <p:spPr>
          <a:xfrm rot="16200000" flipH="1">
            <a:off x="1339259" y="6297640"/>
            <a:ext cx="792307" cy="27578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0F03D1F6-782C-1796-8F16-0365E0758FD8}"/>
              </a:ext>
            </a:extLst>
          </p:cNvPr>
          <p:cNvCxnSpPr>
            <a:cxnSpLocks/>
            <a:stCxn id="93" idx="2"/>
            <a:endCxn id="161" idx="0"/>
          </p:cNvCxnSpPr>
          <p:nvPr/>
        </p:nvCxnSpPr>
        <p:spPr>
          <a:xfrm rot="16200000" flipH="1">
            <a:off x="2853982" y="4782918"/>
            <a:ext cx="785140" cy="329806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16322B9-BF06-5C7E-CFEC-FD170DBD0F1E}"/>
              </a:ext>
            </a:extLst>
          </p:cNvPr>
          <p:cNvCxnSpPr>
            <a:cxnSpLocks/>
            <a:stCxn id="93" idx="2"/>
            <a:endCxn id="162" idx="0"/>
          </p:cNvCxnSpPr>
          <p:nvPr/>
        </p:nvCxnSpPr>
        <p:spPr>
          <a:xfrm rot="16200000" flipH="1">
            <a:off x="4432291" y="3204608"/>
            <a:ext cx="792307" cy="646184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4B04C3B5-D142-2A51-9507-7FEDBA9E34FC}"/>
              </a:ext>
            </a:extLst>
          </p:cNvPr>
          <p:cNvCxnSpPr>
            <a:cxnSpLocks/>
            <a:stCxn id="102" idx="2"/>
            <a:endCxn id="160" idx="0"/>
          </p:cNvCxnSpPr>
          <p:nvPr/>
        </p:nvCxnSpPr>
        <p:spPr>
          <a:xfrm rot="5400000">
            <a:off x="4361984" y="3503569"/>
            <a:ext cx="839440" cy="5816797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3598DDB4-9744-53A7-D878-B5D6F07FB082}"/>
              </a:ext>
            </a:extLst>
          </p:cNvPr>
          <p:cNvSpPr txBox="1"/>
          <p:nvPr/>
        </p:nvSpPr>
        <p:spPr>
          <a:xfrm>
            <a:off x="2114490" y="3409769"/>
            <a:ext cx="843116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1.  CHROM Signal 2.  CHROM++ Signal 3.  CHROM, POS, LGI 4.  Eulerian Amplified 5. ICA Component 1 6.  ICA Component 2</a:t>
            </a:r>
          </a:p>
          <a:p>
            <a:r>
              <a:rPr lang="en-US" sz="1100" dirty="0"/>
              <a:t>7.  ICA Component 3 8.  ICA1 + ICA2 + ICA3 9.  ICA1+ICA2 10. ICA1+ICA3 11. ICA2+ICA3 12. Kalman Green 13. Kalman POS</a:t>
            </a:r>
          </a:p>
          <a:p>
            <a:r>
              <a:rPr lang="en-US" sz="1100" dirty="0"/>
              <a:t>14. Kalman POS + Kalman Green 15. LGI Signal 16. </a:t>
            </a:r>
            <a:r>
              <a:rPr lang="en-US" sz="1100" dirty="0" err="1"/>
              <a:t>MotionComp</a:t>
            </a:r>
            <a:r>
              <a:rPr lang="en-US" sz="1100" dirty="0"/>
              <a:t> CHROM 17. PBV Signal 18. PCA Component 1 19. PCA Component 2 20. PCA Component 3 21. PCA1 + PCA2 + PCA3 22. PCA1+PCA2 23. PCA1+PCA3 24. PCA2+PCA3 25. POS Signal</a:t>
            </a:r>
          </a:p>
          <a:p>
            <a:r>
              <a:rPr lang="en-US" sz="1100" dirty="0"/>
              <a:t>26. POS++ + Wavelet POS + POS++ Adaptive 27. POS++ Signal 28. Wavelet POS</a:t>
            </a:r>
          </a:p>
        </p:txBody>
      </p:sp>
    </p:spTree>
    <p:extLst>
      <p:ext uri="{BB962C8B-B14F-4D97-AF65-F5344CB8AC3E}">
        <p14:creationId xmlns:p14="http://schemas.microsoft.com/office/powerpoint/2010/main" val="109141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Variation of FFT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DCD48C-BBE5-D8A5-4EA1-C0B290F83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671921"/>
              </p:ext>
            </p:extLst>
          </p:nvPr>
        </p:nvGraphicFramePr>
        <p:xfrm>
          <a:off x="666180" y="1404368"/>
          <a:ext cx="9289032" cy="5406010"/>
        </p:xfrm>
        <a:graphic>
          <a:graphicData uri="http://schemas.openxmlformats.org/drawingml/2006/table">
            <a:tbl>
              <a:tblPr/>
              <a:tblGrid>
                <a:gridCol w="2322258">
                  <a:extLst>
                    <a:ext uri="{9D8B030D-6E8A-4147-A177-3AD203B41FA5}">
                      <a16:colId xmlns:a16="http://schemas.microsoft.com/office/drawing/2014/main" val="4106335599"/>
                    </a:ext>
                  </a:extLst>
                </a:gridCol>
                <a:gridCol w="2322258">
                  <a:extLst>
                    <a:ext uri="{9D8B030D-6E8A-4147-A177-3AD203B41FA5}">
                      <a16:colId xmlns:a16="http://schemas.microsoft.com/office/drawing/2014/main" val="1412780827"/>
                    </a:ext>
                  </a:extLst>
                </a:gridCol>
                <a:gridCol w="2322258">
                  <a:extLst>
                    <a:ext uri="{9D8B030D-6E8A-4147-A177-3AD203B41FA5}">
                      <a16:colId xmlns:a16="http://schemas.microsoft.com/office/drawing/2014/main" val="87683691"/>
                    </a:ext>
                  </a:extLst>
                </a:gridCol>
                <a:gridCol w="2322258">
                  <a:extLst>
                    <a:ext uri="{9D8B030D-6E8A-4147-A177-3AD203B41FA5}">
                      <a16:colId xmlns:a16="http://schemas.microsoft.com/office/drawing/2014/main" val="2861101103"/>
                    </a:ext>
                  </a:extLst>
                </a:gridCol>
              </a:tblGrid>
              <a:tr h="565174">
                <a:tc>
                  <a:txBody>
                    <a:bodyPr/>
                    <a:lstStyle/>
                    <a:p>
                      <a:r>
                        <a:rPr lang="en-US" sz="1200" b="1" dirty="0"/>
                        <a:t>Feature / Method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Normal FFT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Welch FFT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Multi-Harmonic FFT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034708"/>
                  </a:ext>
                </a:extLst>
              </a:tr>
              <a:tr h="810901">
                <a:tc>
                  <a:txBody>
                    <a:bodyPr/>
                    <a:lstStyle/>
                    <a:p>
                      <a:r>
                        <a:rPr lang="en-US" sz="1200" b="1" dirty="0"/>
                        <a:t>Main Purpose</a:t>
                      </a:r>
                      <a:endParaRPr lang="en-US" sz="1200" dirty="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Raw frequency decomposition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Smooth PSD estimation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Robust HR estimation using </a:t>
                      </a:r>
                    </a:p>
                    <a:p>
                      <a:r>
                        <a:rPr lang="en-US" sz="1200" dirty="0"/>
                        <a:t>harmonics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860574"/>
                  </a:ext>
                </a:extLst>
              </a:tr>
              <a:tr h="810901">
                <a:tc>
                  <a:txBody>
                    <a:bodyPr/>
                    <a:lstStyle/>
                    <a:p>
                      <a:r>
                        <a:rPr lang="en-US" sz="1200" b="1"/>
                        <a:t>How It Works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 FFT over full signal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Averaged FFTs of overlapping</a:t>
                      </a:r>
                    </a:p>
                    <a:p>
                      <a:r>
                        <a:rPr lang="en-US" sz="1200" dirty="0"/>
                        <a:t> segments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Combines energy at </a:t>
                      </a:r>
                    </a:p>
                    <a:p>
                      <a:r>
                        <a:rPr lang="en-US" sz="1200" dirty="0"/>
                        <a:t>fundamental &amp; harmonics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921971"/>
                  </a:ext>
                </a:extLst>
              </a:tr>
              <a:tr h="565174">
                <a:tc>
                  <a:txBody>
                    <a:bodyPr/>
                    <a:lstStyle/>
                    <a:p>
                      <a:r>
                        <a:rPr lang="en-US" sz="1200" b="1"/>
                        <a:t>Variance (Noise)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Low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Medium–Low (uses structure)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380769"/>
                  </a:ext>
                </a:extLst>
              </a:tr>
              <a:tr h="565174">
                <a:tc>
                  <a:txBody>
                    <a:bodyPr/>
                    <a:lstStyle/>
                    <a:p>
                      <a:r>
                        <a:rPr lang="en-US" sz="1200" b="1"/>
                        <a:t>Frequency Resolution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 (if signal is long)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Lower (due to short segments)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Medium–High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60148"/>
                  </a:ext>
                </a:extLst>
              </a:tr>
              <a:tr h="319446">
                <a:tc>
                  <a:txBody>
                    <a:bodyPr/>
                    <a:lstStyle/>
                    <a:p>
                      <a:r>
                        <a:rPr lang="en-US" sz="1200" b="1"/>
                        <a:t>Robust to Noise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502707"/>
                  </a:ext>
                </a:extLst>
              </a:tr>
              <a:tr h="319446">
                <a:tc>
                  <a:txBody>
                    <a:bodyPr/>
                    <a:lstStyle/>
                    <a:p>
                      <a:r>
                        <a:rPr lang="en-US" sz="1200" b="1"/>
                        <a:t>Uses Harmonics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772647"/>
                  </a:ext>
                </a:extLst>
              </a:tr>
              <a:tr h="565174">
                <a:tc>
                  <a:txBody>
                    <a:bodyPr/>
                    <a:lstStyle/>
                    <a:p>
                      <a:r>
                        <a:rPr lang="en-US" sz="1200" b="1"/>
                        <a:t>Best For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Clean, stationary signals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Noisy or non-stationary signals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Non-sinusoidal signals (e.g., rPPG)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263631"/>
                  </a:ext>
                </a:extLst>
              </a:tr>
              <a:tr h="565174">
                <a:tc>
                  <a:txBody>
                    <a:bodyPr/>
                    <a:lstStyle/>
                    <a:p>
                      <a:r>
                        <a:rPr lang="en-US" sz="1200" b="1"/>
                        <a:t>Output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Frequency spectrum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Power Spectral Density (PSD)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Weighted harmonic-based HR score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435586"/>
                  </a:ext>
                </a:extLst>
              </a:tr>
              <a:tr h="319446">
                <a:tc>
                  <a:txBody>
                    <a:bodyPr/>
                    <a:lstStyle/>
                    <a:p>
                      <a:r>
                        <a:rPr lang="en-US" sz="1200" b="1"/>
                        <a:t>Complexity</a:t>
                      </a:r>
                      <a:endParaRPr lang="en-US" sz="1200"/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Low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Medium–High</a:t>
                      </a:r>
                    </a:p>
                  </a:txBody>
                  <a:tcPr marL="65419" marR="65419" marT="32710" marB="32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31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553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>
                <a:latin typeface="Caladea"/>
                <a:ea typeface="HY견고딕" pitchFamily="18" charset="-127"/>
              </a:rPr>
              <a:t>Results For FFT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63AD2E-6BAF-AF6D-2003-F028A313D29F}"/>
              </a:ext>
            </a:extLst>
          </p:cNvPr>
          <p:cNvSpPr txBox="1"/>
          <p:nvPr/>
        </p:nvSpPr>
        <p:spPr>
          <a:xfrm>
            <a:off x="594172" y="1381438"/>
            <a:ext cx="92170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Top 5 Frequency-Domain Setups by GT-HR Diff: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Signal Channel          Frequency Method     Mean Abs Error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ICA1 + ICA2 + ICA3      Welch                14.731844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ICA1+ICA2               Welch                15.031063 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PCA Component 3         Welch                15.714656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Kalman Green            Welch                16.689656 </a:t>
            </a:r>
          </a:p>
          <a:p>
            <a:r>
              <a:rPr lang="en-US" b="0" i="0" dirty="0">
                <a:effectLst/>
                <a:latin typeface="Consolas" panose="020B0609020204030204" pitchFamily="49" charset="0"/>
              </a:rPr>
              <a:t>ICA Component 1         FFT                  19.235750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4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>
                <a:latin typeface="Caladea"/>
                <a:ea typeface="HY견고딕" pitchFamily="18" charset="-127"/>
              </a:rPr>
              <a:t>Results For FFT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2D3983-E82C-EA20-E724-6169E8BCC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27517"/>
            <a:ext cx="10693400" cy="530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4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>
                <a:latin typeface="Caladea"/>
                <a:ea typeface="HY견고딕" pitchFamily="18" charset="-127"/>
              </a:rPr>
              <a:t>Results For FFT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E86F8-1EF9-C392-3516-E76526E9C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27517"/>
            <a:ext cx="10693400" cy="530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7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>
                <a:latin typeface="Caladea"/>
                <a:ea typeface="HY견고딕" pitchFamily="18" charset="-127"/>
              </a:rPr>
              <a:t>Results For FFT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0FDE09-C69A-24B9-AAAE-4F7B93076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27517"/>
            <a:ext cx="10693400" cy="530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6818A8C1-6C86-8D94-A5AD-501E9CDCAEE9}"/>
              </a:ext>
            </a:extLst>
          </p:cNvPr>
          <p:cNvSpPr/>
          <p:nvPr/>
        </p:nvSpPr>
        <p:spPr>
          <a:xfrm>
            <a:off x="5665357" y="2145659"/>
            <a:ext cx="2034332" cy="10423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CHROM, POS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A29983-1D6A-106E-D63D-01BB7FD4A04A}"/>
              </a:ext>
            </a:extLst>
          </p:cNvPr>
          <p:cNvSpPr/>
          <p:nvPr/>
        </p:nvSpPr>
        <p:spPr>
          <a:xfrm>
            <a:off x="305046" y="1866116"/>
            <a:ext cx="1497764" cy="16611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9279456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Experiment Paths For FFT with 2 &amp; 8 sec sliding Window 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C986E4-9615-0CC8-C9F7-56DB9A91E12F}"/>
              </a:ext>
            </a:extLst>
          </p:cNvPr>
          <p:cNvSpPr/>
          <p:nvPr/>
        </p:nvSpPr>
        <p:spPr>
          <a:xfrm>
            <a:off x="189832" y="1062073"/>
            <a:ext cx="864096" cy="442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83961-E3C1-A8E4-682D-50F769000A62}"/>
              </a:ext>
            </a:extLst>
          </p:cNvPr>
          <p:cNvSpPr/>
          <p:nvPr/>
        </p:nvSpPr>
        <p:spPr>
          <a:xfrm>
            <a:off x="1138904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C514B-5432-1438-9E3F-6FD5EAA5F30D}"/>
              </a:ext>
            </a:extLst>
          </p:cNvPr>
          <p:cNvSpPr/>
          <p:nvPr/>
        </p:nvSpPr>
        <p:spPr>
          <a:xfrm>
            <a:off x="208797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427E8-4495-C858-0B39-05BFEB280237}"/>
              </a:ext>
            </a:extLst>
          </p:cNvPr>
          <p:cNvSpPr/>
          <p:nvPr/>
        </p:nvSpPr>
        <p:spPr>
          <a:xfrm>
            <a:off x="302814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7356D-A02A-2034-FD3F-58127C975730}"/>
              </a:ext>
            </a:extLst>
          </p:cNvPr>
          <p:cNvSpPr/>
          <p:nvPr/>
        </p:nvSpPr>
        <p:spPr>
          <a:xfrm>
            <a:off x="3968316" y="1072679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49903-3352-A106-DD67-F5B963E12789}"/>
              </a:ext>
            </a:extLst>
          </p:cNvPr>
          <p:cNvSpPr/>
          <p:nvPr/>
        </p:nvSpPr>
        <p:spPr>
          <a:xfrm>
            <a:off x="5665357" y="1061508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982D7-0AF7-D7E0-E9B4-CC9B7311A1A3}"/>
              </a:ext>
            </a:extLst>
          </p:cNvPr>
          <p:cNvSpPr/>
          <p:nvPr/>
        </p:nvSpPr>
        <p:spPr>
          <a:xfrm>
            <a:off x="6589615" y="1073245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793FFB-7D17-CD72-8344-87BC98043603}"/>
              </a:ext>
            </a:extLst>
          </p:cNvPr>
          <p:cNvSpPr/>
          <p:nvPr/>
        </p:nvSpPr>
        <p:spPr>
          <a:xfrm>
            <a:off x="7507985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ABCF4-4E4E-F35E-CAE7-251221A5221F}"/>
              </a:ext>
            </a:extLst>
          </p:cNvPr>
          <p:cNvSpPr/>
          <p:nvPr/>
        </p:nvSpPr>
        <p:spPr>
          <a:xfrm>
            <a:off x="8432243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C642E7-3263-A562-43FF-1CDE7DB9114C}"/>
              </a:ext>
            </a:extLst>
          </p:cNvPr>
          <p:cNvCxnSpPr>
            <a:cxnSpLocks/>
          </p:cNvCxnSpPr>
          <p:nvPr/>
        </p:nvCxnSpPr>
        <p:spPr>
          <a:xfrm flipV="1">
            <a:off x="4914652" y="1482384"/>
            <a:ext cx="720080" cy="223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3F462-0F78-B3EC-5589-E0CFC11F21B6}"/>
              </a:ext>
            </a:extLst>
          </p:cNvPr>
          <p:cNvSpPr/>
          <p:nvPr/>
        </p:nvSpPr>
        <p:spPr>
          <a:xfrm>
            <a:off x="2278541" y="2342671"/>
            <a:ext cx="1276109" cy="7132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Mean</a:t>
            </a:r>
            <a:r>
              <a:rPr lang="en-US" sz="1600" b="1" dirty="0">
                <a:solidFill>
                  <a:srgbClr val="FF0000"/>
                </a:solidFill>
              </a:rPr>
              <a:t> R</a:t>
            </a:r>
            <a:r>
              <a:rPr lang="en-US" sz="1600" b="1" dirty="0">
                <a:solidFill>
                  <a:srgbClr val="00B050"/>
                </a:solidFill>
              </a:rPr>
              <a:t>G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 </a:t>
            </a:r>
          </a:p>
          <a:p>
            <a:pPr algn="ctr"/>
            <a:r>
              <a:rPr lang="en-US" sz="1600" dirty="0"/>
              <a:t>Extraction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1E0987-495C-E37C-6268-56AA84CA0C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96" y="2127781"/>
            <a:ext cx="1137830" cy="113783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B5BA5BB-376B-C2BB-3888-EADB82417BED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657210" y="1469397"/>
            <a:ext cx="361389" cy="432048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92A6F77-E3FB-AD09-5563-C52760A8F1B1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5400000">
            <a:off x="1126443" y="1421606"/>
            <a:ext cx="371995" cy="51702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8EB3C9C-02E0-8FF4-BB75-2994DC3E2A3A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 rot="5400000">
            <a:off x="1600979" y="947070"/>
            <a:ext cx="371995" cy="14660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12C3BDA-D736-65F0-B803-86472996EEAA}"/>
              </a:ext>
            </a:extLst>
          </p:cNvPr>
          <p:cNvCxnSpPr>
            <a:cxnSpLocks/>
            <a:stCxn id="10" idx="2"/>
            <a:endCxn id="32" idx="0"/>
          </p:cNvCxnSpPr>
          <p:nvPr/>
        </p:nvCxnSpPr>
        <p:spPr>
          <a:xfrm rot="5400000">
            <a:off x="2071064" y="476985"/>
            <a:ext cx="371995" cy="240626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E05CDBD-6D8C-E87F-277A-974138B1DC43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 rot="5400000">
            <a:off x="2546452" y="12203"/>
            <a:ext cx="361389" cy="334643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82019AC-7969-E8EA-39DF-FE882B1826A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5400000">
            <a:off x="3389387" y="-841902"/>
            <a:ext cx="372560" cy="50434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1D3C3F5-F602-ED29-AC97-EFFD6C978097}"/>
              </a:ext>
            </a:extLst>
          </p:cNvPr>
          <p:cNvCxnSpPr>
            <a:cxnSpLocks/>
            <a:stCxn id="13" idx="2"/>
            <a:endCxn id="32" idx="0"/>
          </p:cNvCxnSpPr>
          <p:nvPr/>
        </p:nvCxnSpPr>
        <p:spPr>
          <a:xfrm rot="5400000">
            <a:off x="3857385" y="-1298163"/>
            <a:ext cx="360823" cy="5967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FAE7F6A-1885-E55C-BEBE-691BDCF46B55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4321873" y="-1752045"/>
            <a:ext cx="350217" cy="68861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1E6941D-F401-4F1C-ED8B-D12ECDBAAE4B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 rot="5400000">
            <a:off x="4784002" y="-2214174"/>
            <a:ext cx="350217" cy="781036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B8AAAE5-79AB-3729-A85F-916067380559}"/>
              </a:ext>
            </a:extLst>
          </p:cNvPr>
          <p:cNvSpPr txBox="1"/>
          <p:nvPr/>
        </p:nvSpPr>
        <p:spPr>
          <a:xfrm>
            <a:off x="758536" y="3246793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All ROI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5E6F739-3D8D-7463-2A1F-C9573C8F35D7}"/>
              </a:ext>
            </a:extLst>
          </p:cNvPr>
          <p:cNvCxnSpPr>
            <a:cxnSpLocks/>
            <a:stCxn id="32" idx="3"/>
            <a:endCxn id="24" idx="1"/>
          </p:cNvCxnSpPr>
          <p:nvPr/>
        </p:nvCxnSpPr>
        <p:spPr>
          <a:xfrm>
            <a:off x="1802810" y="2696696"/>
            <a:ext cx="475731" cy="261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995D8F0-2707-7527-44AF-7BD5328173F9}"/>
              </a:ext>
            </a:extLst>
          </p:cNvPr>
          <p:cNvSpPr/>
          <p:nvPr/>
        </p:nvSpPr>
        <p:spPr>
          <a:xfrm>
            <a:off x="6858868" y="6670236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Threshold based HR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B1B648F-0ACA-C3FD-14F8-362A06F8BA91}"/>
              </a:ext>
            </a:extLst>
          </p:cNvPr>
          <p:cNvSpPr/>
          <p:nvPr/>
        </p:nvSpPr>
        <p:spPr>
          <a:xfrm>
            <a:off x="7113512" y="4929323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Welch FFT</a:t>
            </a:r>
            <a:endParaRPr lang="en-US" sz="16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290C8E4-8837-14D4-8671-4438AF44F062}"/>
              </a:ext>
            </a:extLst>
          </p:cNvPr>
          <p:cNvCxnSpPr>
            <a:cxnSpLocks/>
            <a:stCxn id="24" idx="3"/>
            <a:endCxn id="171" idx="1"/>
          </p:cNvCxnSpPr>
          <p:nvPr/>
        </p:nvCxnSpPr>
        <p:spPr>
          <a:xfrm flipV="1">
            <a:off x="3554650" y="2666845"/>
            <a:ext cx="2110707" cy="3246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4B04C3B5-D142-2A51-9507-7FEDBA9E34FC}"/>
              </a:ext>
            </a:extLst>
          </p:cNvPr>
          <p:cNvCxnSpPr>
            <a:cxnSpLocks/>
            <a:stCxn id="102" idx="2"/>
            <a:endCxn id="162" idx="0"/>
          </p:cNvCxnSpPr>
          <p:nvPr/>
        </p:nvCxnSpPr>
        <p:spPr>
          <a:xfrm rot="16200000" flipH="1">
            <a:off x="7746937" y="6123814"/>
            <a:ext cx="1092842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AA5BAB0-ED2C-454F-C83B-A4AC96E1C361}"/>
              </a:ext>
            </a:extLst>
          </p:cNvPr>
          <p:cNvSpPr/>
          <p:nvPr/>
        </p:nvSpPr>
        <p:spPr>
          <a:xfrm>
            <a:off x="7113512" y="3629149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 Sec Sliding Window For </a:t>
            </a:r>
          </a:p>
          <a:p>
            <a:pPr algn="ctr"/>
            <a:r>
              <a:rPr lang="en-US" sz="1400" dirty="0"/>
              <a:t>300 Frames</a:t>
            </a:r>
            <a:endParaRPr lang="en-US" sz="1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CAA5A0-E322-507F-FE2A-3BBF31BA014E}"/>
              </a:ext>
            </a:extLst>
          </p:cNvPr>
          <p:cNvSpPr/>
          <p:nvPr/>
        </p:nvSpPr>
        <p:spPr>
          <a:xfrm>
            <a:off x="3483071" y="6670236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Threshold based HR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6489A8-642E-2926-FF03-6E2A57E2AE98}"/>
              </a:ext>
            </a:extLst>
          </p:cNvPr>
          <p:cNvSpPr/>
          <p:nvPr/>
        </p:nvSpPr>
        <p:spPr>
          <a:xfrm>
            <a:off x="3737715" y="4929323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Welch FFT</a:t>
            </a:r>
            <a:endParaRPr lang="en-US" sz="1600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ED1AC2A-FB93-7858-9628-C232E125DA5E}"/>
              </a:ext>
            </a:extLst>
          </p:cNvPr>
          <p:cNvCxnSpPr>
            <a:cxnSpLocks/>
            <a:stCxn id="52" idx="2"/>
            <a:endCxn id="50" idx="0"/>
          </p:cNvCxnSpPr>
          <p:nvPr/>
        </p:nvCxnSpPr>
        <p:spPr>
          <a:xfrm rot="16200000" flipH="1">
            <a:off x="4371140" y="6123814"/>
            <a:ext cx="1092842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9D25EA4-5852-6D6E-4CC8-7FFD3D209EA7}"/>
              </a:ext>
            </a:extLst>
          </p:cNvPr>
          <p:cNvSpPr/>
          <p:nvPr/>
        </p:nvSpPr>
        <p:spPr>
          <a:xfrm>
            <a:off x="3737715" y="3629149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8 Sec Sliding Window For</a:t>
            </a:r>
          </a:p>
          <a:p>
            <a:pPr algn="ctr"/>
            <a:r>
              <a:rPr lang="en-US" sz="1400" dirty="0"/>
              <a:t>Full Length Video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27A30E5-B678-5FC2-602E-66BDB9F8DAAD}"/>
              </a:ext>
            </a:extLst>
          </p:cNvPr>
          <p:cNvCxnSpPr>
            <a:cxnSpLocks/>
            <a:stCxn id="171" idx="2"/>
            <a:endCxn id="55" idx="0"/>
          </p:cNvCxnSpPr>
          <p:nvPr/>
        </p:nvCxnSpPr>
        <p:spPr>
          <a:xfrm flipH="1">
            <a:off x="4917561" y="3188030"/>
            <a:ext cx="1764962" cy="44111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90D9687-9855-9B85-4AA3-6F150A7508A5}"/>
              </a:ext>
            </a:extLst>
          </p:cNvPr>
          <p:cNvCxnSpPr>
            <a:cxnSpLocks/>
          </p:cNvCxnSpPr>
          <p:nvPr/>
        </p:nvCxnSpPr>
        <p:spPr>
          <a:xfrm>
            <a:off x="6682522" y="3188030"/>
            <a:ext cx="1610835" cy="44111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68EC989-7610-DEBB-40F4-849BA8BFD02F}"/>
              </a:ext>
            </a:extLst>
          </p:cNvPr>
          <p:cNvCxnSpPr>
            <a:cxnSpLocks/>
            <a:stCxn id="55" idx="2"/>
            <a:endCxn id="52" idx="0"/>
          </p:cNvCxnSpPr>
          <p:nvPr/>
        </p:nvCxnSpPr>
        <p:spPr>
          <a:xfrm>
            <a:off x="4917561" y="4277220"/>
            <a:ext cx="0" cy="6521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596D032-2613-3FAF-63F4-F6C2191D0487}"/>
              </a:ext>
            </a:extLst>
          </p:cNvPr>
          <p:cNvCxnSpPr>
            <a:cxnSpLocks/>
            <a:stCxn id="43" idx="2"/>
            <a:endCxn id="102" idx="0"/>
          </p:cNvCxnSpPr>
          <p:nvPr/>
        </p:nvCxnSpPr>
        <p:spPr>
          <a:xfrm>
            <a:off x="8293358" y="4277220"/>
            <a:ext cx="0" cy="6521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263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For FFT CHROM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63AD2E-6BAF-AF6D-2003-F028A313D29F}"/>
              </a:ext>
            </a:extLst>
          </p:cNvPr>
          <p:cNvSpPr txBox="1"/>
          <p:nvPr/>
        </p:nvSpPr>
        <p:spPr>
          <a:xfrm>
            <a:off x="271953" y="1116335"/>
            <a:ext cx="92170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Top 2 sec Window For 10 sec </a:t>
            </a:r>
            <a:r>
              <a:rPr lang="en-US" sz="1400" dirty="0">
                <a:latin typeface="Consolas" panose="020B0609020204030204" pitchFamily="49" charset="0"/>
              </a:rPr>
              <a:t>Video</a:t>
            </a:r>
            <a:endParaRPr lang="en-US" sz="1400" b="0" i="0" dirty="0">
              <a:effectLst/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MAE (Mean Absolute Error): 6.</a:t>
            </a:r>
            <a:r>
              <a:rPr lang="en-US" sz="1400" dirty="0">
                <a:latin typeface="Consolas" panose="020B0609020204030204" pitchFamily="49" charset="0"/>
              </a:rPr>
              <a:t>38</a:t>
            </a:r>
            <a:r>
              <a:rPr lang="en-US" sz="1400" b="0" i="0" dirty="0">
                <a:effectLst/>
                <a:latin typeface="Consolas" panose="020B0609020204030204" pitchFamily="49" charset="0"/>
              </a:rPr>
              <a:t> bpm</a:t>
            </a: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RMSE (Root Mean Square Error): 8.</a:t>
            </a:r>
            <a:r>
              <a:rPr lang="en-US" sz="1400" dirty="0">
                <a:latin typeface="Consolas" panose="020B0609020204030204" pitchFamily="49" charset="0"/>
              </a:rPr>
              <a:t>73</a:t>
            </a:r>
            <a:r>
              <a:rPr lang="en-US" sz="1400" b="0" i="0" dirty="0">
                <a:effectLst/>
                <a:latin typeface="Consolas" panose="020B0609020204030204" pitchFamily="49" charset="0"/>
              </a:rPr>
              <a:t> bpm</a:t>
            </a: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Mean Error: +0.5</a:t>
            </a:r>
            <a:r>
              <a:rPr lang="en-US" sz="1400" dirty="0">
                <a:latin typeface="Consolas" panose="020B0609020204030204" pitchFamily="49" charset="0"/>
              </a:rPr>
              <a:t>4</a:t>
            </a:r>
            <a:r>
              <a:rPr lang="en-US" sz="1400" b="0" i="0" dirty="0">
                <a:effectLst/>
                <a:latin typeface="Consolas" panose="020B0609020204030204" pitchFamily="49" charset="0"/>
              </a:rPr>
              <a:t> bpm (on average, predicted HR is slightly lower than GT)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15500-60E9-70F6-85A8-8E9B821D9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900" y="2670530"/>
            <a:ext cx="10693400" cy="45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68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For FFT POS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63AD2E-6BAF-AF6D-2003-F028A313D29F}"/>
              </a:ext>
            </a:extLst>
          </p:cNvPr>
          <p:cNvSpPr txBox="1"/>
          <p:nvPr/>
        </p:nvSpPr>
        <p:spPr>
          <a:xfrm>
            <a:off x="271953" y="1116335"/>
            <a:ext cx="92170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Top 2 sec Window For 10 sec </a:t>
            </a:r>
            <a:r>
              <a:rPr lang="en-US" sz="1400" dirty="0">
                <a:latin typeface="Consolas" panose="020B0609020204030204" pitchFamily="49" charset="0"/>
              </a:rPr>
              <a:t>Video</a:t>
            </a:r>
            <a:endParaRPr lang="en-US" sz="1400" b="0" i="0" dirty="0">
              <a:effectLst/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MAE (Mean Absolute Error): 13.81 bpm</a:t>
            </a: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RMSE (Root Mean Square Error): 19.03 bpm</a:t>
            </a:r>
          </a:p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Mean Error: -2.02 bpm (POS tends to overestimate HR slightly)</a:t>
            </a:r>
            <a:endParaRPr lang="en-US" sz="1400" dirty="0"/>
          </a:p>
        </p:txBody>
      </p:sp>
      <p:pic>
        <p:nvPicPr>
          <p:cNvPr id="6" name="Picture 5" descr="A graph with red and green bars&#10;&#10;AI-generated content may be incorrect.">
            <a:extLst>
              <a:ext uri="{FF2B5EF4-FFF2-40B4-BE49-F238E27FC236}">
                <a16:creationId xmlns:a16="http://schemas.microsoft.com/office/drawing/2014/main" id="{E54E3FA1-52E2-784D-7A82-57F7ECC2DD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1813"/>
            <a:ext cx="10693400" cy="453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3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For FFT POS vs CHROM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4" name="Picture 3" descr="A graph with orange and blue bars&#10;&#10;AI-generated content may be incorrect.">
            <a:extLst>
              <a:ext uri="{FF2B5EF4-FFF2-40B4-BE49-F238E27FC236}">
                <a16:creationId xmlns:a16="http://schemas.microsoft.com/office/drawing/2014/main" id="{08F40568-F87D-5D54-690D-422F17FCFD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2439"/>
            <a:ext cx="10693400" cy="423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38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For CHROM 8 Sec Full Length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3FBF7B-A36D-6B1D-3F92-F2A0A8A357C5}"/>
              </a:ext>
            </a:extLst>
          </p:cNvPr>
          <p:cNvSpPr txBox="1"/>
          <p:nvPr/>
        </p:nvSpPr>
        <p:spPr>
          <a:xfrm>
            <a:off x="162124" y="1391899"/>
            <a:ext cx="9721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Top 8 sec Window For </a:t>
            </a:r>
            <a:r>
              <a:rPr lang="en-US" dirty="0">
                <a:latin typeface="Consolas" panose="020B0609020204030204" pitchFamily="49" charset="0"/>
              </a:rPr>
              <a:t>Full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Video</a:t>
            </a:r>
            <a:endParaRPr lang="en-US" sz="2000" b="0" i="0" dirty="0">
              <a:effectLst/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MAE (Mean Absolute Error): 1.82 bpm</a:t>
            </a:r>
          </a:p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RMSE (Root Mean Square Error): </a:t>
            </a:r>
            <a:r>
              <a:rPr lang="en-US" dirty="0">
                <a:latin typeface="Consolas" panose="020B0609020204030204" pitchFamily="49" charset="0"/>
              </a:rPr>
              <a:t>3.45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 bpm</a:t>
            </a:r>
          </a:p>
        </p:txBody>
      </p:sp>
    </p:spTree>
    <p:extLst>
      <p:ext uri="{BB962C8B-B14F-4D97-AF65-F5344CB8AC3E}">
        <p14:creationId xmlns:p14="http://schemas.microsoft.com/office/powerpoint/2010/main" val="311850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Results For CHROM 8 Sec Full Length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3FBF7B-A36D-6B1D-3F92-F2A0A8A357C5}"/>
              </a:ext>
            </a:extLst>
          </p:cNvPr>
          <p:cNvSpPr txBox="1"/>
          <p:nvPr/>
        </p:nvSpPr>
        <p:spPr>
          <a:xfrm>
            <a:off x="162124" y="1391899"/>
            <a:ext cx="9721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Top 8 sec Window For </a:t>
            </a:r>
            <a:r>
              <a:rPr lang="en-US" dirty="0">
                <a:latin typeface="Consolas" panose="020B0609020204030204" pitchFamily="49" charset="0"/>
              </a:rPr>
              <a:t>Full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Video</a:t>
            </a:r>
            <a:endParaRPr lang="en-US" sz="2000" b="0" i="0" dirty="0">
              <a:effectLst/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MAE (Mean Absolute Error): 1.82 bpm</a:t>
            </a:r>
          </a:p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RMSE (Root Mean Square Error): </a:t>
            </a:r>
            <a:r>
              <a:rPr lang="en-US" dirty="0">
                <a:latin typeface="Consolas" panose="020B0609020204030204" pitchFamily="49" charset="0"/>
              </a:rPr>
              <a:t>3.45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 bpm</a:t>
            </a:r>
          </a:p>
        </p:txBody>
      </p:sp>
      <p:pic>
        <p:nvPicPr>
          <p:cNvPr id="6" name="Picture 5" descr="A graph of a number of green and yellow bars&#10;&#10;AI-generated content may be incorrect.">
            <a:extLst>
              <a:ext uri="{FF2B5EF4-FFF2-40B4-BE49-F238E27FC236}">
                <a16:creationId xmlns:a16="http://schemas.microsoft.com/office/drawing/2014/main" id="{5E819CBF-C429-E477-E464-A20377A8FA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0761"/>
            <a:ext cx="10693400" cy="453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94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6818A8C1-6C86-8D94-A5AD-501E9CDCAEE9}"/>
              </a:ext>
            </a:extLst>
          </p:cNvPr>
          <p:cNvSpPr/>
          <p:nvPr/>
        </p:nvSpPr>
        <p:spPr>
          <a:xfrm>
            <a:off x="5634732" y="2145659"/>
            <a:ext cx="2305302" cy="10423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Other Signal Channels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A29983-1D6A-106E-D63D-01BB7FD4A04A}"/>
              </a:ext>
            </a:extLst>
          </p:cNvPr>
          <p:cNvSpPr/>
          <p:nvPr/>
        </p:nvSpPr>
        <p:spPr>
          <a:xfrm>
            <a:off x="305046" y="1866116"/>
            <a:ext cx="1497764" cy="16611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9279456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More Experiment Paths For FFT with Sliding Window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C986E4-9615-0CC8-C9F7-56DB9A91E12F}"/>
              </a:ext>
            </a:extLst>
          </p:cNvPr>
          <p:cNvSpPr/>
          <p:nvPr/>
        </p:nvSpPr>
        <p:spPr>
          <a:xfrm>
            <a:off x="189832" y="1062073"/>
            <a:ext cx="864096" cy="442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83961-E3C1-A8E4-682D-50F769000A62}"/>
              </a:ext>
            </a:extLst>
          </p:cNvPr>
          <p:cNvSpPr/>
          <p:nvPr/>
        </p:nvSpPr>
        <p:spPr>
          <a:xfrm>
            <a:off x="1138904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C514B-5432-1438-9E3F-6FD5EAA5F30D}"/>
              </a:ext>
            </a:extLst>
          </p:cNvPr>
          <p:cNvSpPr/>
          <p:nvPr/>
        </p:nvSpPr>
        <p:spPr>
          <a:xfrm>
            <a:off x="208797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427E8-4495-C858-0B39-05BFEB280237}"/>
              </a:ext>
            </a:extLst>
          </p:cNvPr>
          <p:cNvSpPr/>
          <p:nvPr/>
        </p:nvSpPr>
        <p:spPr>
          <a:xfrm>
            <a:off x="302814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7356D-A02A-2034-FD3F-58127C975730}"/>
              </a:ext>
            </a:extLst>
          </p:cNvPr>
          <p:cNvSpPr/>
          <p:nvPr/>
        </p:nvSpPr>
        <p:spPr>
          <a:xfrm>
            <a:off x="3968316" y="1072679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49903-3352-A106-DD67-F5B963E12789}"/>
              </a:ext>
            </a:extLst>
          </p:cNvPr>
          <p:cNvSpPr/>
          <p:nvPr/>
        </p:nvSpPr>
        <p:spPr>
          <a:xfrm>
            <a:off x="5665357" y="1061508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982D7-0AF7-D7E0-E9B4-CC9B7311A1A3}"/>
              </a:ext>
            </a:extLst>
          </p:cNvPr>
          <p:cNvSpPr/>
          <p:nvPr/>
        </p:nvSpPr>
        <p:spPr>
          <a:xfrm>
            <a:off x="6589615" y="1073245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793FFB-7D17-CD72-8344-87BC98043603}"/>
              </a:ext>
            </a:extLst>
          </p:cNvPr>
          <p:cNvSpPr/>
          <p:nvPr/>
        </p:nvSpPr>
        <p:spPr>
          <a:xfrm>
            <a:off x="7507985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ABCF4-4E4E-F35E-CAE7-251221A5221F}"/>
              </a:ext>
            </a:extLst>
          </p:cNvPr>
          <p:cNvSpPr/>
          <p:nvPr/>
        </p:nvSpPr>
        <p:spPr>
          <a:xfrm>
            <a:off x="8432243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C642E7-3263-A562-43FF-1CDE7DB9114C}"/>
              </a:ext>
            </a:extLst>
          </p:cNvPr>
          <p:cNvCxnSpPr>
            <a:cxnSpLocks/>
          </p:cNvCxnSpPr>
          <p:nvPr/>
        </p:nvCxnSpPr>
        <p:spPr>
          <a:xfrm flipV="1">
            <a:off x="4914652" y="1482384"/>
            <a:ext cx="720080" cy="223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3F462-0F78-B3EC-5589-E0CFC11F21B6}"/>
              </a:ext>
            </a:extLst>
          </p:cNvPr>
          <p:cNvSpPr/>
          <p:nvPr/>
        </p:nvSpPr>
        <p:spPr>
          <a:xfrm>
            <a:off x="2278541" y="2342671"/>
            <a:ext cx="1276109" cy="7132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Mean</a:t>
            </a:r>
            <a:r>
              <a:rPr lang="en-US" sz="1600" b="1" dirty="0">
                <a:solidFill>
                  <a:srgbClr val="FF0000"/>
                </a:solidFill>
              </a:rPr>
              <a:t> R</a:t>
            </a:r>
            <a:r>
              <a:rPr lang="en-US" sz="1600" b="1" dirty="0">
                <a:solidFill>
                  <a:srgbClr val="00B050"/>
                </a:solidFill>
              </a:rPr>
              <a:t>G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 </a:t>
            </a:r>
          </a:p>
          <a:p>
            <a:pPr algn="ctr"/>
            <a:r>
              <a:rPr lang="en-US" sz="1600" dirty="0"/>
              <a:t>Extraction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1E0987-495C-E37C-6268-56AA84CA0C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96" y="2127781"/>
            <a:ext cx="1137830" cy="113783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B5BA5BB-376B-C2BB-3888-EADB82417BED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657210" y="1469397"/>
            <a:ext cx="361389" cy="432048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92A6F77-E3FB-AD09-5563-C52760A8F1B1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5400000">
            <a:off x="1126443" y="1421606"/>
            <a:ext cx="371995" cy="51702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8EB3C9C-02E0-8FF4-BB75-2994DC3E2A3A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 rot="5400000">
            <a:off x="1600979" y="947070"/>
            <a:ext cx="371995" cy="14660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12C3BDA-D736-65F0-B803-86472996EEAA}"/>
              </a:ext>
            </a:extLst>
          </p:cNvPr>
          <p:cNvCxnSpPr>
            <a:cxnSpLocks/>
            <a:stCxn id="10" idx="2"/>
            <a:endCxn id="32" idx="0"/>
          </p:cNvCxnSpPr>
          <p:nvPr/>
        </p:nvCxnSpPr>
        <p:spPr>
          <a:xfrm rot="5400000">
            <a:off x="2071064" y="476985"/>
            <a:ext cx="371995" cy="240626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E05CDBD-6D8C-E87F-277A-974138B1DC43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 rot="5400000">
            <a:off x="2546452" y="12203"/>
            <a:ext cx="361389" cy="334643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82019AC-7969-E8EA-39DF-FE882B1826A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5400000">
            <a:off x="3389387" y="-841902"/>
            <a:ext cx="372560" cy="50434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1D3C3F5-F602-ED29-AC97-EFFD6C978097}"/>
              </a:ext>
            </a:extLst>
          </p:cNvPr>
          <p:cNvCxnSpPr>
            <a:cxnSpLocks/>
            <a:stCxn id="13" idx="2"/>
            <a:endCxn id="32" idx="0"/>
          </p:cNvCxnSpPr>
          <p:nvPr/>
        </p:nvCxnSpPr>
        <p:spPr>
          <a:xfrm rot="5400000">
            <a:off x="3857385" y="-1298163"/>
            <a:ext cx="360823" cy="5967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FAE7F6A-1885-E55C-BEBE-691BDCF46B55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4321873" y="-1752045"/>
            <a:ext cx="350217" cy="68861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1E6941D-F401-4F1C-ED8B-D12ECDBAAE4B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 rot="5400000">
            <a:off x="4784002" y="-2214174"/>
            <a:ext cx="350217" cy="781036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B8AAAE5-79AB-3729-A85F-916067380559}"/>
              </a:ext>
            </a:extLst>
          </p:cNvPr>
          <p:cNvSpPr txBox="1"/>
          <p:nvPr/>
        </p:nvSpPr>
        <p:spPr>
          <a:xfrm>
            <a:off x="758536" y="3246793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All ROI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5E6F739-3D8D-7463-2A1F-C9573C8F35D7}"/>
              </a:ext>
            </a:extLst>
          </p:cNvPr>
          <p:cNvCxnSpPr>
            <a:cxnSpLocks/>
            <a:stCxn id="32" idx="3"/>
            <a:endCxn id="24" idx="1"/>
          </p:cNvCxnSpPr>
          <p:nvPr/>
        </p:nvCxnSpPr>
        <p:spPr>
          <a:xfrm>
            <a:off x="1802810" y="2696696"/>
            <a:ext cx="475731" cy="261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995D8F0-2707-7527-44AF-7BD5328173F9}"/>
              </a:ext>
            </a:extLst>
          </p:cNvPr>
          <p:cNvSpPr/>
          <p:nvPr/>
        </p:nvSpPr>
        <p:spPr>
          <a:xfrm>
            <a:off x="6858868" y="6670236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Threshold based HR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B1B648F-0ACA-C3FD-14F8-362A06F8BA91}"/>
              </a:ext>
            </a:extLst>
          </p:cNvPr>
          <p:cNvSpPr/>
          <p:nvPr/>
        </p:nvSpPr>
        <p:spPr>
          <a:xfrm>
            <a:off x="7113512" y="4929323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Welch FFT</a:t>
            </a:r>
            <a:endParaRPr lang="en-US" sz="16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290C8E4-8837-14D4-8671-4438AF44F062}"/>
              </a:ext>
            </a:extLst>
          </p:cNvPr>
          <p:cNvCxnSpPr>
            <a:cxnSpLocks/>
            <a:stCxn id="24" idx="3"/>
            <a:endCxn id="171" idx="1"/>
          </p:cNvCxnSpPr>
          <p:nvPr/>
        </p:nvCxnSpPr>
        <p:spPr>
          <a:xfrm flipV="1">
            <a:off x="3554650" y="2666845"/>
            <a:ext cx="2080082" cy="3246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4B04C3B5-D142-2A51-9507-7FEDBA9E34FC}"/>
              </a:ext>
            </a:extLst>
          </p:cNvPr>
          <p:cNvCxnSpPr>
            <a:cxnSpLocks/>
            <a:stCxn id="102" idx="2"/>
            <a:endCxn id="162" idx="0"/>
          </p:cNvCxnSpPr>
          <p:nvPr/>
        </p:nvCxnSpPr>
        <p:spPr>
          <a:xfrm rot="16200000" flipH="1">
            <a:off x="7746937" y="6123814"/>
            <a:ext cx="1092842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AA5BAB0-ED2C-454F-C83B-A4AC96E1C361}"/>
              </a:ext>
            </a:extLst>
          </p:cNvPr>
          <p:cNvSpPr/>
          <p:nvPr/>
        </p:nvSpPr>
        <p:spPr>
          <a:xfrm>
            <a:off x="7113512" y="3629149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2/3 Sec Sliding Window </a:t>
            </a:r>
          </a:p>
          <a:p>
            <a:pPr algn="ctr"/>
            <a:r>
              <a:rPr lang="en-US" sz="1400" dirty="0"/>
              <a:t>For </a:t>
            </a:r>
          </a:p>
          <a:p>
            <a:pPr algn="ctr"/>
            <a:r>
              <a:rPr lang="en-US" sz="1400" dirty="0"/>
              <a:t>300 Frames</a:t>
            </a:r>
            <a:endParaRPr lang="en-US" sz="1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CAA5A0-E322-507F-FE2A-3BBF31BA014E}"/>
              </a:ext>
            </a:extLst>
          </p:cNvPr>
          <p:cNvSpPr/>
          <p:nvPr/>
        </p:nvSpPr>
        <p:spPr>
          <a:xfrm>
            <a:off x="3483071" y="6670236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Threshold based HR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6489A8-642E-2926-FF03-6E2A57E2AE98}"/>
              </a:ext>
            </a:extLst>
          </p:cNvPr>
          <p:cNvSpPr/>
          <p:nvPr/>
        </p:nvSpPr>
        <p:spPr>
          <a:xfrm>
            <a:off x="3737715" y="4929323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Welch FFT</a:t>
            </a:r>
            <a:endParaRPr lang="en-US" sz="1600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ED1AC2A-FB93-7858-9628-C232E125DA5E}"/>
              </a:ext>
            </a:extLst>
          </p:cNvPr>
          <p:cNvCxnSpPr>
            <a:cxnSpLocks/>
            <a:stCxn id="52" idx="2"/>
            <a:endCxn id="50" idx="0"/>
          </p:cNvCxnSpPr>
          <p:nvPr/>
        </p:nvCxnSpPr>
        <p:spPr>
          <a:xfrm rot="16200000" flipH="1">
            <a:off x="4371140" y="6123814"/>
            <a:ext cx="1092842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9D25EA4-5852-6D6E-4CC8-7FFD3D209EA7}"/>
              </a:ext>
            </a:extLst>
          </p:cNvPr>
          <p:cNvSpPr/>
          <p:nvPr/>
        </p:nvSpPr>
        <p:spPr>
          <a:xfrm>
            <a:off x="3737715" y="3629149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8 Sec Sliding Window For</a:t>
            </a:r>
          </a:p>
          <a:p>
            <a:pPr algn="ctr"/>
            <a:r>
              <a:rPr lang="en-US" sz="1400" dirty="0"/>
              <a:t>Full Length Video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27A30E5-B678-5FC2-602E-66BDB9F8DAAD}"/>
              </a:ext>
            </a:extLst>
          </p:cNvPr>
          <p:cNvCxnSpPr>
            <a:cxnSpLocks/>
            <a:stCxn id="171" idx="2"/>
            <a:endCxn id="55" idx="0"/>
          </p:cNvCxnSpPr>
          <p:nvPr/>
        </p:nvCxnSpPr>
        <p:spPr>
          <a:xfrm flipH="1">
            <a:off x="4917561" y="3188030"/>
            <a:ext cx="1869822" cy="44111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90D9687-9855-9B85-4AA3-6F150A7508A5}"/>
              </a:ext>
            </a:extLst>
          </p:cNvPr>
          <p:cNvCxnSpPr>
            <a:cxnSpLocks/>
          </p:cNvCxnSpPr>
          <p:nvPr/>
        </p:nvCxnSpPr>
        <p:spPr>
          <a:xfrm>
            <a:off x="6682522" y="3188030"/>
            <a:ext cx="1610835" cy="44111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68EC989-7610-DEBB-40F4-849BA8BFD02F}"/>
              </a:ext>
            </a:extLst>
          </p:cNvPr>
          <p:cNvCxnSpPr>
            <a:cxnSpLocks/>
            <a:stCxn id="55" idx="2"/>
            <a:endCxn id="52" idx="0"/>
          </p:cNvCxnSpPr>
          <p:nvPr/>
        </p:nvCxnSpPr>
        <p:spPr>
          <a:xfrm>
            <a:off x="4917561" y="4277220"/>
            <a:ext cx="0" cy="6521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596D032-2613-3FAF-63F4-F6C2191D0487}"/>
              </a:ext>
            </a:extLst>
          </p:cNvPr>
          <p:cNvCxnSpPr>
            <a:cxnSpLocks/>
            <a:stCxn id="43" idx="2"/>
            <a:endCxn id="102" idx="0"/>
          </p:cNvCxnSpPr>
          <p:nvPr/>
        </p:nvCxnSpPr>
        <p:spPr>
          <a:xfrm>
            <a:off x="8293358" y="4277220"/>
            <a:ext cx="0" cy="6521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601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A29983-1D6A-106E-D63D-01BB7FD4A04A}"/>
              </a:ext>
            </a:extLst>
          </p:cNvPr>
          <p:cNvSpPr/>
          <p:nvPr/>
        </p:nvSpPr>
        <p:spPr>
          <a:xfrm>
            <a:off x="305046" y="1866116"/>
            <a:ext cx="1497764" cy="16611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C7BA45-687F-574D-4004-B6409970A76F}"/>
              </a:ext>
            </a:extLst>
          </p:cNvPr>
          <p:cNvSpPr/>
          <p:nvPr/>
        </p:nvSpPr>
        <p:spPr>
          <a:xfrm>
            <a:off x="4143486" y="1948191"/>
            <a:ext cx="6286270" cy="1850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More Experiment Paths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C986E4-9615-0CC8-C9F7-56DB9A91E12F}"/>
              </a:ext>
            </a:extLst>
          </p:cNvPr>
          <p:cNvSpPr/>
          <p:nvPr/>
        </p:nvSpPr>
        <p:spPr>
          <a:xfrm>
            <a:off x="189832" y="1062073"/>
            <a:ext cx="864096" cy="442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83961-E3C1-A8E4-682D-50F769000A62}"/>
              </a:ext>
            </a:extLst>
          </p:cNvPr>
          <p:cNvSpPr/>
          <p:nvPr/>
        </p:nvSpPr>
        <p:spPr>
          <a:xfrm>
            <a:off x="1138904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C514B-5432-1438-9E3F-6FD5EAA5F30D}"/>
              </a:ext>
            </a:extLst>
          </p:cNvPr>
          <p:cNvSpPr/>
          <p:nvPr/>
        </p:nvSpPr>
        <p:spPr>
          <a:xfrm>
            <a:off x="208797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427E8-4495-C858-0B39-05BFEB280237}"/>
              </a:ext>
            </a:extLst>
          </p:cNvPr>
          <p:cNvSpPr/>
          <p:nvPr/>
        </p:nvSpPr>
        <p:spPr>
          <a:xfrm>
            <a:off x="3028146" y="1062073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A7356D-A02A-2034-FD3F-58127C975730}"/>
              </a:ext>
            </a:extLst>
          </p:cNvPr>
          <p:cNvSpPr/>
          <p:nvPr/>
        </p:nvSpPr>
        <p:spPr>
          <a:xfrm>
            <a:off x="3968316" y="1072679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49903-3352-A106-DD67-F5B963E12789}"/>
              </a:ext>
            </a:extLst>
          </p:cNvPr>
          <p:cNvSpPr/>
          <p:nvPr/>
        </p:nvSpPr>
        <p:spPr>
          <a:xfrm>
            <a:off x="5665357" y="1061508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982D7-0AF7-D7E0-E9B4-CC9B7311A1A3}"/>
              </a:ext>
            </a:extLst>
          </p:cNvPr>
          <p:cNvSpPr/>
          <p:nvPr/>
        </p:nvSpPr>
        <p:spPr>
          <a:xfrm>
            <a:off x="6589615" y="1073245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793FFB-7D17-CD72-8344-87BC98043603}"/>
              </a:ext>
            </a:extLst>
          </p:cNvPr>
          <p:cNvSpPr/>
          <p:nvPr/>
        </p:nvSpPr>
        <p:spPr>
          <a:xfrm>
            <a:off x="7507985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ABCF4-4E4E-F35E-CAE7-251221A5221F}"/>
              </a:ext>
            </a:extLst>
          </p:cNvPr>
          <p:cNvSpPr/>
          <p:nvPr/>
        </p:nvSpPr>
        <p:spPr>
          <a:xfrm>
            <a:off x="8432243" y="1083851"/>
            <a:ext cx="864096" cy="43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 49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C642E7-3263-A562-43FF-1CDE7DB9114C}"/>
              </a:ext>
            </a:extLst>
          </p:cNvPr>
          <p:cNvCxnSpPr>
            <a:cxnSpLocks/>
          </p:cNvCxnSpPr>
          <p:nvPr/>
        </p:nvCxnSpPr>
        <p:spPr>
          <a:xfrm flipV="1">
            <a:off x="4914652" y="1482384"/>
            <a:ext cx="720080" cy="223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C3F462-0F78-B3EC-5589-E0CFC11F21B6}"/>
              </a:ext>
            </a:extLst>
          </p:cNvPr>
          <p:cNvSpPr/>
          <p:nvPr/>
        </p:nvSpPr>
        <p:spPr>
          <a:xfrm>
            <a:off x="2278541" y="2342671"/>
            <a:ext cx="1276109" cy="7132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Mean</a:t>
            </a:r>
            <a:r>
              <a:rPr lang="en-US" sz="1600" b="1" dirty="0">
                <a:solidFill>
                  <a:srgbClr val="FF0000"/>
                </a:solidFill>
              </a:rPr>
              <a:t> R</a:t>
            </a:r>
            <a:r>
              <a:rPr lang="en-US" sz="1600" b="1" dirty="0">
                <a:solidFill>
                  <a:srgbClr val="00B050"/>
                </a:solidFill>
              </a:rPr>
              <a:t>G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/>
              <a:t> </a:t>
            </a:r>
          </a:p>
          <a:p>
            <a:pPr algn="ctr"/>
            <a:r>
              <a:rPr lang="en-US" sz="1600" dirty="0"/>
              <a:t>Extraction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1E0987-495C-E37C-6268-56AA84CA0C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96" y="2127781"/>
            <a:ext cx="1137830" cy="113783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B5BA5BB-376B-C2BB-3888-EADB82417BED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657210" y="1469397"/>
            <a:ext cx="361389" cy="432048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92A6F77-E3FB-AD09-5563-C52760A8F1B1}"/>
              </a:ext>
            </a:extLst>
          </p:cNvPr>
          <p:cNvCxnSpPr>
            <a:cxnSpLocks/>
            <a:stCxn id="8" idx="2"/>
            <a:endCxn id="32" idx="0"/>
          </p:cNvCxnSpPr>
          <p:nvPr/>
        </p:nvCxnSpPr>
        <p:spPr>
          <a:xfrm rot="5400000">
            <a:off x="1126443" y="1421606"/>
            <a:ext cx="371995" cy="51702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8EB3C9C-02E0-8FF4-BB75-2994DC3E2A3A}"/>
              </a:ext>
            </a:extLst>
          </p:cNvPr>
          <p:cNvCxnSpPr>
            <a:cxnSpLocks/>
            <a:stCxn id="9" idx="2"/>
            <a:endCxn id="32" idx="0"/>
          </p:cNvCxnSpPr>
          <p:nvPr/>
        </p:nvCxnSpPr>
        <p:spPr>
          <a:xfrm rot="5400000">
            <a:off x="1600979" y="947070"/>
            <a:ext cx="371995" cy="14660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12C3BDA-D736-65F0-B803-86472996EEAA}"/>
              </a:ext>
            </a:extLst>
          </p:cNvPr>
          <p:cNvCxnSpPr>
            <a:cxnSpLocks/>
            <a:stCxn id="10" idx="2"/>
            <a:endCxn id="32" idx="0"/>
          </p:cNvCxnSpPr>
          <p:nvPr/>
        </p:nvCxnSpPr>
        <p:spPr>
          <a:xfrm rot="5400000">
            <a:off x="2071064" y="476985"/>
            <a:ext cx="371995" cy="240626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6E05CDBD-6D8C-E87F-277A-974138B1DC43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 rot="5400000">
            <a:off x="2546452" y="12203"/>
            <a:ext cx="361389" cy="334643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82019AC-7969-E8EA-39DF-FE882B1826A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5400000">
            <a:off x="3389387" y="-841902"/>
            <a:ext cx="372560" cy="50434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1D3C3F5-F602-ED29-AC97-EFFD6C978097}"/>
              </a:ext>
            </a:extLst>
          </p:cNvPr>
          <p:cNvCxnSpPr>
            <a:cxnSpLocks/>
            <a:stCxn id="13" idx="2"/>
            <a:endCxn id="32" idx="0"/>
          </p:cNvCxnSpPr>
          <p:nvPr/>
        </p:nvCxnSpPr>
        <p:spPr>
          <a:xfrm rot="5400000">
            <a:off x="3857385" y="-1298163"/>
            <a:ext cx="360823" cy="5967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FAE7F6A-1885-E55C-BEBE-691BDCF46B55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4321873" y="-1752045"/>
            <a:ext cx="350217" cy="68861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1E6941D-F401-4F1C-ED8B-D12ECDBAAE4B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 rot="5400000">
            <a:off x="4784002" y="-2214174"/>
            <a:ext cx="350217" cy="781036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B8AAAE5-79AB-3729-A85F-916067380559}"/>
              </a:ext>
            </a:extLst>
          </p:cNvPr>
          <p:cNvSpPr txBox="1"/>
          <p:nvPr/>
        </p:nvSpPr>
        <p:spPr>
          <a:xfrm>
            <a:off x="758536" y="3246793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All ROI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5E6F739-3D8D-7463-2A1F-C9573C8F35D7}"/>
              </a:ext>
            </a:extLst>
          </p:cNvPr>
          <p:cNvCxnSpPr>
            <a:cxnSpLocks/>
            <a:stCxn id="32" idx="3"/>
            <a:endCxn id="24" idx="1"/>
          </p:cNvCxnSpPr>
          <p:nvPr/>
        </p:nvCxnSpPr>
        <p:spPr>
          <a:xfrm>
            <a:off x="1802810" y="2696696"/>
            <a:ext cx="475731" cy="261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155DBC7C-FBAE-9A5E-2F3F-0E96F49BDFBD}"/>
              </a:ext>
            </a:extLst>
          </p:cNvPr>
          <p:cNvSpPr/>
          <p:nvPr/>
        </p:nvSpPr>
        <p:spPr>
          <a:xfrm>
            <a:off x="4271951" y="3183992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ICA1 + ICA2 + ICA3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A555BE-3F03-58DA-6FCE-9C4820434555}"/>
              </a:ext>
            </a:extLst>
          </p:cNvPr>
          <p:cNvSpPr/>
          <p:nvPr/>
        </p:nvSpPr>
        <p:spPr>
          <a:xfrm>
            <a:off x="4298142" y="2601979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Eulerian 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Amplified 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86B9BA2-655C-C717-2F8F-7AD13E806D69}"/>
              </a:ext>
            </a:extLst>
          </p:cNvPr>
          <p:cNvSpPr/>
          <p:nvPr/>
        </p:nvSpPr>
        <p:spPr>
          <a:xfrm>
            <a:off x="5358697" y="2070970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ICA1+ICA2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5AB395C-875F-0344-0971-9FAFEC534660}"/>
              </a:ext>
            </a:extLst>
          </p:cNvPr>
          <p:cNvSpPr/>
          <p:nvPr/>
        </p:nvSpPr>
        <p:spPr>
          <a:xfrm>
            <a:off x="7453711" y="2615421"/>
            <a:ext cx="864096" cy="4426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PBV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 Signal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4C527C7-98E3-35EC-997A-74F660719553}"/>
              </a:ext>
            </a:extLst>
          </p:cNvPr>
          <p:cNvSpPr/>
          <p:nvPr/>
        </p:nvSpPr>
        <p:spPr>
          <a:xfrm>
            <a:off x="6394835" y="2958383"/>
            <a:ext cx="878397" cy="5075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PCA1 + PCA2 + PCA3 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4398988-24AF-DE5E-B5D0-132F3E05F95B}"/>
              </a:ext>
            </a:extLst>
          </p:cNvPr>
          <p:cNvSpPr/>
          <p:nvPr/>
        </p:nvSpPr>
        <p:spPr>
          <a:xfrm>
            <a:off x="5381836" y="3183992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ICA2+ICA3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739FB3-EC62-A1EF-34B1-1A1D12050B63}"/>
              </a:ext>
            </a:extLst>
          </p:cNvPr>
          <p:cNvSpPr/>
          <p:nvPr/>
        </p:nvSpPr>
        <p:spPr>
          <a:xfrm>
            <a:off x="5381836" y="2633085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ICA1+ICA2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8390737-6E32-615F-DC24-C09B31FB7426}"/>
              </a:ext>
            </a:extLst>
          </p:cNvPr>
          <p:cNvSpPr/>
          <p:nvPr/>
        </p:nvSpPr>
        <p:spPr>
          <a:xfrm>
            <a:off x="6452414" y="2100737"/>
            <a:ext cx="864096" cy="7122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Kalman POS + Kalman Green 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0270DA7-610A-FCD6-192C-ACC43CB4E4FB}"/>
              </a:ext>
            </a:extLst>
          </p:cNvPr>
          <p:cNvSpPr/>
          <p:nvPr/>
        </p:nvSpPr>
        <p:spPr>
          <a:xfrm>
            <a:off x="7480098" y="2070970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LGI Signal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355BB39-5559-2B05-AD2F-8F2AE6E514F4}"/>
              </a:ext>
            </a:extLst>
          </p:cNvPr>
          <p:cNvSpPr/>
          <p:nvPr/>
        </p:nvSpPr>
        <p:spPr>
          <a:xfrm>
            <a:off x="9371879" y="2083851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 PCA2+PCA3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AD9C4AE-BBB8-FB12-E2D6-DF72CA47BF64}"/>
              </a:ext>
            </a:extLst>
          </p:cNvPr>
          <p:cNvSpPr/>
          <p:nvPr/>
        </p:nvSpPr>
        <p:spPr>
          <a:xfrm>
            <a:off x="8425988" y="2647420"/>
            <a:ext cx="1809987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POS++ + Wavelet POS + POS++ Adaptive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2B2F04E-C4AF-F712-33D0-AD4C6878D941}"/>
              </a:ext>
            </a:extLst>
          </p:cNvPr>
          <p:cNvSpPr/>
          <p:nvPr/>
        </p:nvSpPr>
        <p:spPr>
          <a:xfrm>
            <a:off x="2401521" y="4246448"/>
            <a:ext cx="2001926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 Peak Detection Methods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FAF7713-820D-7FCD-E6F3-9EEE28876478}"/>
              </a:ext>
            </a:extLst>
          </p:cNvPr>
          <p:cNvSpPr/>
          <p:nvPr/>
        </p:nvSpPr>
        <p:spPr>
          <a:xfrm>
            <a:off x="4288119" y="2081277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CHROM, POS, LGI </a:t>
            </a:r>
          </a:p>
        </p:txBody>
      </p: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C1726E0C-179B-BBA9-37A1-A907A4285EDC}"/>
              </a:ext>
            </a:extLst>
          </p:cNvPr>
          <p:cNvCxnSpPr>
            <a:cxnSpLocks/>
            <a:stCxn id="145" idx="2"/>
            <a:endCxn id="119" idx="0"/>
          </p:cNvCxnSpPr>
          <p:nvPr/>
        </p:nvCxnSpPr>
        <p:spPr>
          <a:xfrm rot="5400000">
            <a:off x="5120665" y="2080491"/>
            <a:ext cx="447777" cy="3884137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3A27AA3-3C2D-B09E-71E3-2EB5CD0EDA6F}"/>
              </a:ext>
            </a:extLst>
          </p:cNvPr>
          <p:cNvSpPr/>
          <p:nvPr/>
        </p:nvSpPr>
        <p:spPr>
          <a:xfrm>
            <a:off x="438814" y="6831687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Normal HR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BB9453B-91E3-BB63-896B-AEC2516E4365}"/>
              </a:ext>
            </a:extLst>
          </p:cNvPr>
          <p:cNvSpPr/>
          <p:nvPr/>
        </p:nvSpPr>
        <p:spPr>
          <a:xfrm>
            <a:off x="3461093" y="6824520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Z Scored Based HR 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995D8F0-2707-7527-44AF-7BD5328173F9}"/>
              </a:ext>
            </a:extLst>
          </p:cNvPr>
          <p:cNvSpPr/>
          <p:nvPr/>
        </p:nvSpPr>
        <p:spPr>
          <a:xfrm>
            <a:off x="6624878" y="6831687"/>
            <a:ext cx="2868981" cy="3673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Threshold based HR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DC5A5C3-1C5F-A437-CDDF-03DA4DE09614}"/>
              </a:ext>
            </a:extLst>
          </p:cNvPr>
          <p:cNvCxnSpPr>
            <a:cxnSpLocks/>
            <a:stCxn id="119" idx="2"/>
            <a:endCxn id="94" idx="0"/>
          </p:cNvCxnSpPr>
          <p:nvPr/>
        </p:nvCxnSpPr>
        <p:spPr>
          <a:xfrm rot="16200000" flipH="1">
            <a:off x="3892342" y="4404660"/>
            <a:ext cx="502119" cy="148183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6F54C9F-8971-21C7-5483-BA39EA3BCE93}"/>
              </a:ext>
            </a:extLst>
          </p:cNvPr>
          <p:cNvCxnSpPr>
            <a:cxnSpLocks/>
            <a:stCxn id="119" idx="2"/>
            <a:endCxn id="93" idx="0"/>
          </p:cNvCxnSpPr>
          <p:nvPr/>
        </p:nvCxnSpPr>
        <p:spPr>
          <a:xfrm rot="5400000">
            <a:off x="2251607" y="4240432"/>
            <a:ext cx="496790" cy="180496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7F1AFB7-647B-D3AE-1996-AB27FF32D98D}"/>
              </a:ext>
            </a:extLst>
          </p:cNvPr>
          <p:cNvSpPr/>
          <p:nvPr/>
        </p:nvSpPr>
        <p:spPr>
          <a:xfrm>
            <a:off x="7496226" y="3249882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PCA1+PCA2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F2BF3C7-D911-7435-B08D-202FE3BE9D88}"/>
              </a:ext>
            </a:extLst>
          </p:cNvPr>
          <p:cNvSpPr/>
          <p:nvPr/>
        </p:nvSpPr>
        <p:spPr>
          <a:xfrm>
            <a:off x="8425988" y="2070970"/>
            <a:ext cx="864096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PCA1+PCA3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A6EAEE3-C6BD-1803-A7A0-B514077D2DD1}"/>
              </a:ext>
            </a:extLst>
          </p:cNvPr>
          <p:cNvSpPr/>
          <p:nvPr/>
        </p:nvSpPr>
        <p:spPr>
          <a:xfrm>
            <a:off x="596557" y="5391309"/>
            <a:ext cx="2001926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Median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DA92EF9-6A66-E668-6398-CB6DC98D4F3C}"/>
              </a:ext>
            </a:extLst>
          </p:cNvPr>
          <p:cNvSpPr/>
          <p:nvPr/>
        </p:nvSpPr>
        <p:spPr>
          <a:xfrm>
            <a:off x="3704473" y="5396638"/>
            <a:ext cx="2359691" cy="6480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Heuristic Approaches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290C8E4-8837-14D4-8671-4438AF44F062}"/>
              </a:ext>
            </a:extLst>
          </p:cNvPr>
          <p:cNvCxnSpPr>
            <a:cxnSpLocks/>
            <a:stCxn id="24" idx="3"/>
            <a:endCxn id="145" idx="1"/>
          </p:cNvCxnSpPr>
          <p:nvPr/>
        </p:nvCxnSpPr>
        <p:spPr>
          <a:xfrm>
            <a:off x="3554650" y="2699307"/>
            <a:ext cx="588836" cy="17412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B2812928-C6E6-481A-549F-7BBEC3893E38}"/>
              </a:ext>
            </a:extLst>
          </p:cNvPr>
          <p:cNvCxnSpPr>
            <a:cxnSpLocks/>
            <a:stCxn id="94" idx="2"/>
            <a:endCxn id="160" idx="0"/>
          </p:cNvCxnSpPr>
          <p:nvPr/>
        </p:nvCxnSpPr>
        <p:spPr>
          <a:xfrm rot="5400000">
            <a:off x="2985323" y="4932691"/>
            <a:ext cx="786978" cy="301101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F2B81D78-AE31-C591-4EC4-9FFEEE4BFAB7}"/>
              </a:ext>
            </a:extLst>
          </p:cNvPr>
          <p:cNvCxnSpPr>
            <a:cxnSpLocks/>
            <a:stCxn id="94" idx="2"/>
            <a:endCxn id="161" idx="0"/>
          </p:cNvCxnSpPr>
          <p:nvPr/>
        </p:nvCxnSpPr>
        <p:spPr>
          <a:xfrm rot="16200000" flipH="1">
            <a:off x="4500046" y="6428981"/>
            <a:ext cx="779811" cy="1126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A9780681-0A55-D30F-DB66-5A64822DFA5F}"/>
              </a:ext>
            </a:extLst>
          </p:cNvPr>
          <p:cNvCxnSpPr>
            <a:cxnSpLocks/>
            <a:stCxn id="94" idx="2"/>
            <a:endCxn id="162" idx="0"/>
          </p:cNvCxnSpPr>
          <p:nvPr/>
        </p:nvCxnSpPr>
        <p:spPr>
          <a:xfrm rot="16200000" flipH="1">
            <a:off x="6078355" y="4850673"/>
            <a:ext cx="786978" cy="317505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AD90F453-7967-6542-38B0-D8716153BA33}"/>
              </a:ext>
            </a:extLst>
          </p:cNvPr>
          <p:cNvCxnSpPr>
            <a:cxnSpLocks/>
            <a:stCxn id="93" idx="2"/>
            <a:endCxn id="160" idx="0"/>
          </p:cNvCxnSpPr>
          <p:nvPr/>
        </p:nvCxnSpPr>
        <p:spPr>
          <a:xfrm rot="16200000" flipH="1">
            <a:off x="1339259" y="6297640"/>
            <a:ext cx="792307" cy="27578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0F03D1F6-782C-1796-8F16-0365E0758FD8}"/>
              </a:ext>
            </a:extLst>
          </p:cNvPr>
          <p:cNvCxnSpPr>
            <a:cxnSpLocks/>
            <a:stCxn id="93" idx="2"/>
            <a:endCxn id="161" idx="0"/>
          </p:cNvCxnSpPr>
          <p:nvPr/>
        </p:nvCxnSpPr>
        <p:spPr>
          <a:xfrm rot="16200000" flipH="1">
            <a:off x="2853982" y="4782918"/>
            <a:ext cx="785140" cy="329806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16322B9-BF06-5C7E-CFEC-FD170DBD0F1E}"/>
              </a:ext>
            </a:extLst>
          </p:cNvPr>
          <p:cNvCxnSpPr>
            <a:cxnSpLocks/>
            <a:stCxn id="93" idx="2"/>
            <a:endCxn id="162" idx="0"/>
          </p:cNvCxnSpPr>
          <p:nvPr/>
        </p:nvCxnSpPr>
        <p:spPr>
          <a:xfrm rot="16200000" flipH="1">
            <a:off x="4432291" y="3204608"/>
            <a:ext cx="792307" cy="646184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890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5201</TotalTime>
  <Words>781</Words>
  <Application>Microsoft Office PowerPoint</Application>
  <PresentationFormat>Custom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Caladea</vt:lpstr>
      <vt:lpstr>HY견고딕</vt:lpstr>
      <vt:lpstr>HY중고딕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76</cp:revision>
  <cp:lastPrinted>2012-01-03T07:03:32Z</cp:lastPrinted>
  <dcterms:created xsi:type="dcterms:W3CDTF">2011-12-29T06:45:05Z</dcterms:created>
  <dcterms:modified xsi:type="dcterms:W3CDTF">2025-07-08T06:23:34Z</dcterms:modified>
</cp:coreProperties>
</file>