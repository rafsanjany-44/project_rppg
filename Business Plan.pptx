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YKLVxCw1ZesDO7f4WidNARtm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FE4D12-8106-41DA-BCBE-EBF9307FF147}">
  <a:tblStyle styleId="{CDFE4D12-8106-41DA-BCBE-EBF9307FF1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a0130647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aa0130647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05495" y="1315441"/>
            <a:ext cx="9009410" cy="6082798"/>
          </a:xfrm>
          <a:custGeom>
            <a:rect b="b" l="l" r="r" t="t"/>
            <a:pathLst>
              <a:path extrusionOk="0" h="2219021" w="3286657">
                <a:moveTo>
                  <a:pt x="0" y="0"/>
                </a:moveTo>
                <a:lnTo>
                  <a:pt x="3286657" y="0"/>
                </a:lnTo>
                <a:lnTo>
                  <a:pt x="3286657" y="2219021"/>
                </a:lnTo>
                <a:lnTo>
                  <a:pt x="0" y="22190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flipH="1">
            <a:off x="-2156129" y="8872350"/>
            <a:ext cx="6662470" cy="1611106"/>
          </a:xfrm>
          <a:custGeom>
            <a:rect b="b" l="l" r="r" t="t"/>
            <a:pathLst>
              <a:path extrusionOk="0" h="1611106" w="6662470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flipH="1">
            <a:off x="14791434" y="-196457"/>
            <a:ext cx="5652695" cy="1366924"/>
          </a:xfrm>
          <a:custGeom>
            <a:rect b="b" l="l" r="r" t="t"/>
            <a:pathLst>
              <a:path extrusionOk="0" h="1366924" w="5652695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0261150" y="1315441"/>
            <a:ext cx="7087021" cy="7701883"/>
          </a:xfrm>
          <a:custGeom>
            <a:rect b="b" l="l" r="r" t="t"/>
            <a:pathLst>
              <a:path extrusionOk="0" h="2809668" w="2585364">
                <a:moveTo>
                  <a:pt x="0" y="0"/>
                </a:moveTo>
                <a:lnTo>
                  <a:pt x="2585364" y="0"/>
                </a:lnTo>
                <a:lnTo>
                  <a:pt x="2585364" y="2809668"/>
                </a:lnTo>
                <a:lnTo>
                  <a:pt x="0" y="2809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4765643" y="8090431"/>
            <a:ext cx="5149262" cy="926893"/>
            <a:chOff x="0" y="0"/>
            <a:chExt cx="6865682" cy="1235858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6865682" cy="1235858"/>
            </a:xfrm>
            <a:custGeom>
              <a:rect b="b" l="l" r="r" t="t"/>
              <a:pathLst>
                <a:path extrusionOk="0" h="338133" w="1878465">
                  <a:moveTo>
                    <a:pt x="0" y="0"/>
                  </a:moveTo>
                  <a:lnTo>
                    <a:pt x="1878465" y="0"/>
                  </a:lnTo>
                  <a:lnTo>
                    <a:pt x="1878465" y="338133"/>
                  </a:lnTo>
                  <a:lnTo>
                    <a:pt x="0" y="3381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>
              <a:off x="408587" y="418989"/>
              <a:ext cx="450823" cy="450823"/>
            </a:xfrm>
            <a:custGeom>
              <a:rect b="b" l="l" r="r" t="t"/>
              <a:pathLst>
                <a:path extrusionOk="0" h="450823" w="450823">
                  <a:moveTo>
                    <a:pt x="0" y="0"/>
                  </a:moveTo>
                  <a:lnTo>
                    <a:pt x="450822" y="0"/>
                  </a:lnTo>
                  <a:lnTo>
                    <a:pt x="450822" y="450823"/>
                  </a:lnTo>
                  <a:lnTo>
                    <a:pt x="0" y="4508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1142357" y="376840"/>
              <a:ext cx="5432627" cy="4929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swappscorporations.com</a:t>
              </a:r>
              <a:endParaRPr/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16100246" y="3001723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 rot="-203414">
            <a:off x="11173930" y="3499519"/>
            <a:ext cx="321948" cy="461574"/>
          </a:xfrm>
          <a:custGeom>
            <a:rect b="b" l="l" r="r" t="t"/>
            <a:pathLst>
              <a:path extrusionOk="0" h="461574" w="321948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887383" y="8090431"/>
            <a:ext cx="3544008" cy="926893"/>
          </a:xfrm>
          <a:custGeom>
            <a:rect b="b" l="l" r="r" t="t"/>
            <a:pathLst>
              <a:path extrusionOk="0" h="338133" w="1292864">
                <a:moveTo>
                  <a:pt x="0" y="0"/>
                </a:moveTo>
                <a:lnTo>
                  <a:pt x="1292864" y="0"/>
                </a:lnTo>
                <a:lnTo>
                  <a:pt x="1292864" y="338133"/>
                </a:lnTo>
                <a:lnTo>
                  <a:pt x="0" y="3381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2075269" y="8388460"/>
            <a:ext cx="2127255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SwApps Corporations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1797859" y="3893393"/>
            <a:ext cx="4013602" cy="4197037"/>
          </a:xfrm>
          <a:custGeom>
            <a:rect b="b" l="l" r="r" t="t"/>
            <a:pathLst>
              <a:path extrusionOk="0" h="4197037" w="4013602">
                <a:moveTo>
                  <a:pt x="0" y="0"/>
                </a:moveTo>
                <a:lnTo>
                  <a:pt x="4013602" y="0"/>
                </a:lnTo>
                <a:lnTo>
                  <a:pt x="4013602" y="4197038"/>
                </a:lnTo>
                <a:lnTo>
                  <a:pt x="0" y="4197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6221" l="-57252" r="-58135" t="0"/>
            </a:stretch>
          </a:blipFill>
          <a:ln>
            <a:noFill/>
          </a:ln>
        </p:spPr>
      </p:sp>
      <p:grpSp>
        <p:nvGrpSpPr>
          <p:cNvPr id="98" name="Google Shape;98;p1"/>
          <p:cNvGrpSpPr/>
          <p:nvPr/>
        </p:nvGrpSpPr>
        <p:grpSpPr>
          <a:xfrm>
            <a:off x="1437079" y="3293421"/>
            <a:ext cx="7946241" cy="2198277"/>
            <a:chOff x="0" y="95250"/>
            <a:chExt cx="10594989" cy="2931036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0" y="95250"/>
              <a:ext cx="10594989" cy="216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Closet Hug</a:t>
              </a: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2429386"/>
              <a:ext cx="10594989" cy="59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Give Clothes a Second Life — and a Hug.</a:t>
              </a:r>
              <a:endParaRPr/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1239833" y="8219115"/>
            <a:ext cx="640263" cy="669525"/>
          </a:xfrm>
          <a:custGeom>
            <a:rect b="b" l="l" r="r" t="t"/>
            <a:pathLst>
              <a:path extrusionOk="0" h="669525" w="640263">
                <a:moveTo>
                  <a:pt x="0" y="0"/>
                </a:moveTo>
                <a:lnTo>
                  <a:pt x="640263" y="0"/>
                </a:lnTo>
                <a:lnTo>
                  <a:pt x="640263" y="669525"/>
                </a:lnTo>
                <a:lnTo>
                  <a:pt x="0" y="669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36221" l="-57252" r="-58135" t="0"/>
            </a:stretch>
          </a:blipFill>
          <a:ln>
            <a:noFill/>
          </a:ln>
        </p:spPr>
      </p:sp>
      <p:sp>
        <p:nvSpPr>
          <p:cNvPr id="102" name="Google Shape;102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05495" y="680808"/>
            <a:ext cx="16439378" cy="3503822"/>
          </a:xfrm>
          <a:custGeom>
            <a:rect b="b" l="l" r="r" t="t"/>
            <a:pathLst>
              <a:path extrusionOk="0" h="1278204" w="5997129">
                <a:moveTo>
                  <a:pt x="0" y="0"/>
                </a:moveTo>
                <a:lnTo>
                  <a:pt x="5997129" y="0"/>
                </a:lnTo>
                <a:lnTo>
                  <a:pt x="5997129" y="1278204"/>
                </a:lnTo>
                <a:lnTo>
                  <a:pt x="0" y="12782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aphicFrame>
        <p:nvGraphicFramePr>
          <p:cNvPr id="109" name="Google Shape;109;p2"/>
          <p:cNvGraphicFramePr/>
          <p:nvPr/>
        </p:nvGraphicFramePr>
        <p:xfrm>
          <a:off x="905495" y="4534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{CDFE4D12-8106-41DA-BCBE-EBF9307FF147}</a:tableStyleId>
              </a:tblPr>
              <a:tblGrid>
                <a:gridCol w="8252475"/>
                <a:gridCol w="8186900"/>
              </a:tblGrid>
              <a:tr h="1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sustainable clothing-swap app built for the circular economy.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Lets users swap clothes easily and earn rewards.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9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community platform where fashion is shared, not wasted.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Builds trust through verification, reviews, and quality checks.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95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point-based system that replaces buying with swapping.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Cuts fashion waste while saving users money.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10;p2"/>
          <p:cNvSpPr/>
          <p:nvPr/>
        </p:nvSpPr>
        <p:spPr>
          <a:xfrm>
            <a:off x="11989663" y="8797919"/>
            <a:ext cx="7147788" cy="1728465"/>
          </a:xfrm>
          <a:custGeom>
            <a:rect b="b" l="l" r="r" t="t"/>
            <a:pathLst>
              <a:path extrusionOk="0" h="1728465" w="7147788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1702764" y="8942224"/>
            <a:ext cx="573798" cy="822649"/>
          </a:xfrm>
          <a:custGeom>
            <a:rect b="b" l="l" r="r" t="t"/>
            <a:pathLst>
              <a:path extrusionOk="0" h="822649" w="573798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3318882" y="-411324"/>
            <a:ext cx="573798" cy="822649"/>
          </a:xfrm>
          <a:custGeom>
            <a:rect b="b" l="l" r="r" t="t"/>
            <a:pathLst>
              <a:path extrusionOk="0" h="822649" w="573798">
                <a:moveTo>
                  <a:pt x="0" y="0"/>
                </a:moveTo>
                <a:lnTo>
                  <a:pt x="573798" y="0"/>
                </a:lnTo>
                <a:lnTo>
                  <a:pt x="573798" y="822648"/>
                </a:lnTo>
                <a:lnTo>
                  <a:pt x="0" y="822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-608297" y="158885"/>
            <a:ext cx="3927179" cy="1392364"/>
          </a:xfrm>
          <a:custGeom>
            <a:rect b="b" l="l" r="r" t="t"/>
            <a:pathLst>
              <a:path extrusionOk="0" h="1392364" w="3927179">
                <a:moveTo>
                  <a:pt x="0" y="0"/>
                </a:moveTo>
                <a:lnTo>
                  <a:pt x="3927179" y="0"/>
                </a:lnTo>
                <a:lnTo>
                  <a:pt x="3927179" y="1392363"/>
                </a:lnTo>
                <a:lnTo>
                  <a:pt x="0" y="139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2460195" y="1000346"/>
            <a:ext cx="13395565" cy="284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What is it? &amp;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What does it do?</a:t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993775" y="207997"/>
            <a:ext cx="2225550" cy="472800"/>
            <a:chOff x="1190050" y="184397"/>
            <a:chExt cx="2225550" cy="472800"/>
          </a:xfrm>
        </p:grpSpPr>
        <p:sp>
          <p:nvSpPr>
            <p:cNvPr id="116" name="Google Shape;116;p2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01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 flipH="1">
            <a:off x="13393545" y="-560178"/>
            <a:ext cx="5533751" cy="1961966"/>
          </a:xfrm>
          <a:custGeom>
            <a:rect b="b" l="l" r="r" t="t"/>
            <a:pathLst>
              <a:path extrusionOk="0" h="1961966" w="5533751">
                <a:moveTo>
                  <a:pt x="5533751" y="0"/>
                </a:moveTo>
                <a:lnTo>
                  <a:pt x="0" y="0"/>
                </a:lnTo>
                <a:lnTo>
                  <a:pt x="0" y="1961966"/>
                </a:lnTo>
                <a:lnTo>
                  <a:pt x="5533751" y="1961966"/>
                </a:lnTo>
                <a:lnTo>
                  <a:pt x="553375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-1333071" y="8373759"/>
            <a:ext cx="5533751" cy="1961966"/>
          </a:xfrm>
          <a:custGeom>
            <a:rect b="b" l="l" r="r" t="t"/>
            <a:pathLst>
              <a:path extrusionOk="0" h="1961966" w="5533751">
                <a:moveTo>
                  <a:pt x="0" y="0"/>
                </a:moveTo>
                <a:lnTo>
                  <a:pt x="5533751" y="0"/>
                </a:lnTo>
                <a:lnTo>
                  <a:pt x="5533751" y="1961966"/>
                </a:lnTo>
                <a:lnTo>
                  <a:pt x="0" y="1961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 txBox="1"/>
          <p:nvPr/>
        </p:nvSpPr>
        <p:spPr>
          <a:xfrm>
            <a:off x="2343200" y="3006163"/>
            <a:ext cx="137472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“To empower people to exchange fashion, not waste it — building a world where every garment finds a new story.”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2197809" y="1565002"/>
            <a:ext cx="138924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Our Vision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16793505" y="3742304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3"/>
          <p:cNvSpPr/>
          <p:nvPr/>
        </p:nvSpPr>
        <p:spPr>
          <a:xfrm>
            <a:off x="1009650" y="1281714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 txBox="1"/>
          <p:nvPr/>
        </p:nvSpPr>
        <p:spPr>
          <a:xfrm>
            <a:off x="2343200" y="6594125"/>
            <a:ext cx="1374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“To make fashion circular by refreshing wardrobes through a point-based swapping system supported by partnerships with eco-friendly brands.”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2343209" y="5472402"/>
            <a:ext cx="138924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Our </a:t>
            </a:r>
            <a:r>
              <a:rPr b="1" lang="en-US" sz="5499">
                <a:solidFill>
                  <a:srgbClr val="26554C"/>
                </a:solidFill>
              </a:rPr>
              <a:t>Missio</a:t>
            </a: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grpSp>
        <p:nvGrpSpPr>
          <p:cNvPr id="134" name="Google Shape;134;p3"/>
          <p:cNvGrpSpPr/>
          <p:nvPr/>
        </p:nvGrpSpPr>
        <p:grpSpPr>
          <a:xfrm>
            <a:off x="1190050" y="184397"/>
            <a:ext cx="2225550" cy="472800"/>
            <a:chOff x="1190050" y="184397"/>
            <a:chExt cx="2225550" cy="472800"/>
          </a:xfrm>
        </p:grpSpPr>
        <p:sp>
          <p:nvSpPr>
            <p:cNvPr id="135" name="Google Shape;135;p3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3"/>
          <p:cNvGrpSpPr/>
          <p:nvPr/>
        </p:nvGrpSpPr>
        <p:grpSpPr>
          <a:xfrm>
            <a:off x="14811225" y="9379797"/>
            <a:ext cx="2225550" cy="472800"/>
            <a:chOff x="1190050" y="184397"/>
            <a:chExt cx="2225550" cy="472800"/>
          </a:xfrm>
        </p:grpSpPr>
        <p:sp>
          <p:nvSpPr>
            <p:cNvPr id="140" name="Google Shape;140;p3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02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810105" y="2153873"/>
            <a:ext cx="842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Feature/Benefit/Value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905496" y="3856897"/>
            <a:ext cx="8229900" cy="4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90" lvl="1" marL="474979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point-based swapping that makes fashion affordable.</a:t>
            </a:r>
            <a:endParaRPr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checks and reviews that build trust in every exchange.</a:t>
            </a:r>
            <a:endParaRPr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Sustainable wardrobe refresh that reduces textile waste.</a:t>
            </a:r>
            <a:endParaRPr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Gamified rewards that keep users engaged and active.</a:t>
            </a:r>
            <a:endParaRPr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Community-driven platform that scales naturally across campuses and cities.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5301511" y="-207276"/>
            <a:ext cx="4876557" cy="1728961"/>
          </a:xfrm>
          <a:custGeom>
            <a:rect b="b" l="l" r="r" t="t"/>
            <a:pathLst>
              <a:path extrusionOk="0" h="1728961" w="4876557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/>
          <p:nvPr/>
        </p:nvSpPr>
        <p:spPr>
          <a:xfrm rot="10800000">
            <a:off x="8469322" y="9150674"/>
            <a:ext cx="4876557" cy="1728961"/>
          </a:xfrm>
          <a:custGeom>
            <a:rect b="b" l="l" r="r" t="t"/>
            <a:pathLst>
              <a:path extrusionOk="0" h="1728961" w="4876557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>
            <a:off x="639817" y="657497"/>
            <a:ext cx="733083" cy="922803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11301841" y="657198"/>
            <a:ext cx="407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N.A.B.C.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9330550" y="1958325"/>
            <a:ext cx="8017800" cy="6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6" lvl="1" marL="41021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Consumers want </a:t>
            </a:r>
            <a:r>
              <a:rPr b="0" i="0" lang="en-US" sz="19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affordable, reliable ways to refresh their wardrobe without harming the environment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Rising fashion costs, limited variety, and distrust of used clothing create a clear unmet need.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6" lvl="1" marL="41021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0" i="0" lang="en-US" sz="19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trusted clothing-swap ecosystem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point-based exchanges, quality verification, and community hubs. Our app combines </a:t>
            </a:r>
            <a:r>
              <a:rPr b="0" i="0" lang="en-US" sz="19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sustainability, gamification, and user-driven engagement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create a scalable circular fashion platform.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6" lvl="1" marL="41021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save money, gain variety, and enjoy trusted swaps supported by moderation and reviews. The </a:t>
            </a:r>
            <a:r>
              <a:rPr b="0" i="0" lang="en-US" sz="1900" u="none" cap="none" strike="noStrike">
                <a:solidFill>
                  <a:srgbClr val="000000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platform reduces textile waste, promotes conscious fashion habits, and keeps users engaged through rewards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6" lvl="1" marL="41021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Competition: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Closet Hug stands apart from resale apps by </a:t>
            </a:r>
            <a:r>
              <a:rPr b="0" i="0" lang="en-US" sz="1900" u="none" cap="none" strike="noStrike">
                <a:solidFill>
                  <a:srgbClr val="000000"/>
                </a:solidFill>
                <a:highlight>
                  <a:srgbClr val="D9EAD3"/>
                </a:highlight>
                <a:latin typeface="Arial"/>
                <a:ea typeface="Arial"/>
                <a:cs typeface="Arial"/>
                <a:sym typeface="Arial"/>
              </a:rPr>
              <a:t>removing money barriers, ensuring quality control, and prioritizing sustainability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We compete with a community-driven, trust-centered, circular fashion model.</a:t>
            </a:r>
            <a:endParaRPr/>
          </a:p>
        </p:txBody>
      </p:sp>
      <p:grpSp>
        <p:nvGrpSpPr>
          <p:cNvPr id="157" name="Google Shape;157;p5"/>
          <p:cNvGrpSpPr/>
          <p:nvPr/>
        </p:nvGrpSpPr>
        <p:grpSpPr>
          <a:xfrm>
            <a:off x="639825" y="9370922"/>
            <a:ext cx="2225550" cy="472800"/>
            <a:chOff x="1190050" y="184397"/>
            <a:chExt cx="2225550" cy="472800"/>
          </a:xfrm>
        </p:grpSpPr>
        <p:sp>
          <p:nvSpPr>
            <p:cNvPr id="158" name="Google Shape;158;p5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5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03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287525" y="417225"/>
            <a:ext cx="17583600" cy="94938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768754" y="379490"/>
            <a:ext cx="147504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7609762" y="7735400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>
            <a:off x="243671" y="950893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2249731" y="1584034"/>
            <a:ext cx="13756470" cy="8099122"/>
          </a:xfrm>
          <a:custGeom>
            <a:rect b="b" l="l" r="r" t="t"/>
            <a:pathLst>
              <a:path extrusionOk="0" h="8099122" w="13756470">
                <a:moveTo>
                  <a:pt x="0" y="0"/>
                </a:moveTo>
                <a:lnTo>
                  <a:pt x="13756470" y="0"/>
                </a:lnTo>
                <a:lnTo>
                  <a:pt x="13756470" y="8099122"/>
                </a:lnTo>
                <a:lnTo>
                  <a:pt x="0" y="8099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 rot="-278358">
            <a:off x="13186236" y="8760183"/>
            <a:ext cx="5868613" cy="1845945"/>
          </a:xfrm>
          <a:custGeom>
            <a:rect b="b" l="l" r="r" t="t"/>
            <a:pathLst>
              <a:path extrusionOk="0"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6"/>
          <p:cNvSpPr/>
          <p:nvPr/>
        </p:nvSpPr>
        <p:spPr>
          <a:xfrm>
            <a:off x="905495" y="333044"/>
            <a:ext cx="16444941" cy="934419"/>
          </a:xfrm>
          <a:custGeom>
            <a:rect b="b" l="l" r="r" t="t"/>
            <a:pathLst>
              <a:path extrusionOk="0" h="340879" w="5999159">
                <a:moveTo>
                  <a:pt x="0" y="0"/>
                </a:moveTo>
                <a:lnTo>
                  <a:pt x="5999159" y="0"/>
                </a:lnTo>
                <a:lnTo>
                  <a:pt x="5999159" y="340879"/>
                </a:lnTo>
                <a:lnTo>
                  <a:pt x="0" y="340879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174" name="Google Shape;174;p6"/>
          <p:cNvGrpSpPr/>
          <p:nvPr/>
        </p:nvGrpSpPr>
        <p:grpSpPr>
          <a:xfrm>
            <a:off x="1190050" y="184397"/>
            <a:ext cx="2225550" cy="472800"/>
            <a:chOff x="1190050" y="184397"/>
            <a:chExt cx="2225550" cy="472800"/>
          </a:xfrm>
        </p:grpSpPr>
        <p:sp>
          <p:nvSpPr>
            <p:cNvPr id="175" name="Google Shape;175;p6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14667725" y="184397"/>
            <a:ext cx="2225550" cy="472800"/>
            <a:chOff x="1190050" y="184397"/>
            <a:chExt cx="2225550" cy="472800"/>
          </a:xfrm>
        </p:grpSpPr>
        <p:sp>
          <p:nvSpPr>
            <p:cNvPr id="180" name="Google Shape;180;p6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6"/>
          <p:cNvSpPr txBox="1"/>
          <p:nvPr/>
        </p:nvSpPr>
        <p:spPr>
          <a:xfrm>
            <a:off x="0" y="9863775"/>
            <a:ext cx="1068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04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05495" y="657204"/>
            <a:ext cx="16444937" cy="1906519"/>
          </a:xfrm>
          <a:custGeom>
            <a:rect b="b" l="l" r="r" t="t"/>
            <a:pathLst>
              <a:path extrusionOk="0" h="695503" w="5999157">
                <a:moveTo>
                  <a:pt x="0" y="0"/>
                </a:moveTo>
                <a:lnTo>
                  <a:pt x="5999157" y="0"/>
                </a:lnTo>
                <a:lnTo>
                  <a:pt x="5999157" y="695503"/>
                </a:lnTo>
                <a:lnTo>
                  <a:pt x="0" y="695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1" name="Google Shape;191;p7"/>
          <p:cNvSpPr/>
          <p:nvPr/>
        </p:nvSpPr>
        <p:spPr>
          <a:xfrm>
            <a:off x="905495" y="2917134"/>
            <a:ext cx="5135310" cy="5757653"/>
          </a:xfrm>
          <a:custGeom>
            <a:rect b="b" l="l" r="r" t="t"/>
            <a:pathLst>
              <a:path extrusionOk="0" h="2100407" w="1873375">
                <a:moveTo>
                  <a:pt x="0" y="0"/>
                </a:moveTo>
                <a:lnTo>
                  <a:pt x="1873375" y="0"/>
                </a:lnTo>
                <a:lnTo>
                  <a:pt x="1873375" y="2100407"/>
                </a:lnTo>
                <a:lnTo>
                  <a:pt x="0" y="21004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2" name="Google Shape;192;p7"/>
          <p:cNvSpPr/>
          <p:nvPr/>
        </p:nvSpPr>
        <p:spPr>
          <a:xfrm>
            <a:off x="6393239" y="2917134"/>
            <a:ext cx="5461493" cy="5757653"/>
          </a:xfrm>
          <a:custGeom>
            <a:rect b="b" l="l" r="r" t="t"/>
            <a:pathLst>
              <a:path extrusionOk="0" h="2100407" w="1992367">
                <a:moveTo>
                  <a:pt x="0" y="0"/>
                </a:moveTo>
                <a:lnTo>
                  <a:pt x="1992367" y="0"/>
                </a:lnTo>
                <a:lnTo>
                  <a:pt x="1992367" y="2100407"/>
                </a:lnTo>
                <a:lnTo>
                  <a:pt x="0" y="21004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3" name="Google Shape;193;p7"/>
          <p:cNvSpPr/>
          <p:nvPr/>
        </p:nvSpPr>
        <p:spPr>
          <a:xfrm>
            <a:off x="12215125" y="2917125"/>
            <a:ext cx="5250133" cy="5755115"/>
          </a:xfrm>
          <a:custGeom>
            <a:rect b="b" l="l" r="r" t="t"/>
            <a:pathLst>
              <a:path extrusionOk="0" h="2100407" w="1873375">
                <a:moveTo>
                  <a:pt x="0" y="0"/>
                </a:moveTo>
                <a:lnTo>
                  <a:pt x="1873375" y="0"/>
                </a:lnTo>
                <a:lnTo>
                  <a:pt x="1873375" y="2100407"/>
                </a:lnTo>
                <a:lnTo>
                  <a:pt x="0" y="21004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4" name="Google Shape;194;p7"/>
          <p:cNvSpPr txBox="1"/>
          <p:nvPr/>
        </p:nvSpPr>
        <p:spPr>
          <a:xfrm>
            <a:off x="1271113" y="3811198"/>
            <a:ext cx="440407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TAM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2580740" y="3811198"/>
            <a:ext cx="440407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SOM</a:t>
            </a:r>
            <a:endParaRPr/>
          </a:p>
        </p:txBody>
      </p:sp>
      <p:grpSp>
        <p:nvGrpSpPr>
          <p:cNvPr id="196" name="Google Shape;196;p7"/>
          <p:cNvGrpSpPr/>
          <p:nvPr/>
        </p:nvGrpSpPr>
        <p:grpSpPr>
          <a:xfrm>
            <a:off x="7374448" y="8965570"/>
            <a:ext cx="3539104" cy="617207"/>
            <a:chOff x="0" y="0"/>
            <a:chExt cx="4718805" cy="822943"/>
          </a:xfrm>
        </p:grpSpPr>
        <p:sp>
          <p:nvSpPr>
            <p:cNvPr id="197" name="Google Shape;197;p7"/>
            <p:cNvSpPr/>
            <p:nvPr/>
          </p:nvSpPr>
          <p:spPr>
            <a:xfrm>
              <a:off x="0" y="0"/>
              <a:ext cx="4718805" cy="822943"/>
            </a:xfrm>
            <a:custGeom>
              <a:rect b="b" l="l" r="r" t="t"/>
              <a:pathLst>
                <a:path extrusionOk="0" h="225159" w="1291075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8" name="Google Shape;198;p7"/>
            <p:cNvSpPr txBox="1"/>
            <p:nvPr/>
          </p:nvSpPr>
          <p:spPr>
            <a:xfrm>
              <a:off x="307158" y="121700"/>
              <a:ext cx="41046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Customers</a:t>
              </a:r>
              <a:endParaRPr/>
            </a:p>
          </p:txBody>
        </p:sp>
      </p:grpSp>
      <p:sp>
        <p:nvSpPr>
          <p:cNvPr id="199" name="Google Shape;199;p7"/>
          <p:cNvSpPr/>
          <p:nvPr/>
        </p:nvSpPr>
        <p:spPr>
          <a:xfrm flipH="1">
            <a:off x="15524944" y="9028182"/>
            <a:ext cx="4585506" cy="1625770"/>
          </a:xfrm>
          <a:custGeom>
            <a:rect b="b" l="l" r="r" t="t"/>
            <a:pathLst>
              <a:path extrusionOk="0" h="1625770" w="4585506">
                <a:moveTo>
                  <a:pt x="4585506" y="0"/>
                </a:moveTo>
                <a:lnTo>
                  <a:pt x="0" y="0"/>
                </a:lnTo>
                <a:lnTo>
                  <a:pt x="0" y="1625770"/>
                </a:lnTo>
                <a:lnTo>
                  <a:pt x="4585506" y="1625770"/>
                </a:lnTo>
                <a:lnTo>
                  <a:pt x="458550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7"/>
          <p:cNvSpPr/>
          <p:nvPr/>
        </p:nvSpPr>
        <p:spPr>
          <a:xfrm>
            <a:off x="-1822450" y="8674782"/>
            <a:ext cx="4585506" cy="1625770"/>
          </a:xfrm>
          <a:custGeom>
            <a:rect b="b" l="l" r="r" t="t"/>
            <a:pathLst>
              <a:path extrusionOk="0" h="1625770" w="4585506">
                <a:moveTo>
                  <a:pt x="0" y="0"/>
                </a:moveTo>
                <a:lnTo>
                  <a:pt x="4585506" y="0"/>
                </a:lnTo>
                <a:lnTo>
                  <a:pt x="4585506" y="1625770"/>
                </a:lnTo>
                <a:lnTo>
                  <a:pt x="0" y="1625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>
            <a:off x="8923192" y="-166829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7"/>
          <p:cNvSpPr txBox="1"/>
          <p:nvPr/>
        </p:nvSpPr>
        <p:spPr>
          <a:xfrm>
            <a:off x="6921949" y="3811198"/>
            <a:ext cx="440407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SAM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974550" y="6815325"/>
            <a:ext cx="50583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Includes all consumers aged 15–34 engaging in thrift, secondhand, or sustainable fashion.</a:t>
            </a:r>
            <a:endParaRPr sz="1800"/>
          </a:p>
          <a:p>
            <a:pPr indent="0" lvl="0" marL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Rapid global growth in the reuse economy and clothing-swapping behavior.</a:t>
            </a:r>
            <a:endParaRPr sz="1800"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7"/>
          <p:cNvSpPr txBox="1"/>
          <p:nvPr/>
        </p:nvSpPr>
        <p:spPr>
          <a:xfrm>
            <a:off x="12292350" y="6799838"/>
            <a:ext cx="50583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Targets the first wave of adopters: campus communities, sustainability-focused users, and eco-friendly brand partners.</a:t>
            </a:r>
            <a:br>
              <a:rPr lang="en-US" sz="1800"/>
            </a:br>
            <a:r>
              <a:rPr lang="en-US" sz="1800"/>
              <a:t>Represents ~5–7% penetration of the student and young adult segment in South Korea.</a:t>
            </a:r>
            <a:endParaRPr sz="1800"/>
          </a:p>
        </p:txBody>
      </p:sp>
      <p:sp>
        <p:nvSpPr>
          <p:cNvPr id="205" name="Google Shape;205;p7"/>
          <p:cNvSpPr txBox="1"/>
          <p:nvPr/>
        </p:nvSpPr>
        <p:spPr>
          <a:xfrm>
            <a:off x="2541381" y="819889"/>
            <a:ext cx="12832398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Market Analysis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6478275" y="6815325"/>
            <a:ext cx="5376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Focuses on Korean consumers aged 18–29, especially university students and early professionals.</a:t>
            </a:r>
            <a:br>
              <a:rPr lang="en-US" sz="1800"/>
            </a:br>
            <a:r>
              <a:rPr lang="en-US" sz="1800"/>
              <a:t>Represents those already engaged in thrifting, re-selling, and wardrobe-refresh habits.</a:t>
            </a:r>
            <a:endParaRPr sz="1800"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07" name="Google Shape;207;p7"/>
          <p:cNvGrpSpPr/>
          <p:nvPr/>
        </p:nvGrpSpPr>
        <p:grpSpPr>
          <a:xfrm>
            <a:off x="2239361" y="2917134"/>
            <a:ext cx="8138428" cy="2467578"/>
            <a:chOff x="0" y="0"/>
            <a:chExt cx="10851237" cy="3290105"/>
          </a:xfrm>
        </p:grpSpPr>
        <p:sp>
          <p:nvSpPr>
            <p:cNvPr id="208" name="Google Shape;208;p7"/>
            <p:cNvSpPr/>
            <p:nvPr/>
          </p:nvSpPr>
          <p:spPr>
            <a:xfrm>
              <a:off x="0" y="0"/>
              <a:ext cx="3290104" cy="3290104"/>
            </a:xfrm>
            <a:custGeom>
              <a:rect b="b" l="l" r="r" t="t"/>
              <a:pathLst>
                <a:path extrusionOk="0" h="3290104" w="3290104">
                  <a:moveTo>
                    <a:pt x="0" y="0"/>
                  </a:moveTo>
                  <a:lnTo>
                    <a:pt x="3290104" y="0"/>
                  </a:lnTo>
                  <a:lnTo>
                    <a:pt x="3290104" y="3290104"/>
                  </a:lnTo>
                  <a:lnTo>
                    <a:pt x="0" y="32901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9" name="Google Shape;209;p7"/>
            <p:cNvSpPr/>
            <p:nvPr/>
          </p:nvSpPr>
          <p:spPr>
            <a:xfrm>
              <a:off x="7561133" y="0"/>
              <a:ext cx="3290104" cy="3290104"/>
            </a:xfrm>
            <a:custGeom>
              <a:rect b="b" l="l" r="r" t="t"/>
              <a:pathLst>
                <a:path extrusionOk="0" h="3290104" w="3290104">
                  <a:moveTo>
                    <a:pt x="0" y="0"/>
                  </a:moveTo>
                  <a:lnTo>
                    <a:pt x="3290104" y="0"/>
                  </a:lnTo>
                  <a:lnTo>
                    <a:pt x="3290104" y="3290104"/>
                  </a:lnTo>
                  <a:lnTo>
                    <a:pt x="0" y="32901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0" name="Google Shape;210;p7"/>
            <p:cNvSpPr/>
            <p:nvPr/>
          </p:nvSpPr>
          <p:spPr>
            <a:xfrm rot="10800000">
              <a:off x="7561133" y="0"/>
              <a:ext cx="1659079" cy="3290104"/>
            </a:xfrm>
            <a:custGeom>
              <a:rect b="b" l="l" r="r" t="t"/>
              <a:pathLst>
                <a:path extrusionOk="0" h="3290104" w="1659079">
                  <a:moveTo>
                    <a:pt x="0" y="0"/>
                  </a:moveTo>
                  <a:lnTo>
                    <a:pt x="1659079" y="0"/>
                  </a:lnTo>
                  <a:lnTo>
                    <a:pt x="1659079" y="3290104"/>
                  </a:lnTo>
                  <a:lnTo>
                    <a:pt x="0" y="32901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-98306" r="0" t="0"/>
              </a:stretch>
            </a:blipFill>
            <a:ln>
              <a:noFill/>
            </a:ln>
          </p:spPr>
        </p:sp>
        <p:sp>
          <p:nvSpPr>
            <p:cNvPr id="211" name="Google Shape;211;p7"/>
            <p:cNvSpPr/>
            <p:nvPr/>
          </p:nvSpPr>
          <p:spPr>
            <a:xfrm rot="-5400000">
              <a:off x="-13079" y="13079"/>
              <a:ext cx="1659079" cy="1632920"/>
            </a:xfrm>
            <a:custGeom>
              <a:rect b="b" l="l" r="r" t="t"/>
              <a:pathLst>
                <a:path extrusionOk="0" h="1632920" w="1659079">
                  <a:moveTo>
                    <a:pt x="0" y="0"/>
                  </a:moveTo>
                  <a:lnTo>
                    <a:pt x="1659078" y="0"/>
                  </a:lnTo>
                  <a:lnTo>
                    <a:pt x="1659078" y="1632920"/>
                  </a:lnTo>
                  <a:lnTo>
                    <a:pt x="0" y="1632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01482" l="-98306" r="0" t="0"/>
              </a:stretch>
            </a:blipFill>
            <a:ln>
              <a:noFill/>
            </a:ln>
          </p:spPr>
        </p:sp>
      </p:grpSp>
      <p:grpSp>
        <p:nvGrpSpPr>
          <p:cNvPr id="212" name="Google Shape;212;p7"/>
          <p:cNvGrpSpPr/>
          <p:nvPr/>
        </p:nvGrpSpPr>
        <p:grpSpPr>
          <a:xfrm>
            <a:off x="13548988" y="2917134"/>
            <a:ext cx="2467578" cy="2467578"/>
            <a:chOff x="0" y="0"/>
            <a:chExt cx="3290105" cy="3290105"/>
          </a:xfrm>
        </p:grpSpPr>
        <p:sp>
          <p:nvSpPr>
            <p:cNvPr id="213" name="Google Shape;213;p7"/>
            <p:cNvSpPr/>
            <p:nvPr/>
          </p:nvSpPr>
          <p:spPr>
            <a:xfrm>
              <a:off x="0" y="0"/>
              <a:ext cx="3290104" cy="3290104"/>
            </a:xfrm>
            <a:custGeom>
              <a:rect b="b" l="l" r="r" t="t"/>
              <a:pathLst>
                <a:path extrusionOk="0" h="3290104" w="3290104">
                  <a:moveTo>
                    <a:pt x="0" y="0"/>
                  </a:moveTo>
                  <a:lnTo>
                    <a:pt x="3290104" y="0"/>
                  </a:lnTo>
                  <a:lnTo>
                    <a:pt x="3290104" y="3290104"/>
                  </a:lnTo>
                  <a:lnTo>
                    <a:pt x="0" y="32901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4" name="Google Shape;214;p7"/>
            <p:cNvSpPr/>
            <p:nvPr/>
          </p:nvSpPr>
          <p:spPr>
            <a:xfrm rot="10800000">
              <a:off x="0" y="0"/>
              <a:ext cx="1659079" cy="3290104"/>
            </a:xfrm>
            <a:custGeom>
              <a:rect b="b" l="l" r="r" t="t"/>
              <a:pathLst>
                <a:path extrusionOk="0" h="3290104" w="1659079">
                  <a:moveTo>
                    <a:pt x="0" y="0"/>
                  </a:moveTo>
                  <a:lnTo>
                    <a:pt x="1659079" y="0"/>
                  </a:lnTo>
                  <a:lnTo>
                    <a:pt x="1659079" y="3290104"/>
                  </a:lnTo>
                  <a:lnTo>
                    <a:pt x="0" y="329010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-98306" r="0" t="0"/>
              </a:stretch>
            </a:blipFill>
            <a:ln>
              <a:noFill/>
            </a:ln>
          </p:spPr>
        </p:sp>
        <p:sp>
          <p:nvSpPr>
            <p:cNvPr id="215" name="Google Shape;215;p7"/>
            <p:cNvSpPr/>
            <p:nvPr/>
          </p:nvSpPr>
          <p:spPr>
            <a:xfrm rot="5400000">
              <a:off x="1644105" y="1644105"/>
              <a:ext cx="1659079" cy="1632920"/>
            </a:xfrm>
            <a:custGeom>
              <a:rect b="b" l="l" r="r" t="t"/>
              <a:pathLst>
                <a:path extrusionOk="0" h="1632920" w="1659079">
                  <a:moveTo>
                    <a:pt x="0" y="0"/>
                  </a:moveTo>
                  <a:lnTo>
                    <a:pt x="1659078" y="0"/>
                  </a:lnTo>
                  <a:lnTo>
                    <a:pt x="1659078" y="1632920"/>
                  </a:lnTo>
                  <a:lnTo>
                    <a:pt x="0" y="1632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01482" l="-98306" r="0" t="0"/>
              </a:stretch>
            </a:blipFill>
            <a:ln>
              <a:noFill/>
            </a:ln>
          </p:spPr>
        </p:sp>
      </p:grpSp>
      <p:sp>
        <p:nvSpPr>
          <p:cNvPr id="216" name="Google Shape;216;p7"/>
          <p:cNvSpPr txBox="1"/>
          <p:nvPr/>
        </p:nvSpPr>
        <p:spPr>
          <a:xfrm>
            <a:off x="982700" y="5504222"/>
            <a:ext cx="50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highlight>
                  <a:schemeClr val="lt2"/>
                </a:highlight>
              </a:rPr>
              <a:t>₩1.8 trillion (global circular fashion &amp; resale market for Gen Z / young adults)</a:t>
            </a:r>
            <a:endParaRPr b="1" sz="1800">
              <a:highlight>
                <a:schemeClr val="lt2"/>
              </a:highlight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6598913" y="5550409"/>
            <a:ext cx="505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highlight>
                  <a:schemeClr val="lt2"/>
                </a:highlight>
              </a:rPr>
              <a:t>₩180 billion (South Korea sustainable fashion + secondhand market for students &amp; young adults)</a:t>
            </a:r>
            <a:endParaRPr b="1" sz="1800">
              <a:highlight>
                <a:schemeClr val="lt2"/>
              </a:highlight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12206975" y="5722834"/>
            <a:ext cx="50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highlight>
                  <a:schemeClr val="lt2"/>
                </a:highlight>
              </a:rPr>
              <a:t>₩9–12 billion (achievable market share within 3 years)</a:t>
            </a:r>
            <a:endParaRPr b="1" sz="1800">
              <a:highlight>
                <a:schemeClr val="lt2"/>
              </a:highlight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1190050" y="184397"/>
            <a:ext cx="2225550" cy="472800"/>
            <a:chOff x="1190050" y="184397"/>
            <a:chExt cx="2225550" cy="472800"/>
          </a:xfrm>
        </p:grpSpPr>
        <p:sp>
          <p:nvSpPr>
            <p:cNvPr id="220" name="Google Shape;220;p7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7"/>
          <p:cNvSpPr txBox="1"/>
          <p:nvPr/>
        </p:nvSpPr>
        <p:spPr>
          <a:xfrm>
            <a:off x="17745025" y="9764875"/>
            <a:ext cx="5430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05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905495" y="657204"/>
            <a:ext cx="16445245" cy="1906519"/>
          </a:xfrm>
          <a:custGeom>
            <a:rect b="b" l="l" r="r" t="t"/>
            <a:pathLst>
              <a:path extrusionOk="0" h="695503" w="5999270">
                <a:moveTo>
                  <a:pt x="0" y="0"/>
                </a:moveTo>
                <a:lnTo>
                  <a:pt x="5999270" y="0"/>
                </a:lnTo>
                <a:lnTo>
                  <a:pt x="5999270" y="695503"/>
                </a:lnTo>
                <a:lnTo>
                  <a:pt x="0" y="695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31" name="Google Shape;231;p8"/>
          <p:cNvGrpSpPr/>
          <p:nvPr/>
        </p:nvGrpSpPr>
        <p:grpSpPr>
          <a:xfrm>
            <a:off x="905495" y="2914053"/>
            <a:ext cx="1903745" cy="1589019"/>
            <a:chOff x="0" y="0"/>
            <a:chExt cx="2538326" cy="2118692"/>
          </a:xfrm>
        </p:grpSpPr>
        <p:sp>
          <p:nvSpPr>
            <p:cNvPr id="232" name="Google Shape;232;p8"/>
            <p:cNvSpPr/>
            <p:nvPr/>
          </p:nvSpPr>
          <p:spPr>
            <a:xfrm>
              <a:off x="0" y="0"/>
              <a:ext cx="2538326" cy="2118692"/>
            </a:xfrm>
            <a:custGeom>
              <a:rect b="b" l="l" r="r" t="t"/>
              <a:pathLst>
                <a:path extrusionOk="0" h="579678" w="694491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3" name="Google Shape;233;p8"/>
            <p:cNvSpPr/>
            <p:nvPr/>
          </p:nvSpPr>
          <p:spPr>
            <a:xfrm>
              <a:off x="651649" y="248767"/>
              <a:ext cx="1235028" cy="1621159"/>
            </a:xfrm>
            <a:custGeom>
              <a:rect b="b" l="l" r="r" t="t"/>
              <a:pathLst>
                <a:path extrusionOk="0" h="1621159" w="1235028">
                  <a:moveTo>
                    <a:pt x="0" y="0"/>
                  </a:moveTo>
                  <a:lnTo>
                    <a:pt x="1235028" y="0"/>
                  </a:lnTo>
                  <a:lnTo>
                    <a:pt x="1235028" y="1621158"/>
                  </a:lnTo>
                  <a:lnTo>
                    <a:pt x="0" y="16211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34" name="Google Shape;234;p8"/>
          <p:cNvGrpSpPr/>
          <p:nvPr/>
        </p:nvGrpSpPr>
        <p:grpSpPr>
          <a:xfrm>
            <a:off x="905495" y="4857358"/>
            <a:ext cx="1903745" cy="1589019"/>
            <a:chOff x="0" y="0"/>
            <a:chExt cx="2538326" cy="2118692"/>
          </a:xfrm>
        </p:grpSpPr>
        <p:sp>
          <p:nvSpPr>
            <p:cNvPr id="235" name="Google Shape;235;p8"/>
            <p:cNvSpPr/>
            <p:nvPr/>
          </p:nvSpPr>
          <p:spPr>
            <a:xfrm>
              <a:off x="0" y="0"/>
              <a:ext cx="2538326" cy="2118692"/>
            </a:xfrm>
            <a:custGeom>
              <a:rect b="b" l="l" r="r" t="t"/>
              <a:pathLst>
                <a:path extrusionOk="0" h="579678" w="694491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6" name="Google Shape;236;p8"/>
            <p:cNvSpPr/>
            <p:nvPr/>
          </p:nvSpPr>
          <p:spPr>
            <a:xfrm>
              <a:off x="495450" y="260744"/>
              <a:ext cx="1547426" cy="1516477"/>
            </a:xfrm>
            <a:custGeom>
              <a:rect b="b" l="l" r="r" t="t"/>
              <a:pathLst>
                <a:path extrusionOk="0" h="1516477" w="1547426">
                  <a:moveTo>
                    <a:pt x="0" y="0"/>
                  </a:moveTo>
                  <a:lnTo>
                    <a:pt x="1547426" y="0"/>
                  </a:lnTo>
                  <a:lnTo>
                    <a:pt x="1547426" y="1516477"/>
                  </a:lnTo>
                  <a:lnTo>
                    <a:pt x="0" y="15164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237" name="Google Shape;237;p8"/>
          <p:cNvGrpSpPr/>
          <p:nvPr/>
        </p:nvGrpSpPr>
        <p:grpSpPr>
          <a:xfrm>
            <a:off x="905495" y="6793991"/>
            <a:ext cx="1903745" cy="1589019"/>
            <a:chOff x="0" y="0"/>
            <a:chExt cx="2538326" cy="2118692"/>
          </a:xfrm>
        </p:grpSpPr>
        <p:sp>
          <p:nvSpPr>
            <p:cNvPr id="238" name="Google Shape;238;p8"/>
            <p:cNvSpPr/>
            <p:nvPr/>
          </p:nvSpPr>
          <p:spPr>
            <a:xfrm>
              <a:off x="0" y="0"/>
              <a:ext cx="2538326" cy="2118692"/>
            </a:xfrm>
            <a:custGeom>
              <a:rect b="b" l="l" r="r" t="t"/>
              <a:pathLst>
                <a:path extrusionOk="0" h="579678" w="694491">
                  <a:moveTo>
                    <a:pt x="0" y="0"/>
                  </a:moveTo>
                  <a:lnTo>
                    <a:pt x="694491" y="0"/>
                  </a:lnTo>
                  <a:lnTo>
                    <a:pt x="694491" y="579678"/>
                  </a:lnTo>
                  <a:lnTo>
                    <a:pt x="0" y="5796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9" name="Google Shape;239;p8"/>
            <p:cNvSpPr/>
            <p:nvPr/>
          </p:nvSpPr>
          <p:spPr>
            <a:xfrm>
              <a:off x="815669" y="319785"/>
              <a:ext cx="986978" cy="1479123"/>
            </a:xfrm>
            <a:custGeom>
              <a:rect b="b" l="l" r="r" t="t"/>
              <a:pathLst>
                <a:path extrusionOk="0" h="1479123" w="986978">
                  <a:moveTo>
                    <a:pt x="0" y="0"/>
                  </a:moveTo>
                  <a:lnTo>
                    <a:pt x="986979" y="0"/>
                  </a:lnTo>
                  <a:lnTo>
                    <a:pt x="986979" y="1479122"/>
                  </a:lnTo>
                  <a:lnTo>
                    <a:pt x="0" y="147912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40" name="Google Shape;240;p8"/>
          <p:cNvSpPr txBox="1"/>
          <p:nvPr/>
        </p:nvSpPr>
        <p:spPr>
          <a:xfrm>
            <a:off x="3961525" y="962764"/>
            <a:ext cx="103649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Marketing Strategies</a:t>
            </a:r>
            <a:endParaRPr/>
          </a:p>
        </p:txBody>
      </p:sp>
      <p:grpSp>
        <p:nvGrpSpPr>
          <p:cNvPr id="241" name="Google Shape;241;p8"/>
          <p:cNvGrpSpPr/>
          <p:nvPr/>
        </p:nvGrpSpPr>
        <p:grpSpPr>
          <a:xfrm>
            <a:off x="3859018" y="3086917"/>
            <a:ext cx="13491685" cy="1318672"/>
            <a:chOff x="0" y="-235688"/>
            <a:chExt cx="17988912" cy="1758230"/>
          </a:xfrm>
        </p:grpSpPr>
        <p:sp>
          <p:nvSpPr>
            <p:cNvPr id="242" name="Google Shape;242;p8"/>
            <p:cNvSpPr txBox="1"/>
            <p:nvPr/>
          </p:nvSpPr>
          <p:spPr>
            <a:xfrm>
              <a:off x="0" y="-235688"/>
              <a:ext cx="135366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26554C"/>
                  </a:solidFill>
                </a:rPr>
                <a:t>Campus Activations &amp; Student Ambassadors</a:t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12" y="531341"/>
              <a:ext cx="179889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61950" lvl="0" marL="45720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Char char="●"/>
              </a:pPr>
              <a:r>
                <a:rPr lang="en-US" sz="2100">
                  <a:solidFill>
                    <a:schemeClr val="dk1"/>
                  </a:solidFill>
                </a:rPr>
                <a:t>Partner with universities to host</a:t>
              </a:r>
              <a:r>
                <a:rPr lang="en-US" sz="2100">
                  <a:solidFill>
                    <a:schemeClr val="dk1"/>
                  </a:solidFill>
                  <a:highlight>
                    <a:schemeClr val="lt2"/>
                  </a:highlight>
                </a:rPr>
                <a:t> </a:t>
              </a:r>
              <a:r>
                <a:rPr i="1" lang="en-US" sz="2100">
                  <a:solidFill>
                    <a:schemeClr val="dk1"/>
                  </a:solidFill>
                  <a:highlight>
                    <a:schemeClr val="lt2"/>
                  </a:highlight>
                </a:rPr>
                <a:t>swap pop-up events</a:t>
              </a:r>
              <a:r>
                <a:rPr lang="en-US" sz="2100">
                  <a:solidFill>
                    <a:schemeClr val="dk1"/>
                  </a:solidFill>
                </a:rPr>
                <a:t> and launch “Campus Swap Hubs.”</a:t>
              </a:r>
              <a:endParaRPr sz="2100">
                <a:solidFill>
                  <a:schemeClr val="dk1"/>
                </a:solidFill>
              </a:endParaRPr>
            </a:p>
            <a:p>
              <a:pPr indent="-361950" lvl="0" marL="45720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Char char="●"/>
              </a:pPr>
              <a:r>
                <a:rPr lang="en-US" sz="2100">
                  <a:solidFill>
                    <a:schemeClr val="dk1"/>
                  </a:solidFill>
                </a:rPr>
                <a:t>Recruit </a:t>
              </a:r>
              <a:r>
                <a:rPr lang="en-US" sz="2100">
                  <a:solidFill>
                    <a:schemeClr val="dk1"/>
                  </a:solidFill>
                  <a:highlight>
                    <a:schemeClr val="lt2"/>
                  </a:highlight>
                </a:rPr>
                <a:t>student ambassadors</a:t>
              </a:r>
              <a:r>
                <a:rPr lang="en-US" sz="2100">
                  <a:solidFill>
                    <a:schemeClr val="dk1"/>
                  </a:solidFill>
                </a:rPr>
                <a:t> to promote the app, drive sign-ups, and model swapped outfits.</a:t>
              </a:r>
              <a:endParaRPr sz="2100"/>
            </a:p>
          </p:txBody>
        </p:sp>
      </p:grpSp>
      <p:grpSp>
        <p:nvGrpSpPr>
          <p:cNvPr id="244" name="Google Shape;244;p8"/>
          <p:cNvGrpSpPr/>
          <p:nvPr/>
        </p:nvGrpSpPr>
        <p:grpSpPr>
          <a:xfrm>
            <a:off x="3859027" y="6897425"/>
            <a:ext cx="13491929" cy="1810731"/>
            <a:chOff x="0" y="-76200"/>
            <a:chExt cx="13536600" cy="2414308"/>
          </a:xfrm>
        </p:grpSpPr>
        <p:sp>
          <p:nvSpPr>
            <p:cNvPr id="245" name="Google Shape;245;p8"/>
            <p:cNvSpPr txBox="1"/>
            <p:nvPr/>
          </p:nvSpPr>
          <p:spPr>
            <a:xfrm>
              <a:off x="0" y="-76200"/>
              <a:ext cx="135366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26554C"/>
                  </a:solidFill>
                </a:rPr>
                <a:t>Brand Partnerships &amp; Eco-Collaborations</a:t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0" y="786508"/>
              <a:ext cx="13536600" cy="15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61950" lvl="0" marL="45720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SzPts val="2100"/>
                <a:buChar char="●"/>
              </a:pPr>
              <a:r>
                <a:rPr lang="en-US" sz="2100"/>
                <a:t>Partner with </a:t>
              </a:r>
              <a:r>
                <a:rPr lang="en-US" sz="2100">
                  <a:highlight>
                    <a:schemeClr val="lt2"/>
                  </a:highlight>
                </a:rPr>
                <a:t>eco-friendly fashion brands</a:t>
              </a:r>
              <a:r>
                <a:rPr lang="en-US" sz="2100"/>
                <a:t> to offer discounts, rewards, and limited-edition badges.</a:t>
              </a:r>
              <a:endParaRPr sz="2100"/>
            </a:p>
            <a:p>
              <a:pPr indent="-361950" lvl="0" marL="45720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SzPts val="2100"/>
                <a:buChar char="●"/>
              </a:pPr>
              <a:r>
                <a:rPr lang="en-US" sz="2100"/>
                <a:t>Use</a:t>
              </a:r>
              <a:r>
                <a:rPr lang="en-US" sz="2100">
                  <a:highlight>
                    <a:schemeClr val="lt2"/>
                  </a:highlight>
                </a:rPr>
                <a:t> co-branded campaigns</a:t>
              </a:r>
              <a:r>
                <a:rPr lang="en-US" sz="2100"/>
                <a:t> to increase visibility and position Closet Hug as a circular-fashion leader.</a:t>
              </a:r>
              <a:endParaRPr sz="2100"/>
            </a:p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</p:grpSp>
      <p:sp>
        <p:nvSpPr>
          <p:cNvPr id="247" name="Google Shape;247;p8"/>
          <p:cNvSpPr/>
          <p:nvPr/>
        </p:nvSpPr>
        <p:spPr>
          <a:xfrm>
            <a:off x="-1276562" y="-156776"/>
            <a:ext cx="6732164" cy="1627960"/>
          </a:xfrm>
          <a:custGeom>
            <a:rect b="b" l="l" r="r" t="t"/>
            <a:pathLst>
              <a:path extrusionOk="0"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8" name="Google Shape;248;p8"/>
          <p:cNvGrpSpPr/>
          <p:nvPr/>
        </p:nvGrpSpPr>
        <p:grpSpPr>
          <a:xfrm>
            <a:off x="3766589" y="5068096"/>
            <a:ext cx="13676547" cy="1414354"/>
            <a:chOff x="-192116" y="-235688"/>
            <a:chExt cx="13728716" cy="1885806"/>
          </a:xfrm>
        </p:grpSpPr>
        <p:sp>
          <p:nvSpPr>
            <p:cNvPr id="249" name="Google Shape;249;p8"/>
            <p:cNvSpPr txBox="1"/>
            <p:nvPr/>
          </p:nvSpPr>
          <p:spPr>
            <a:xfrm>
              <a:off x="0" y="-235688"/>
              <a:ext cx="135366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26554C"/>
                  </a:solidFill>
                </a:rPr>
                <a:t>Social Media &amp; UGC (User-Generated Content)</a:t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-192116" y="658917"/>
              <a:ext cx="135366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61950" lvl="0" marL="45720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SzPts val="2100"/>
                <a:buChar char="●"/>
              </a:pPr>
              <a:r>
                <a:rPr lang="en-US" sz="2100"/>
                <a:t>Encourage users to</a:t>
              </a:r>
              <a:r>
                <a:rPr lang="en-US" sz="2100">
                  <a:highlight>
                    <a:schemeClr val="lt2"/>
                  </a:highlight>
                </a:rPr>
                <a:t> post their swap experiences</a:t>
              </a:r>
              <a:r>
                <a:rPr lang="en-US" sz="2100"/>
                <a:t>, before/after outfits, and “closet refresh” videos.</a:t>
              </a:r>
              <a:endParaRPr sz="2100"/>
            </a:p>
            <a:p>
              <a:pPr indent="-361950" lvl="0" marL="45720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SzPts val="2100"/>
                <a:buChar char="●"/>
              </a:pPr>
              <a:r>
                <a:rPr lang="en-US" sz="2100"/>
                <a:t>Collaborate with </a:t>
              </a:r>
              <a:r>
                <a:rPr lang="en-US" sz="2100">
                  <a:highlight>
                    <a:schemeClr val="lt2"/>
                  </a:highlight>
                </a:rPr>
                <a:t>micro-influencers</a:t>
              </a:r>
              <a:r>
                <a:rPr lang="en-US" sz="2100"/>
                <a:t> focused on thrift, sustainability, and affordable fashion.</a:t>
              </a:r>
              <a:endParaRPr sz="2100"/>
            </a:p>
          </p:txBody>
        </p:sp>
      </p:grpSp>
      <p:sp>
        <p:nvSpPr>
          <p:cNvPr id="251" name="Google Shape;251;p8"/>
          <p:cNvSpPr/>
          <p:nvPr/>
        </p:nvSpPr>
        <p:spPr>
          <a:xfrm>
            <a:off x="463879" y="-156776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8"/>
          <p:cNvSpPr/>
          <p:nvPr/>
        </p:nvSpPr>
        <p:spPr>
          <a:xfrm>
            <a:off x="14011526" y="8735435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3" name="Google Shape;253;p8"/>
          <p:cNvGrpSpPr/>
          <p:nvPr/>
        </p:nvGrpSpPr>
        <p:grpSpPr>
          <a:xfrm>
            <a:off x="14850225" y="9368572"/>
            <a:ext cx="2225550" cy="472800"/>
            <a:chOff x="1190050" y="184397"/>
            <a:chExt cx="2225550" cy="472800"/>
          </a:xfrm>
        </p:grpSpPr>
        <p:sp>
          <p:nvSpPr>
            <p:cNvPr id="254" name="Google Shape;254;p8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8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06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905495" y="657204"/>
            <a:ext cx="16445245" cy="1906519"/>
          </a:xfrm>
          <a:custGeom>
            <a:rect b="b" l="l" r="r" t="t"/>
            <a:pathLst>
              <a:path extrusionOk="0" h="695503" w="5999270">
                <a:moveTo>
                  <a:pt x="0" y="0"/>
                </a:moveTo>
                <a:lnTo>
                  <a:pt x="5999270" y="0"/>
                </a:lnTo>
                <a:lnTo>
                  <a:pt x="5999270" y="695503"/>
                </a:lnTo>
                <a:lnTo>
                  <a:pt x="0" y="695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5" name="Google Shape;265;p9"/>
          <p:cNvSpPr/>
          <p:nvPr/>
        </p:nvSpPr>
        <p:spPr>
          <a:xfrm>
            <a:off x="9625957" y="2915205"/>
            <a:ext cx="7724783" cy="5768744"/>
          </a:xfrm>
          <a:custGeom>
            <a:rect b="b" l="l" r="r" t="t"/>
            <a:pathLst>
              <a:path extrusionOk="0" h="2104453" w="2818022">
                <a:moveTo>
                  <a:pt x="0" y="0"/>
                </a:moveTo>
                <a:lnTo>
                  <a:pt x="2818022" y="0"/>
                </a:lnTo>
                <a:lnTo>
                  <a:pt x="2818022" y="2104453"/>
                </a:lnTo>
                <a:lnTo>
                  <a:pt x="0" y="21044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6" name="Google Shape;266;p9"/>
          <p:cNvSpPr/>
          <p:nvPr/>
        </p:nvSpPr>
        <p:spPr>
          <a:xfrm>
            <a:off x="10231960" y="3545972"/>
            <a:ext cx="5778474" cy="4507210"/>
          </a:xfrm>
          <a:custGeom>
            <a:rect b="b" l="l" r="r" t="t"/>
            <a:pathLst>
              <a:path extrusionOk="0" h="4507210" w="5778474">
                <a:moveTo>
                  <a:pt x="0" y="0"/>
                </a:moveTo>
                <a:lnTo>
                  <a:pt x="5778474" y="0"/>
                </a:lnTo>
                <a:lnTo>
                  <a:pt x="5778474" y="4507210"/>
                </a:lnTo>
                <a:lnTo>
                  <a:pt x="0" y="4507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9"/>
          <p:cNvSpPr/>
          <p:nvPr/>
        </p:nvSpPr>
        <p:spPr>
          <a:xfrm rot="-203414">
            <a:off x="16137868" y="4585735"/>
            <a:ext cx="417336" cy="598331"/>
          </a:xfrm>
          <a:custGeom>
            <a:rect b="b" l="l" r="r" t="t"/>
            <a:pathLst>
              <a:path extrusionOk="0" h="598331" w="417336">
                <a:moveTo>
                  <a:pt x="0" y="0"/>
                </a:moveTo>
                <a:lnTo>
                  <a:pt x="417336" y="0"/>
                </a:lnTo>
                <a:lnTo>
                  <a:pt x="417336" y="598330"/>
                </a:lnTo>
                <a:lnTo>
                  <a:pt x="0" y="598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9"/>
          <p:cNvSpPr/>
          <p:nvPr/>
        </p:nvSpPr>
        <p:spPr>
          <a:xfrm>
            <a:off x="9908900" y="3235000"/>
            <a:ext cx="121908" cy="1219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10055579" y="7995212"/>
            <a:ext cx="121908" cy="121908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3343782" y="657189"/>
            <a:ext cx="11600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Sales Plan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-1276562" y="-156776"/>
            <a:ext cx="6732164" cy="1627960"/>
          </a:xfrm>
          <a:custGeom>
            <a:rect b="b" l="l" r="r" t="t"/>
            <a:pathLst>
              <a:path extrusionOk="0" h="1627960" w="6732164">
                <a:moveTo>
                  <a:pt x="0" y="0"/>
                </a:moveTo>
                <a:lnTo>
                  <a:pt x="6732164" y="0"/>
                </a:lnTo>
                <a:lnTo>
                  <a:pt x="6732164" y="1627960"/>
                </a:lnTo>
                <a:lnTo>
                  <a:pt x="0" y="1627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2" name="Google Shape;272;p9"/>
          <p:cNvGrpSpPr/>
          <p:nvPr/>
        </p:nvGrpSpPr>
        <p:grpSpPr>
          <a:xfrm>
            <a:off x="926075" y="1847049"/>
            <a:ext cx="8358683" cy="7428264"/>
            <a:chOff x="0" y="-76200"/>
            <a:chExt cx="9212700" cy="6469486"/>
          </a:xfrm>
        </p:grpSpPr>
        <p:sp>
          <p:nvSpPr>
            <p:cNvPr id="273" name="Google Shape;273;p9"/>
            <p:cNvSpPr txBox="1"/>
            <p:nvPr/>
          </p:nvSpPr>
          <p:spPr>
            <a:xfrm>
              <a:off x="0" y="5013586"/>
              <a:ext cx="9212700" cy="13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lang="en-US" sz="2100"/>
                <a:t>Achieve </a:t>
              </a:r>
              <a:r>
                <a:rPr b="1" lang="en-US" sz="2100">
                  <a:highlight>
                    <a:srgbClr val="D9EAD3"/>
                  </a:highlight>
                </a:rPr>
                <a:t>₩80M revenue</a:t>
              </a:r>
              <a:r>
                <a:rPr lang="en-US" sz="2100"/>
                <a:t> by end of Year 1 through premium plans, ads &amp; brand collab.</a:t>
              </a:r>
              <a:endParaRPr sz="2100"/>
            </a:p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b="1" lang="en-US" sz="2100"/>
                <a:t>5%</a:t>
              </a:r>
              <a:r>
                <a:rPr lang="en-US" sz="2100"/>
                <a:t> conversion rate of free users to premium features</a:t>
              </a:r>
              <a:endParaRPr sz="2100"/>
            </a:p>
            <a:p>
              <a:pPr indent="-231203" lvl="1" marL="474979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b="1" lang="en-US" sz="2100"/>
                <a:t>20</a:t>
              </a:r>
              <a:r>
                <a:rPr lang="en-US" sz="2100"/>
                <a:t> brand collaborations by end of Year 2</a:t>
              </a:r>
              <a:endParaRPr sz="2100"/>
            </a:p>
          </p:txBody>
        </p:sp>
        <p:sp>
          <p:nvSpPr>
            <p:cNvPr id="274" name="Google Shape;274;p9"/>
            <p:cNvSpPr txBox="1"/>
            <p:nvPr/>
          </p:nvSpPr>
          <p:spPr>
            <a:xfrm>
              <a:off x="0" y="4361307"/>
              <a:ext cx="89649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26554C"/>
                  </a:solidFill>
                </a:rPr>
                <a:t>Revenue Growth &amp; Conversion</a:t>
              </a:r>
              <a:endParaRPr/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0" y="2935644"/>
              <a:ext cx="89649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lang="en-US" sz="2100"/>
                <a:t>Average of </a:t>
              </a:r>
              <a:r>
                <a:rPr lang="en-US" sz="2100">
                  <a:highlight>
                    <a:srgbClr val="D9EAD3"/>
                  </a:highlight>
                </a:rPr>
                <a:t>3 swaps</a:t>
              </a:r>
              <a:r>
                <a:rPr lang="en-US" sz="2100"/>
                <a:t> per active user per month</a:t>
              </a:r>
              <a:endParaRPr sz="2100"/>
            </a:p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b="1" lang="en-US" sz="2100"/>
                <a:t>60% </a:t>
              </a:r>
              <a:r>
                <a:rPr lang="en-US" sz="2100"/>
                <a:t>monthly active </a:t>
              </a:r>
              <a:r>
                <a:rPr lang="en-US" sz="2100">
                  <a:highlight>
                    <a:srgbClr val="D9EAD3"/>
                  </a:highlight>
                </a:rPr>
                <a:t>user retention</a:t>
              </a:r>
              <a:r>
                <a:rPr lang="en-US" sz="2100"/>
                <a:t> rate</a:t>
              </a:r>
              <a:endParaRPr sz="2100"/>
            </a:p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lang="en-US" sz="2100"/>
                <a:t>Daily swap activity growing steadily by 10% month-over-month</a:t>
              </a:r>
              <a:endParaRPr sz="2100"/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0" y="2235188"/>
              <a:ext cx="89649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26554C"/>
                  </a:solidFill>
                </a:rPr>
                <a:t>Swap Volume &amp; Engagement</a:t>
              </a:r>
              <a:endParaRPr/>
            </a:p>
          </p:txBody>
        </p:sp>
        <p:sp>
          <p:nvSpPr>
            <p:cNvPr id="277" name="Google Shape;277;p9"/>
            <p:cNvSpPr txBox="1"/>
            <p:nvPr/>
          </p:nvSpPr>
          <p:spPr>
            <a:xfrm>
              <a:off x="0" y="624235"/>
              <a:ext cx="8964900" cy="137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b="1" lang="en-US" sz="2100">
                  <a:highlight>
                    <a:srgbClr val="D9EAD3"/>
                  </a:highlight>
                </a:rPr>
                <a:t>10,000</a:t>
              </a:r>
              <a:r>
                <a:rPr lang="en-US" sz="2100">
                  <a:highlight>
                    <a:srgbClr val="D9EAD3"/>
                  </a:highlight>
                </a:rPr>
                <a:t> registered users</a:t>
              </a:r>
              <a:r>
                <a:rPr lang="en-US" sz="2100"/>
                <a:t> within the first 6 months</a:t>
              </a:r>
              <a:endParaRPr sz="2100"/>
            </a:p>
            <a:p>
              <a:pPr indent="-231203" lvl="1" marL="474978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b="1" lang="en-US" sz="2100"/>
                <a:t>40%</a:t>
              </a:r>
              <a:r>
                <a:rPr lang="en-US" sz="2100"/>
                <a:t> of new users completing their first swap within 7 days</a:t>
              </a:r>
              <a:endParaRPr sz="2100"/>
            </a:p>
            <a:p>
              <a:pPr indent="-231203" lvl="1" marL="474979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Char char="•"/>
              </a:pPr>
              <a:r>
                <a:rPr lang="en-US" sz="2100"/>
                <a:t>Campus onboarding partnerships with at least 5 universities in Year 1</a:t>
              </a:r>
              <a:endParaRPr sz="2100"/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0" y="-76200"/>
              <a:ext cx="8964900" cy="4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 User Acquisition &amp; Activation</a:t>
              </a:r>
              <a:endParaRPr/>
            </a:p>
          </p:txBody>
        </p:sp>
      </p:grpSp>
      <p:sp>
        <p:nvSpPr>
          <p:cNvPr id="279" name="Google Shape;279;p9"/>
          <p:cNvSpPr/>
          <p:nvPr/>
        </p:nvSpPr>
        <p:spPr>
          <a:xfrm rot="-203414">
            <a:off x="11489227" y="4583034"/>
            <a:ext cx="321948" cy="461574"/>
          </a:xfrm>
          <a:custGeom>
            <a:rect b="b" l="l" r="r" t="t"/>
            <a:pathLst>
              <a:path extrusionOk="0" h="461574" w="321948">
                <a:moveTo>
                  <a:pt x="0" y="0"/>
                </a:moveTo>
                <a:lnTo>
                  <a:pt x="321948" y="0"/>
                </a:lnTo>
                <a:lnTo>
                  <a:pt x="321948" y="461575"/>
                </a:lnTo>
                <a:lnTo>
                  <a:pt x="0" y="461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9"/>
          <p:cNvSpPr/>
          <p:nvPr/>
        </p:nvSpPr>
        <p:spPr>
          <a:xfrm rot="-278358">
            <a:off x="13186236" y="8430575"/>
            <a:ext cx="5868613" cy="1845945"/>
          </a:xfrm>
          <a:custGeom>
            <a:rect b="b" l="l" r="r" t="t"/>
            <a:pathLst>
              <a:path extrusionOk="0" h="1845945" w="5868613">
                <a:moveTo>
                  <a:pt x="0" y="0"/>
                </a:moveTo>
                <a:lnTo>
                  <a:pt x="5868612" y="0"/>
                </a:lnTo>
                <a:lnTo>
                  <a:pt x="5868612" y="1845946"/>
                </a:lnTo>
                <a:lnTo>
                  <a:pt x="0" y="1845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1" name="Google Shape;281;p9"/>
          <p:cNvGrpSpPr/>
          <p:nvPr/>
        </p:nvGrpSpPr>
        <p:grpSpPr>
          <a:xfrm>
            <a:off x="15007775" y="184397"/>
            <a:ext cx="2225550" cy="472800"/>
            <a:chOff x="1190050" y="184397"/>
            <a:chExt cx="2225550" cy="472800"/>
          </a:xfrm>
        </p:grpSpPr>
        <p:sp>
          <p:nvSpPr>
            <p:cNvPr id="282" name="Google Shape;282;p9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9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07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/>
          <p:nvPr/>
        </p:nvSpPr>
        <p:spPr>
          <a:xfrm>
            <a:off x="287525" y="320316"/>
            <a:ext cx="17583600" cy="95418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443" y="2254302"/>
            <a:ext cx="15837107" cy="70447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10"/>
          <p:cNvGrpSpPr/>
          <p:nvPr/>
        </p:nvGrpSpPr>
        <p:grpSpPr>
          <a:xfrm>
            <a:off x="6212425" y="9030051"/>
            <a:ext cx="10850710" cy="404080"/>
            <a:chOff x="0" y="-66675"/>
            <a:chExt cx="10456500" cy="1028717"/>
          </a:xfrm>
        </p:grpSpPr>
        <p:sp>
          <p:nvSpPr>
            <p:cNvPr id="294" name="Google Shape;294;p10"/>
            <p:cNvSpPr/>
            <p:nvPr/>
          </p:nvSpPr>
          <p:spPr>
            <a:xfrm>
              <a:off x="0" y="0"/>
              <a:ext cx="10456369" cy="962042"/>
            </a:xfrm>
            <a:custGeom>
              <a:rect b="b" l="l" r="r" t="t"/>
              <a:pathLst>
                <a:path extrusionOk="0" h="962042" w="10456369">
                  <a:moveTo>
                    <a:pt x="16757" y="0"/>
                  </a:moveTo>
                  <a:lnTo>
                    <a:pt x="10439612" y="0"/>
                  </a:lnTo>
                  <a:cubicBezTo>
                    <a:pt x="10444056" y="0"/>
                    <a:pt x="10448318" y="1765"/>
                    <a:pt x="10451461" y="4908"/>
                  </a:cubicBezTo>
                  <a:cubicBezTo>
                    <a:pt x="10454603" y="8051"/>
                    <a:pt x="10456369" y="12313"/>
                    <a:pt x="10456369" y="16757"/>
                  </a:cubicBezTo>
                  <a:lnTo>
                    <a:pt x="10456369" y="945285"/>
                  </a:lnTo>
                  <a:cubicBezTo>
                    <a:pt x="10456369" y="954540"/>
                    <a:pt x="10448866" y="962042"/>
                    <a:pt x="10439612" y="962042"/>
                  </a:cubicBezTo>
                  <a:lnTo>
                    <a:pt x="16757" y="962042"/>
                  </a:lnTo>
                  <a:cubicBezTo>
                    <a:pt x="7502" y="962042"/>
                    <a:pt x="0" y="954540"/>
                    <a:pt x="0" y="945285"/>
                  </a:cubicBezTo>
                  <a:lnTo>
                    <a:pt x="0" y="16757"/>
                  </a:lnTo>
                  <a:cubicBezTo>
                    <a:pt x="0" y="7502"/>
                    <a:pt x="7502" y="0"/>
                    <a:pt x="16757" y="0"/>
                  </a:cubicBez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0"/>
            <p:cNvSpPr txBox="1"/>
            <p:nvPr/>
          </p:nvSpPr>
          <p:spPr>
            <a:xfrm>
              <a:off x="0" y="-66675"/>
              <a:ext cx="10456500" cy="1028700"/>
            </a:xfrm>
            <a:prstGeom prst="rect">
              <a:avLst/>
            </a:prstGeom>
            <a:solidFill>
              <a:srgbClr val="719D7F"/>
            </a:solidFill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</a:rPr>
                <a:t>“Unlock exclusive items and earn rewards faster with Premium.”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296" name="Google Shape;296;p10"/>
          <p:cNvGrpSpPr/>
          <p:nvPr/>
        </p:nvGrpSpPr>
        <p:grpSpPr>
          <a:xfrm>
            <a:off x="14610975" y="160472"/>
            <a:ext cx="2225550" cy="472800"/>
            <a:chOff x="1190050" y="184397"/>
            <a:chExt cx="2225550" cy="472800"/>
          </a:xfrm>
        </p:grpSpPr>
        <p:sp>
          <p:nvSpPr>
            <p:cNvPr id="297" name="Google Shape;297;p10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10"/>
          <p:cNvSpPr txBox="1"/>
          <p:nvPr/>
        </p:nvSpPr>
        <p:spPr>
          <a:xfrm>
            <a:off x="17219325" y="9882850"/>
            <a:ext cx="1068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08</a:t>
            </a:r>
            <a:endParaRPr b="1" sz="2000">
              <a:solidFill>
                <a:srgbClr val="26554C"/>
              </a:solidFill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921532" y="494153"/>
            <a:ext cx="111186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App Interface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11"/>
          <p:cNvGrpSpPr/>
          <p:nvPr/>
        </p:nvGrpSpPr>
        <p:grpSpPr>
          <a:xfrm>
            <a:off x="7374448" y="8969748"/>
            <a:ext cx="3539104" cy="617207"/>
            <a:chOff x="0" y="0"/>
            <a:chExt cx="4718805" cy="822943"/>
          </a:xfrm>
        </p:grpSpPr>
        <p:sp>
          <p:nvSpPr>
            <p:cNvPr id="309" name="Google Shape;309;p11"/>
            <p:cNvSpPr/>
            <p:nvPr/>
          </p:nvSpPr>
          <p:spPr>
            <a:xfrm>
              <a:off x="0" y="0"/>
              <a:ext cx="4718805" cy="822943"/>
            </a:xfrm>
            <a:custGeom>
              <a:rect b="b" l="l" r="r" t="t"/>
              <a:pathLst>
                <a:path extrusionOk="0" h="225159" w="1291075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0" name="Google Shape;310;p11"/>
            <p:cNvSpPr txBox="1"/>
            <p:nvPr/>
          </p:nvSpPr>
          <p:spPr>
            <a:xfrm>
              <a:off x="307158" y="121700"/>
              <a:ext cx="41046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Competitive Analysis</a:t>
              </a:r>
              <a:endParaRPr/>
            </a:p>
          </p:txBody>
        </p:sp>
      </p:grpSp>
      <p:sp>
        <p:nvSpPr>
          <p:cNvPr id="311" name="Google Shape;311;p11"/>
          <p:cNvSpPr/>
          <p:nvPr/>
        </p:nvSpPr>
        <p:spPr>
          <a:xfrm rot="-278358">
            <a:off x="-187185" y="433311"/>
            <a:ext cx="2756025" cy="866895"/>
          </a:xfrm>
          <a:custGeom>
            <a:rect b="b" l="l" r="r" t="t"/>
            <a:pathLst>
              <a:path extrusionOk="0" h="866895" w="2756025">
                <a:moveTo>
                  <a:pt x="0" y="0"/>
                </a:moveTo>
                <a:lnTo>
                  <a:pt x="2756025" y="0"/>
                </a:lnTo>
                <a:lnTo>
                  <a:pt x="2756025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1"/>
          <p:cNvSpPr/>
          <p:nvPr/>
        </p:nvSpPr>
        <p:spPr>
          <a:xfrm rot="-275120">
            <a:off x="15699577" y="8831481"/>
            <a:ext cx="2757962" cy="867504"/>
          </a:xfrm>
          <a:custGeom>
            <a:rect b="b" l="l" r="r" t="t"/>
            <a:pathLst>
              <a:path extrusionOk="0" h="866895" w="2756025">
                <a:moveTo>
                  <a:pt x="0" y="0"/>
                </a:moveTo>
                <a:lnTo>
                  <a:pt x="2756026" y="0"/>
                </a:lnTo>
                <a:lnTo>
                  <a:pt x="2756026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1"/>
          <p:cNvSpPr/>
          <p:nvPr/>
        </p:nvSpPr>
        <p:spPr>
          <a:xfrm>
            <a:off x="2462188" y="8728374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1"/>
          <p:cNvSpPr/>
          <p:nvPr/>
        </p:nvSpPr>
        <p:spPr>
          <a:xfrm>
            <a:off x="15384196" y="-309867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5" name="Google Shape;315;p11"/>
          <p:cNvGrpSpPr/>
          <p:nvPr/>
        </p:nvGrpSpPr>
        <p:grpSpPr>
          <a:xfrm>
            <a:off x="783375" y="9361522"/>
            <a:ext cx="2225550" cy="472800"/>
            <a:chOff x="1190050" y="184397"/>
            <a:chExt cx="2225550" cy="472800"/>
          </a:xfrm>
        </p:grpSpPr>
        <p:sp>
          <p:nvSpPr>
            <p:cNvPr id="316" name="Google Shape;316;p11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11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09</a:t>
            </a:r>
            <a:endParaRPr b="1" sz="2000">
              <a:solidFill>
                <a:srgbClr val="26554C"/>
              </a:solidFill>
            </a:endParaRPr>
          </a:p>
        </p:txBody>
      </p:sp>
      <p:graphicFrame>
        <p:nvGraphicFramePr>
          <p:cNvPr id="321" name="Google Shape;321;p11"/>
          <p:cNvGraphicFramePr/>
          <p:nvPr/>
        </p:nvGraphicFramePr>
        <p:xfrm>
          <a:off x="861350" y="137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{CDFE4D12-8106-41DA-BCBE-EBF9307FF147}</a:tableStyleId>
              </a:tblPr>
              <a:tblGrid>
                <a:gridCol w="5478650"/>
                <a:gridCol w="5478650"/>
                <a:gridCol w="5478650"/>
              </a:tblGrid>
              <a:tr h="243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5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FFFFFF"/>
                          </a:solidFill>
                        </a:rPr>
                        <a:t>SWOT Strategy Matrix</a:t>
                      </a:r>
                      <a:endParaRPr b="1" sz="35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A7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Strengths - </a:t>
                      </a: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S</a:t>
                      </a:r>
                      <a:endParaRPr b="1" i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Point-based model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Trusted verification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Strong eco appeal</a:t>
                      </a:r>
                      <a:r>
                        <a:rPr lang="en-US" sz="3000">
                          <a:solidFill>
                            <a:schemeClr val="dk1"/>
                          </a:solidFill>
                        </a:rPr>
                        <a:t> 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Weaknesses - </a:t>
                      </a: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W</a:t>
                      </a:r>
                      <a:endParaRPr b="1" i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Needs large user base 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Moderation workload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Early revenue limits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9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Opportunities - </a:t>
                      </a: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O</a:t>
                      </a:r>
                      <a:endParaRPr b="1" i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Sustainability trend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University partners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Gamified engagement 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SO</a:t>
                      </a: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 Strategies</a:t>
                      </a:r>
                      <a:endParaRPr b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Use trust to partner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Leverage eco appeal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Gamify to scale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W</a:t>
                      </a: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O</a:t>
                      </a: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 Strategies</a:t>
                      </a:r>
                      <a:endParaRPr b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Use uni hubs for growth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Partner to reduce workload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Use brands for revenue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9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Threats - </a:t>
                      </a: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T</a:t>
                      </a:r>
                      <a:endParaRPr b="1" i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Resale app competition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Logistics challenges  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Trend/regulation shifts</a:t>
                      </a:r>
                      <a:r>
                        <a:rPr b="1" i="1" lang="en-US" sz="2500">
                          <a:solidFill>
                            <a:srgbClr val="26554C"/>
                          </a:solidFill>
                        </a:rPr>
                        <a:t> </a:t>
                      </a:r>
                      <a:endParaRPr b="1" i="1" sz="2500">
                        <a:solidFill>
                          <a:srgbClr val="26554C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ST</a:t>
                      </a: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 Strategies</a:t>
                      </a:r>
                      <a:endParaRPr b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Differentiate via model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Promote sustainability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Build trust advantage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-US" sz="3500">
                          <a:solidFill>
                            <a:srgbClr val="26554C"/>
                          </a:solidFill>
                        </a:rPr>
                        <a:t>WT</a:t>
                      </a:r>
                      <a:r>
                        <a:rPr b="1" lang="en-US" sz="3500">
                          <a:solidFill>
                            <a:srgbClr val="26554C"/>
                          </a:solidFill>
                        </a:rPr>
                        <a:t> Strategies</a:t>
                      </a:r>
                      <a:endParaRPr b="1" sz="3500">
                        <a:solidFill>
                          <a:srgbClr val="26554C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Automate moderation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Improve logistics hubs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indent="-387350" lvl="0" marL="9144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Diversify revenue streams 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905495" y="657204"/>
            <a:ext cx="16436355" cy="1907038"/>
          </a:xfrm>
          <a:custGeom>
            <a:rect b="b" l="l" r="r" t="t"/>
            <a:pathLst>
              <a:path extrusionOk="0" h="695693" w="5996027">
                <a:moveTo>
                  <a:pt x="0" y="0"/>
                </a:moveTo>
                <a:lnTo>
                  <a:pt x="5996027" y="0"/>
                </a:lnTo>
                <a:lnTo>
                  <a:pt x="5996027" y="695693"/>
                </a:lnTo>
                <a:lnTo>
                  <a:pt x="0" y="6956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8" name="Google Shape;328;p12"/>
          <p:cNvSpPr/>
          <p:nvPr/>
        </p:nvSpPr>
        <p:spPr>
          <a:xfrm>
            <a:off x="852578" y="2573233"/>
            <a:ext cx="16429114" cy="5766374"/>
          </a:xfrm>
          <a:custGeom>
            <a:rect b="b" l="l" r="r" t="t"/>
            <a:pathLst>
              <a:path extrusionOk="0" h="2104516" w="5996027">
                <a:moveTo>
                  <a:pt x="0" y="0"/>
                </a:moveTo>
                <a:lnTo>
                  <a:pt x="5996027" y="0"/>
                </a:lnTo>
                <a:lnTo>
                  <a:pt x="5996027" y="2104516"/>
                </a:lnTo>
                <a:lnTo>
                  <a:pt x="0" y="2104516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329" name="Google Shape;329;p12"/>
          <p:cNvGrpSpPr/>
          <p:nvPr/>
        </p:nvGrpSpPr>
        <p:grpSpPr>
          <a:xfrm>
            <a:off x="1675747" y="6213975"/>
            <a:ext cx="4588200" cy="1406183"/>
            <a:chOff x="0" y="-47625"/>
            <a:chExt cx="6117600" cy="1874911"/>
          </a:xfrm>
        </p:grpSpPr>
        <p:sp>
          <p:nvSpPr>
            <p:cNvPr id="330" name="Google Shape;330;p12"/>
            <p:cNvSpPr txBox="1"/>
            <p:nvPr/>
          </p:nvSpPr>
          <p:spPr>
            <a:xfrm>
              <a:off x="0" y="-47625"/>
              <a:ext cx="61176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Company</a:t>
              </a:r>
              <a:endParaRPr/>
            </a:p>
          </p:txBody>
        </p:sp>
        <p:sp>
          <p:nvSpPr>
            <p:cNvPr id="331" name="Google Shape;331;p12"/>
            <p:cNvSpPr txBox="1"/>
            <p:nvPr/>
          </p:nvSpPr>
          <p:spPr>
            <a:xfrm>
              <a:off x="0" y="789286"/>
              <a:ext cx="6117600" cy="103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7490" lvl="1" marL="474979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Platform where users swap, to save money and the planet.</a:t>
              </a:r>
              <a:endParaRPr/>
            </a:p>
          </p:txBody>
        </p:sp>
      </p:grpSp>
      <p:grpSp>
        <p:nvGrpSpPr>
          <p:cNvPr id="332" name="Google Shape;332;p12"/>
          <p:cNvGrpSpPr/>
          <p:nvPr/>
        </p:nvGrpSpPr>
        <p:grpSpPr>
          <a:xfrm>
            <a:off x="12023993" y="6213975"/>
            <a:ext cx="4588200" cy="1406183"/>
            <a:chOff x="0" y="-47625"/>
            <a:chExt cx="6117600" cy="1874911"/>
          </a:xfrm>
        </p:grpSpPr>
        <p:sp>
          <p:nvSpPr>
            <p:cNvPr id="333" name="Google Shape;333;p12"/>
            <p:cNvSpPr txBox="1"/>
            <p:nvPr/>
          </p:nvSpPr>
          <p:spPr>
            <a:xfrm>
              <a:off x="0" y="-47625"/>
              <a:ext cx="61176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Competitors</a:t>
              </a:r>
              <a:endParaRPr/>
            </a:p>
          </p:txBody>
        </p:sp>
        <p:sp>
          <p:nvSpPr>
            <p:cNvPr id="334" name="Google Shape;334;p12"/>
            <p:cNvSpPr txBox="1"/>
            <p:nvPr/>
          </p:nvSpPr>
          <p:spPr>
            <a:xfrm>
              <a:off x="0" y="789286"/>
              <a:ext cx="6117600" cy="103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7490" lvl="1" marL="474979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Danggeun (Karrot), Musinsa, Depop.</a:t>
              </a:r>
              <a:endParaRPr/>
            </a:p>
          </p:txBody>
        </p:sp>
      </p:grpSp>
      <p:grpSp>
        <p:nvGrpSpPr>
          <p:cNvPr id="335" name="Google Shape;335;p12"/>
          <p:cNvGrpSpPr/>
          <p:nvPr/>
        </p:nvGrpSpPr>
        <p:grpSpPr>
          <a:xfrm>
            <a:off x="7374448" y="8969748"/>
            <a:ext cx="3539104" cy="617207"/>
            <a:chOff x="0" y="0"/>
            <a:chExt cx="4718805" cy="822943"/>
          </a:xfrm>
        </p:grpSpPr>
        <p:sp>
          <p:nvSpPr>
            <p:cNvPr id="336" name="Google Shape;336;p12"/>
            <p:cNvSpPr/>
            <p:nvPr/>
          </p:nvSpPr>
          <p:spPr>
            <a:xfrm>
              <a:off x="0" y="0"/>
              <a:ext cx="4718805" cy="822943"/>
            </a:xfrm>
            <a:custGeom>
              <a:rect b="b" l="l" r="r" t="t"/>
              <a:pathLst>
                <a:path extrusionOk="0" h="225159" w="1291075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7" name="Google Shape;337;p12"/>
            <p:cNvSpPr txBox="1"/>
            <p:nvPr/>
          </p:nvSpPr>
          <p:spPr>
            <a:xfrm>
              <a:off x="307158" y="121700"/>
              <a:ext cx="41046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Competitive Analysis</a:t>
              </a:r>
              <a:endParaRPr/>
            </a:p>
          </p:txBody>
        </p:sp>
      </p:grpSp>
      <p:sp>
        <p:nvSpPr>
          <p:cNvPr id="338" name="Google Shape;338;p12"/>
          <p:cNvSpPr/>
          <p:nvPr/>
        </p:nvSpPr>
        <p:spPr>
          <a:xfrm flipH="1">
            <a:off x="14505994" y="-392081"/>
            <a:ext cx="4585506" cy="1625770"/>
          </a:xfrm>
          <a:custGeom>
            <a:rect b="b" l="l" r="r" t="t"/>
            <a:pathLst>
              <a:path extrusionOk="0" h="1625770" w="4585506">
                <a:moveTo>
                  <a:pt x="4585506" y="0"/>
                </a:moveTo>
                <a:lnTo>
                  <a:pt x="0" y="0"/>
                </a:lnTo>
                <a:lnTo>
                  <a:pt x="0" y="1625770"/>
                </a:lnTo>
                <a:lnTo>
                  <a:pt x="4585506" y="1625770"/>
                </a:lnTo>
                <a:lnTo>
                  <a:pt x="458550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2"/>
          <p:cNvSpPr/>
          <p:nvPr/>
        </p:nvSpPr>
        <p:spPr>
          <a:xfrm>
            <a:off x="-1710650" y="8744220"/>
            <a:ext cx="4585506" cy="1625770"/>
          </a:xfrm>
          <a:custGeom>
            <a:rect b="b" l="l" r="r" t="t"/>
            <a:pathLst>
              <a:path extrusionOk="0" h="1625770" w="4585506">
                <a:moveTo>
                  <a:pt x="0" y="0"/>
                </a:moveTo>
                <a:lnTo>
                  <a:pt x="4585506" y="0"/>
                </a:lnTo>
                <a:lnTo>
                  <a:pt x="4585506" y="1625770"/>
                </a:lnTo>
                <a:lnTo>
                  <a:pt x="0" y="1625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12"/>
          <p:cNvSpPr/>
          <p:nvPr/>
        </p:nvSpPr>
        <p:spPr>
          <a:xfrm rot="641794">
            <a:off x="8923192" y="-178822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2"/>
          <p:cNvSpPr/>
          <p:nvPr/>
        </p:nvSpPr>
        <p:spPr>
          <a:xfrm>
            <a:off x="2486507" y="2866796"/>
            <a:ext cx="2966741" cy="3102331"/>
          </a:xfrm>
          <a:custGeom>
            <a:rect b="b" l="l" r="r" t="t"/>
            <a:pathLst>
              <a:path extrusionOk="0" h="3102331" w="2966741">
                <a:moveTo>
                  <a:pt x="0" y="0"/>
                </a:moveTo>
                <a:lnTo>
                  <a:pt x="2966740" y="0"/>
                </a:lnTo>
                <a:lnTo>
                  <a:pt x="2966740" y="3102331"/>
                </a:lnTo>
                <a:lnTo>
                  <a:pt x="0" y="3102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6221" l="-57252" r="-58135" t="0"/>
            </a:stretch>
          </a:blipFill>
          <a:ln>
            <a:noFill/>
          </a:ln>
        </p:spPr>
      </p:sp>
      <p:sp>
        <p:nvSpPr>
          <p:cNvPr id="342" name="Google Shape;342;p12"/>
          <p:cNvSpPr/>
          <p:nvPr/>
        </p:nvSpPr>
        <p:spPr>
          <a:xfrm>
            <a:off x="8041626" y="2866796"/>
            <a:ext cx="2204748" cy="3102331"/>
          </a:xfrm>
          <a:custGeom>
            <a:rect b="b" l="l" r="r" t="t"/>
            <a:pathLst>
              <a:path extrusionOk="0" h="3102331" w="2204748">
                <a:moveTo>
                  <a:pt x="0" y="0"/>
                </a:moveTo>
                <a:lnTo>
                  <a:pt x="2204748" y="0"/>
                </a:lnTo>
                <a:lnTo>
                  <a:pt x="2204748" y="3102331"/>
                </a:lnTo>
                <a:lnTo>
                  <a:pt x="0" y="3102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134" l="-165353" r="-162801" t="-29039"/>
            </a:stretch>
          </a:blipFill>
          <a:ln>
            <a:noFill/>
          </a:ln>
        </p:spPr>
      </p:sp>
      <p:sp>
        <p:nvSpPr>
          <p:cNvPr id="343" name="Google Shape;343;p12"/>
          <p:cNvSpPr/>
          <p:nvPr/>
        </p:nvSpPr>
        <p:spPr>
          <a:xfrm>
            <a:off x="13203670" y="2866811"/>
            <a:ext cx="2228850" cy="2228850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12903149" y="4742031"/>
            <a:ext cx="1234440" cy="1234440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14506000" y="4742033"/>
            <a:ext cx="1234440" cy="1234440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 txBox="1"/>
          <p:nvPr/>
        </p:nvSpPr>
        <p:spPr>
          <a:xfrm>
            <a:off x="3106887" y="820148"/>
            <a:ext cx="12074226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3C Framework</a:t>
            </a:r>
            <a:endParaRPr/>
          </a:p>
        </p:txBody>
      </p:sp>
      <p:grpSp>
        <p:nvGrpSpPr>
          <p:cNvPr id="347" name="Google Shape;347;p12"/>
          <p:cNvGrpSpPr/>
          <p:nvPr/>
        </p:nvGrpSpPr>
        <p:grpSpPr>
          <a:xfrm>
            <a:off x="6849870" y="6213975"/>
            <a:ext cx="4588200" cy="1846283"/>
            <a:chOff x="0" y="-47625"/>
            <a:chExt cx="6117600" cy="2461711"/>
          </a:xfrm>
        </p:grpSpPr>
        <p:sp>
          <p:nvSpPr>
            <p:cNvPr id="348" name="Google Shape;348;p12"/>
            <p:cNvSpPr txBox="1"/>
            <p:nvPr/>
          </p:nvSpPr>
          <p:spPr>
            <a:xfrm>
              <a:off x="0" y="-47625"/>
              <a:ext cx="6117600" cy="7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Customer</a:t>
              </a:r>
              <a:endParaRPr/>
            </a:p>
          </p:txBody>
        </p:sp>
        <p:sp>
          <p:nvSpPr>
            <p:cNvPr id="349" name="Google Shape;349;p12"/>
            <p:cNvSpPr txBox="1"/>
            <p:nvPr/>
          </p:nvSpPr>
          <p:spPr>
            <a:xfrm>
              <a:off x="0" y="789286"/>
              <a:ext cx="6117600" cy="16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7490" lvl="1" marL="474979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Young adults, students, eco - conscious people, NGOs/ thrift stores.</a:t>
              </a:r>
              <a:endParaRPr/>
            </a:p>
          </p:txBody>
        </p:sp>
      </p:grpSp>
      <p:grpSp>
        <p:nvGrpSpPr>
          <p:cNvPr id="350" name="Google Shape;350;p12"/>
          <p:cNvGrpSpPr/>
          <p:nvPr/>
        </p:nvGrpSpPr>
        <p:grpSpPr>
          <a:xfrm>
            <a:off x="1190050" y="184397"/>
            <a:ext cx="2225550" cy="472800"/>
            <a:chOff x="1190050" y="184397"/>
            <a:chExt cx="2225550" cy="472800"/>
          </a:xfrm>
        </p:grpSpPr>
        <p:sp>
          <p:nvSpPr>
            <p:cNvPr id="351" name="Google Shape;351;p12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12"/>
          <p:cNvGrpSpPr/>
          <p:nvPr/>
        </p:nvGrpSpPr>
        <p:grpSpPr>
          <a:xfrm>
            <a:off x="14237100" y="9320697"/>
            <a:ext cx="2225550" cy="472800"/>
            <a:chOff x="1190050" y="184397"/>
            <a:chExt cx="2225550" cy="472800"/>
          </a:xfrm>
        </p:grpSpPr>
        <p:sp>
          <p:nvSpPr>
            <p:cNvPr id="356" name="Google Shape;356;p12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2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10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905500" y="973448"/>
            <a:ext cx="8042215" cy="847245"/>
          </a:xfrm>
          <a:custGeom>
            <a:rect b="b" l="l" r="r" t="t"/>
            <a:pathLst>
              <a:path extrusionOk="0" h="1045982" w="2935115">
                <a:moveTo>
                  <a:pt x="0" y="0"/>
                </a:moveTo>
                <a:lnTo>
                  <a:pt x="2935115" y="0"/>
                </a:lnTo>
                <a:lnTo>
                  <a:pt x="2935115" y="1045982"/>
                </a:lnTo>
                <a:lnTo>
                  <a:pt x="0" y="1045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7" name="Google Shape;367;p13"/>
          <p:cNvSpPr/>
          <p:nvPr/>
        </p:nvSpPr>
        <p:spPr>
          <a:xfrm>
            <a:off x="9301525" y="1934276"/>
            <a:ext cx="8356844" cy="6415711"/>
          </a:xfrm>
          <a:custGeom>
            <a:rect b="b" l="l" r="r" t="t"/>
            <a:pathLst>
              <a:path extrusionOk="0" h="2816997" w="3049943">
                <a:moveTo>
                  <a:pt x="0" y="0"/>
                </a:moveTo>
                <a:lnTo>
                  <a:pt x="3049943" y="0"/>
                </a:lnTo>
                <a:lnTo>
                  <a:pt x="3049943" y="2816997"/>
                </a:lnTo>
                <a:lnTo>
                  <a:pt x="0" y="281699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8" name="Google Shape;368;p13"/>
          <p:cNvSpPr txBox="1"/>
          <p:nvPr/>
        </p:nvSpPr>
        <p:spPr>
          <a:xfrm>
            <a:off x="1455357" y="973454"/>
            <a:ext cx="72375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Financial Planning</a:t>
            </a:r>
            <a:endParaRPr/>
          </a:p>
        </p:txBody>
      </p:sp>
      <p:sp>
        <p:nvSpPr>
          <p:cNvPr id="369" name="Google Shape;369;p13"/>
          <p:cNvSpPr txBox="1"/>
          <p:nvPr/>
        </p:nvSpPr>
        <p:spPr>
          <a:xfrm>
            <a:off x="587063" y="3312563"/>
            <a:ext cx="8360400" cy="4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1" marL="9144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•"/>
            </a:pPr>
            <a:r>
              <a:rPr lang="en-US" sz="2199">
                <a:highlight>
                  <a:srgbClr val="D9EAD3"/>
                </a:highlight>
              </a:rPr>
              <a:t>Revenue increases steadily </a:t>
            </a:r>
            <a:r>
              <a:rPr lang="en-US" sz="2199"/>
              <a:t>as user base grows through campus onboarding and partnerships with eco-friendly brands.</a:t>
            </a:r>
            <a:endParaRPr sz="2199"/>
          </a:p>
          <a:p>
            <a:pPr indent="-368236" lvl="1" marL="9144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•"/>
            </a:pPr>
            <a:r>
              <a:rPr lang="en-US" sz="2199"/>
              <a:t>Optimize cost per acquisition through </a:t>
            </a:r>
            <a:r>
              <a:rPr lang="en-US" sz="2199">
                <a:highlight>
                  <a:srgbClr val="D9EAD3"/>
                </a:highlight>
              </a:rPr>
              <a:t>community-driven growth</a:t>
            </a:r>
            <a:r>
              <a:rPr lang="en-US" sz="2199"/>
              <a:t>.</a:t>
            </a:r>
            <a:endParaRPr sz="2199"/>
          </a:p>
          <a:p>
            <a:pPr indent="-368236" lvl="1" marL="9144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•"/>
            </a:pPr>
            <a:r>
              <a:rPr lang="en-US" sz="2199"/>
              <a:t>Invest in app enhancement and moderation to maintain </a:t>
            </a:r>
            <a:r>
              <a:rPr b="1" lang="en-US" sz="2199">
                <a:highlight>
                  <a:schemeClr val="lt2"/>
                </a:highlight>
              </a:rPr>
              <a:t>trust</a:t>
            </a:r>
            <a:r>
              <a:rPr lang="en-US" sz="2199">
                <a:highlight>
                  <a:schemeClr val="lt2"/>
                </a:highlight>
              </a:rPr>
              <a:t>.</a:t>
            </a:r>
            <a:endParaRPr sz="2199">
              <a:highlight>
                <a:schemeClr val="lt2"/>
              </a:highlight>
            </a:endParaRPr>
          </a:p>
          <a:p>
            <a:pPr indent="-368236" lvl="1" marL="9144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•"/>
            </a:pPr>
            <a:r>
              <a:rPr lang="en-US" sz="2199">
                <a:highlight>
                  <a:srgbClr val="D9EAD3"/>
                </a:highlight>
              </a:rPr>
              <a:t>Expand revenue</a:t>
            </a:r>
            <a:r>
              <a:rPr lang="en-US" sz="2199"/>
              <a:t> through brand collaborations, premium features, and ad partnerships</a:t>
            </a:r>
            <a:endParaRPr sz="2199"/>
          </a:p>
          <a:p>
            <a:pPr indent="0" lvl="0" marL="91440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99"/>
          </a:p>
        </p:txBody>
      </p:sp>
      <p:sp>
        <p:nvSpPr>
          <p:cNvPr id="370" name="Google Shape;370;p13"/>
          <p:cNvSpPr/>
          <p:nvPr/>
        </p:nvSpPr>
        <p:spPr>
          <a:xfrm flipH="1">
            <a:off x="7088098" y="9323609"/>
            <a:ext cx="4111803" cy="1457821"/>
          </a:xfrm>
          <a:custGeom>
            <a:rect b="b" l="l" r="r" t="t"/>
            <a:pathLst>
              <a:path extrusionOk="0" h="1457821" w="4111803">
                <a:moveTo>
                  <a:pt x="4111804" y="0"/>
                </a:moveTo>
                <a:lnTo>
                  <a:pt x="0" y="0"/>
                </a:lnTo>
                <a:lnTo>
                  <a:pt x="0" y="1457821"/>
                </a:lnTo>
                <a:lnTo>
                  <a:pt x="4111804" y="1457821"/>
                </a:lnTo>
                <a:lnTo>
                  <a:pt x="411180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1" name="Google Shape;371;p13"/>
          <p:cNvSpPr/>
          <p:nvPr/>
        </p:nvSpPr>
        <p:spPr>
          <a:xfrm>
            <a:off x="17441250" y="656871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13"/>
          <p:cNvSpPr/>
          <p:nvPr/>
        </p:nvSpPr>
        <p:spPr>
          <a:xfrm>
            <a:off x="587084" y="4917542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73" name="Google Shape;37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4600" y="2798262"/>
            <a:ext cx="7854374" cy="487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13"/>
          <p:cNvGrpSpPr/>
          <p:nvPr/>
        </p:nvGrpSpPr>
        <p:grpSpPr>
          <a:xfrm>
            <a:off x="1190050" y="184397"/>
            <a:ext cx="2225550" cy="472800"/>
            <a:chOff x="1190050" y="184397"/>
            <a:chExt cx="2225550" cy="472800"/>
          </a:xfrm>
        </p:grpSpPr>
        <p:sp>
          <p:nvSpPr>
            <p:cNvPr id="375" name="Google Shape;375;p13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13"/>
          <p:cNvGrpSpPr/>
          <p:nvPr/>
        </p:nvGrpSpPr>
        <p:grpSpPr>
          <a:xfrm>
            <a:off x="15183425" y="9323597"/>
            <a:ext cx="2225550" cy="472800"/>
            <a:chOff x="1190050" y="184397"/>
            <a:chExt cx="2225550" cy="472800"/>
          </a:xfrm>
        </p:grpSpPr>
        <p:sp>
          <p:nvSpPr>
            <p:cNvPr id="380" name="Google Shape;380;p13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13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1</a:t>
            </a:r>
            <a:r>
              <a:rPr b="1" lang="en-US" sz="2000">
                <a:solidFill>
                  <a:srgbClr val="26554C"/>
                </a:solidFill>
              </a:rPr>
              <a:t>1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a01306477_0_4"/>
          <p:cNvSpPr/>
          <p:nvPr/>
        </p:nvSpPr>
        <p:spPr>
          <a:xfrm>
            <a:off x="287525" y="417225"/>
            <a:ext cx="17583600" cy="9234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aa01306477_0_4"/>
          <p:cNvSpPr/>
          <p:nvPr/>
        </p:nvSpPr>
        <p:spPr>
          <a:xfrm>
            <a:off x="9627825" y="3564599"/>
            <a:ext cx="8042215" cy="4816786"/>
          </a:xfrm>
          <a:custGeom>
            <a:rect b="b" l="l" r="r" t="t"/>
            <a:pathLst>
              <a:path extrusionOk="0" h="1050553" w="2935115">
                <a:moveTo>
                  <a:pt x="0" y="0"/>
                </a:moveTo>
                <a:lnTo>
                  <a:pt x="2935115" y="0"/>
                </a:lnTo>
                <a:lnTo>
                  <a:pt x="2935115" y="1050553"/>
                </a:lnTo>
                <a:lnTo>
                  <a:pt x="0" y="10505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1" name="Google Shape;391;g3aa01306477_0_4"/>
          <p:cNvSpPr/>
          <p:nvPr/>
        </p:nvSpPr>
        <p:spPr>
          <a:xfrm>
            <a:off x="9627825" y="1675234"/>
            <a:ext cx="8042215" cy="1228644"/>
          </a:xfrm>
          <a:custGeom>
            <a:rect b="b" l="l" r="r" t="t"/>
            <a:pathLst>
              <a:path extrusionOk="0" h="1638192" w="2935115">
                <a:moveTo>
                  <a:pt x="0" y="0"/>
                </a:moveTo>
                <a:lnTo>
                  <a:pt x="2935115" y="0"/>
                </a:lnTo>
                <a:lnTo>
                  <a:pt x="2935115" y="1638192"/>
                </a:lnTo>
                <a:lnTo>
                  <a:pt x="0" y="16381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2" name="Google Shape;392;g3aa01306477_0_4"/>
          <p:cNvSpPr txBox="1"/>
          <p:nvPr/>
        </p:nvSpPr>
        <p:spPr>
          <a:xfrm>
            <a:off x="10342051" y="1866396"/>
            <a:ext cx="67779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Break-Even Point</a:t>
            </a:r>
            <a:endParaRPr/>
          </a:p>
        </p:txBody>
      </p:sp>
      <p:sp>
        <p:nvSpPr>
          <p:cNvPr id="393" name="Google Shape;393;g3aa01306477_0_4"/>
          <p:cNvSpPr txBox="1"/>
          <p:nvPr/>
        </p:nvSpPr>
        <p:spPr>
          <a:xfrm>
            <a:off x="9793802" y="3698279"/>
            <a:ext cx="7874400" cy="4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●"/>
            </a:pPr>
            <a:r>
              <a:rPr b="1" lang="en-US" sz="2199"/>
              <a:t>Fixed Costs:</a:t>
            </a:r>
            <a:r>
              <a:rPr lang="en-US" sz="2199"/>
              <a:t> App development, servers, staff</a:t>
            </a:r>
            <a:endParaRPr sz="2199"/>
          </a:p>
          <a:p>
            <a:pPr indent="-368236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●"/>
            </a:pPr>
            <a:r>
              <a:rPr b="1" lang="en-US" sz="2199"/>
              <a:t>Variable Costs</a:t>
            </a:r>
            <a:r>
              <a:rPr lang="en-US" sz="2199"/>
              <a:t>: Marketing, user support, moderation</a:t>
            </a:r>
            <a:endParaRPr sz="2199"/>
          </a:p>
          <a:p>
            <a:pPr indent="-368236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●"/>
            </a:pPr>
            <a:r>
              <a:rPr b="1" lang="en-US" sz="2199"/>
              <a:t>Revenue Streams</a:t>
            </a:r>
            <a:r>
              <a:rPr lang="en-US" sz="2199"/>
              <a:t>: Brand partnerships, premium plans, ads</a:t>
            </a:r>
            <a:endParaRPr sz="2199"/>
          </a:p>
          <a:p>
            <a:pPr indent="0" lvl="0" marL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99">
              <a:highlight>
                <a:schemeClr val="lt1"/>
              </a:highlight>
            </a:endParaRPr>
          </a:p>
          <a:p>
            <a:pPr indent="-368236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●"/>
            </a:pPr>
            <a:r>
              <a:rPr lang="en-US" sz="2199">
                <a:highlight>
                  <a:schemeClr val="lt2"/>
                </a:highlight>
              </a:rPr>
              <a:t>Increased swap volume raises advertising and partnership value.</a:t>
            </a:r>
            <a:endParaRPr sz="2199">
              <a:highlight>
                <a:schemeClr val="lt2"/>
              </a:highlight>
            </a:endParaRPr>
          </a:p>
          <a:p>
            <a:pPr indent="-368236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●"/>
            </a:pPr>
            <a:r>
              <a:rPr b="1" lang="en-US" sz="2199"/>
              <a:t>User retention</a:t>
            </a:r>
            <a:r>
              <a:rPr lang="en-US" sz="2199"/>
              <a:t> is high because swapping is cheaper than buying.</a:t>
            </a:r>
            <a:endParaRPr sz="2199"/>
          </a:p>
          <a:p>
            <a:pPr indent="-368236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SzPts val="2199"/>
              <a:buChar char="●"/>
            </a:pPr>
            <a:r>
              <a:rPr lang="en-US" sz="2199"/>
              <a:t>Fixed costs stay stable while user volume grows.</a:t>
            </a:r>
            <a:endParaRPr sz="2199"/>
          </a:p>
        </p:txBody>
      </p:sp>
      <p:sp>
        <p:nvSpPr>
          <p:cNvPr id="394" name="Google Shape;394;g3aa01306477_0_4"/>
          <p:cNvSpPr/>
          <p:nvPr/>
        </p:nvSpPr>
        <p:spPr>
          <a:xfrm>
            <a:off x="592850" y="681348"/>
            <a:ext cx="8689611" cy="8683048"/>
          </a:xfrm>
          <a:custGeom>
            <a:rect b="b" l="l" r="r" t="t"/>
            <a:pathLst>
              <a:path extrusionOk="0" h="2810048" w="3171391">
                <a:moveTo>
                  <a:pt x="0" y="0"/>
                </a:moveTo>
                <a:lnTo>
                  <a:pt x="3171391" y="0"/>
                </a:lnTo>
                <a:lnTo>
                  <a:pt x="3171391" y="2810048"/>
                </a:lnTo>
                <a:lnTo>
                  <a:pt x="0" y="28100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395" name="Google Shape;395;g3aa01306477_0_4"/>
          <p:cNvGrpSpPr/>
          <p:nvPr/>
        </p:nvGrpSpPr>
        <p:grpSpPr>
          <a:xfrm>
            <a:off x="7374450" y="9780340"/>
            <a:ext cx="3539159" cy="338481"/>
            <a:chOff x="0" y="-131356"/>
            <a:chExt cx="4718879" cy="1274400"/>
          </a:xfrm>
        </p:grpSpPr>
        <p:sp>
          <p:nvSpPr>
            <p:cNvPr id="396" name="Google Shape;396;g3aa01306477_0_4"/>
            <p:cNvSpPr/>
            <p:nvPr/>
          </p:nvSpPr>
          <p:spPr>
            <a:xfrm>
              <a:off x="0" y="0"/>
              <a:ext cx="4718879" cy="822956"/>
            </a:xfrm>
            <a:custGeom>
              <a:rect b="b" l="l" r="r" t="t"/>
              <a:pathLst>
                <a:path extrusionOk="0" h="225159" w="1291075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7" name="Google Shape;397;g3aa01306477_0_4"/>
            <p:cNvSpPr txBox="1"/>
            <p:nvPr/>
          </p:nvSpPr>
          <p:spPr>
            <a:xfrm>
              <a:off x="614258" y="-131356"/>
              <a:ext cx="4104600" cy="12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Financial </a:t>
              </a:r>
              <a:r>
                <a:rPr b="1" lang="en-US" sz="2199">
                  <a:solidFill>
                    <a:srgbClr val="26554C"/>
                  </a:solidFill>
                </a:rPr>
                <a:t>Analysis</a:t>
              </a:r>
              <a:endParaRPr/>
            </a:p>
          </p:txBody>
        </p:sp>
      </p:grpSp>
      <p:sp>
        <p:nvSpPr>
          <p:cNvPr id="398" name="Google Shape;398;g3aa01306477_0_4"/>
          <p:cNvSpPr/>
          <p:nvPr/>
        </p:nvSpPr>
        <p:spPr>
          <a:xfrm rot="-275120">
            <a:off x="-160116" y="297759"/>
            <a:ext cx="2757962" cy="867504"/>
          </a:xfrm>
          <a:custGeom>
            <a:rect b="b" l="l" r="r" t="t"/>
            <a:pathLst>
              <a:path extrusionOk="0" h="866895" w="2756025">
                <a:moveTo>
                  <a:pt x="0" y="0"/>
                </a:moveTo>
                <a:lnTo>
                  <a:pt x="2756025" y="0"/>
                </a:lnTo>
                <a:lnTo>
                  <a:pt x="2756025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g3aa01306477_0_4"/>
          <p:cNvSpPr/>
          <p:nvPr/>
        </p:nvSpPr>
        <p:spPr>
          <a:xfrm rot="-275120">
            <a:off x="15881006" y="7953820"/>
            <a:ext cx="2757962" cy="867504"/>
          </a:xfrm>
          <a:custGeom>
            <a:rect b="b" l="l" r="r" t="t"/>
            <a:pathLst>
              <a:path extrusionOk="0" h="866895" w="2756025">
                <a:moveTo>
                  <a:pt x="0" y="0"/>
                </a:moveTo>
                <a:lnTo>
                  <a:pt x="2756026" y="0"/>
                </a:lnTo>
                <a:lnTo>
                  <a:pt x="2756026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g3aa01306477_0_4"/>
          <p:cNvSpPr/>
          <p:nvPr/>
        </p:nvSpPr>
        <p:spPr>
          <a:xfrm>
            <a:off x="17444800" y="3754995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g3aa01306477_0_4"/>
          <p:cNvSpPr/>
          <p:nvPr/>
        </p:nvSpPr>
        <p:spPr>
          <a:xfrm>
            <a:off x="401584" y="8067717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02" name="Google Shape;402;g3aa01306477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1499" y="1004675"/>
            <a:ext cx="6875488" cy="426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aa01306477_0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4349" y="5269225"/>
            <a:ext cx="7429804" cy="409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aa01306477_0_4"/>
          <p:cNvSpPr txBox="1"/>
          <p:nvPr/>
        </p:nvSpPr>
        <p:spPr>
          <a:xfrm>
            <a:off x="9627825" y="8791688"/>
            <a:ext cx="67779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Break-even users = Fixed Costs ÷ (Revenue per user − Variable cost per user)</a:t>
            </a:r>
            <a:endParaRPr/>
          </a:p>
        </p:txBody>
      </p:sp>
      <p:grpSp>
        <p:nvGrpSpPr>
          <p:cNvPr id="405" name="Google Shape;405;g3aa01306477_0_4"/>
          <p:cNvGrpSpPr/>
          <p:nvPr/>
        </p:nvGrpSpPr>
        <p:grpSpPr>
          <a:xfrm>
            <a:off x="12816750" y="188897"/>
            <a:ext cx="2225550" cy="472800"/>
            <a:chOff x="1190050" y="184397"/>
            <a:chExt cx="2225550" cy="472800"/>
          </a:xfrm>
        </p:grpSpPr>
        <p:sp>
          <p:nvSpPr>
            <p:cNvPr id="406" name="Google Shape;406;g3aa01306477_0_4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g3aa01306477_0_4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g3aa01306477_0_4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g3aa01306477_0_4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g3aa01306477_0_4"/>
          <p:cNvSpPr txBox="1"/>
          <p:nvPr/>
        </p:nvSpPr>
        <p:spPr>
          <a:xfrm>
            <a:off x="17219325" y="9764875"/>
            <a:ext cx="10689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12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"/>
          <p:cNvSpPr/>
          <p:nvPr/>
        </p:nvSpPr>
        <p:spPr>
          <a:xfrm>
            <a:off x="287525" y="417225"/>
            <a:ext cx="17583600" cy="95112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9627825" y="2428202"/>
            <a:ext cx="8042215" cy="4924467"/>
          </a:xfrm>
          <a:custGeom>
            <a:rect b="b" l="l" r="r" t="t"/>
            <a:pathLst>
              <a:path extrusionOk="0" h="1050553" w="2935115">
                <a:moveTo>
                  <a:pt x="0" y="0"/>
                </a:moveTo>
                <a:lnTo>
                  <a:pt x="2935115" y="0"/>
                </a:lnTo>
                <a:lnTo>
                  <a:pt x="2935115" y="1050553"/>
                </a:lnTo>
                <a:lnTo>
                  <a:pt x="0" y="10505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7" name="Google Shape;417;p14"/>
          <p:cNvSpPr/>
          <p:nvPr/>
        </p:nvSpPr>
        <p:spPr>
          <a:xfrm>
            <a:off x="9627825" y="681359"/>
            <a:ext cx="8042215" cy="1351508"/>
          </a:xfrm>
          <a:custGeom>
            <a:rect b="b" l="l" r="r" t="t"/>
            <a:pathLst>
              <a:path extrusionOk="0" h="1638192" w="2935115">
                <a:moveTo>
                  <a:pt x="0" y="0"/>
                </a:moveTo>
                <a:lnTo>
                  <a:pt x="2935115" y="0"/>
                </a:lnTo>
                <a:lnTo>
                  <a:pt x="2935115" y="1638192"/>
                </a:lnTo>
                <a:lnTo>
                  <a:pt x="0" y="16381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8" name="Google Shape;418;p14"/>
          <p:cNvSpPr txBox="1"/>
          <p:nvPr/>
        </p:nvSpPr>
        <p:spPr>
          <a:xfrm>
            <a:off x="10259976" y="933963"/>
            <a:ext cx="67779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ROI</a:t>
            </a:r>
            <a:endParaRPr/>
          </a:p>
        </p:txBody>
      </p:sp>
      <p:sp>
        <p:nvSpPr>
          <p:cNvPr id="419" name="Google Shape;419;p14"/>
          <p:cNvSpPr txBox="1"/>
          <p:nvPr/>
        </p:nvSpPr>
        <p:spPr>
          <a:xfrm>
            <a:off x="9959250" y="2579675"/>
            <a:ext cx="74856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By Year 3, Closet Hug achieves a </a:t>
            </a:r>
            <a:r>
              <a:rPr b="1" lang="en-US" sz="2100">
                <a:solidFill>
                  <a:schemeClr val="dk1"/>
                </a:solidFill>
                <a:highlight>
                  <a:srgbClr val="D9EAD3"/>
                </a:highlight>
              </a:rPr>
              <a:t>~35% ROI</a:t>
            </a:r>
            <a:r>
              <a:rPr lang="en-US" sz="2100">
                <a:solidFill>
                  <a:schemeClr val="dk1"/>
                </a:solidFill>
                <a:highlight>
                  <a:srgbClr val="D9EAD3"/>
                </a:highlight>
              </a:rPr>
              <a:t>,</a:t>
            </a:r>
            <a:r>
              <a:rPr lang="en-US" sz="2100">
                <a:solidFill>
                  <a:schemeClr val="dk1"/>
                </a:solidFill>
              </a:rPr>
              <a:t> driven by strong user growth and low marginal cost per user.</a:t>
            </a:r>
            <a:endParaRPr sz="2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highlight>
                  <a:srgbClr val="D9EAD3"/>
                </a:highlight>
              </a:rPr>
              <a:t>ROI becomes positive after Year 2</a:t>
            </a:r>
            <a:r>
              <a:rPr lang="en-US" sz="2100">
                <a:solidFill>
                  <a:schemeClr val="dk1"/>
                </a:solidFill>
              </a:rPr>
              <a:t> once operational efficiency improves and customer acquisition becomes organic through community sharing.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Key Takeaway: A scalable, community-driven model allows Closet Hug to </a:t>
            </a:r>
            <a:r>
              <a:rPr b="1" lang="en-US" sz="2100">
                <a:solidFill>
                  <a:schemeClr val="dk1"/>
                </a:solidFill>
                <a:highlight>
                  <a:schemeClr val="lt2"/>
                </a:highlight>
              </a:rPr>
              <a:t>reach profitability early and maintain strong ROI as user numbers grow</a:t>
            </a:r>
            <a:r>
              <a:rPr b="1" lang="en-US" sz="2100">
                <a:solidFill>
                  <a:schemeClr val="dk1"/>
                </a:solidFill>
              </a:rPr>
              <a:t>.</a:t>
            </a:r>
            <a:endParaRPr b="1" sz="2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592850" y="681350"/>
            <a:ext cx="8689611" cy="8774375"/>
          </a:xfrm>
          <a:custGeom>
            <a:rect b="b" l="l" r="r" t="t"/>
            <a:pathLst>
              <a:path extrusionOk="0" h="2810048" w="3171391">
                <a:moveTo>
                  <a:pt x="0" y="0"/>
                </a:moveTo>
                <a:lnTo>
                  <a:pt x="3171391" y="0"/>
                </a:lnTo>
                <a:lnTo>
                  <a:pt x="3171391" y="2810048"/>
                </a:lnTo>
                <a:lnTo>
                  <a:pt x="0" y="28100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421" name="Google Shape;421;p14"/>
          <p:cNvGrpSpPr/>
          <p:nvPr/>
        </p:nvGrpSpPr>
        <p:grpSpPr>
          <a:xfrm>
            <a:off x="7374448" y="9222530"/>
            <a:ext cx="3539159" cy="617217"/>
            <a:chOff x="0" y="19659"/>
            <a:chExt cx="4718879" cy="822956"/>
          </a:xfrm>
        </p:grpSpPr>
        <p:sp>
          <p:nvSpPr>
            <p:cNvPr id="422" name="Google Shape;422;p14"/>
            <p:cNvSpPr/>
            <p:nvPr/>
          </p:nvSpPr>
          <p:spPr>
            <a:xfrm>
              <a:off x="0" y="19659"/>
              <a:ext cx="4718879" cy="822956"/>
            </a:xfrm>
            <a:custGeom>
              <a:rect b="b" l="l" r="r" t="t"/>
              <a:pathLst>
                <a:path extrusionOk="0" h="225159" w="1291075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3" name="Google Shape;423;p14"/>
            <p:cNvSpPr txBox="1"/>
            <p:nvPr/>
          </p:nvSpPr>
          <p:spPr>
            <a:xfrm>
              <a:off x="307103" y="185871"/>
              <a:ext cx="41046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Financial </a:t>
              </a:r>
              <a:r>
                <a:rPr b="1" lang="en-US" sz="2199">
                  <a:solidFill>
                    <a:srgbClr val="26554C"/>
                  </a:solidFill>
                </a:rPr>
                <a:t>Analysis</a:t>
              </a:r>
              <a:endParaRPr/>
            </a:p>
          </p:txBody>
        </p:sp>
      </p:grpSp>
      <p:sp>
        <p:nvSpPr>
          <p:cNvPr id="424" name="Google Shape;424;p14"/>
          <p:cNvSpPr/>
          <p:nvPr/>
        </p:nvSpPr>
        <p:spPr>
          <a:xfrm rot="-278358">
            <a:off x="-187185" y="433311"/>
            <a:ext cx="2756025" cy="866895"/>
          </a:xfrm>
          <a:custGeom>
            <a:rect b="b" l="l" r="r" t="t"/>
            <a:pathLst>
              <a:path extrusionOk="0" h="866895" w="2756025">
                <a:moveTo>
                  <a:pt x="0" y="0"/>
                </a:moveTo>
                <a:lnTo>
                  <a:pt x="2756025" y="0"/>
                </a:lnTo>
                <a:lnTo>
                  <a:pt x="2756025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4"/>
          <p:cNvSpPr/>
          <p:nvPr/>
        </p:nvSpPr>
        <p:spPr>
          <a:xfrm rot="-278358">
            <a:off x="15881287" y="7952572"/>
            <a:ext cx="2756025" cy="866895"/>
          </a:xfrm>
          <a:custGeom>
            <a:rect b="b" l="l" r="r" t="t"/>
            <a:pathLst>
              <a:path extrusionOk="0" h="866895" w="2756025">
                <a:moveTo>
                  <a:pt x="0" y="0"/>
                </a:moveTo>
                <a:lnTo>
                  <a:pt x="2756026" y="0"/>
                </a:lnTo>
                <a:lnTo>
                  <a:pt x="2756026" y="866895"/>
                </a:lnTo>
                <a:lnTo>
                  <a:pt x="0" y="866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14"/>
          <p:cNvSpPr/>
          <p:nvPr/>
        </p:nvSpPr>
        <p:spPr>
          <a:xfrm>
            <a:off x="17444800" y="3754995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14"/>
          <p:cNvSpPr/>
          <p:nvPr/>
        </p:nvSpPr>
        <p:spPr>
          <a:xfrm>
            <a:off x="401584" y="8067717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28" name="Google Shape;42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875" y="1142900"/>
            <a:ext cx="8359401" cy="51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4"/>
          <p:cNvSpPr txBox="1"/>
          <p:nvPr/>
        </p:nvSpPr>
        <p:spPr>
          <a:xfrm>
            <a:off x="759875" y="6327850"/>
            <a:ext cx="80421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ROI = (Total Net Profit ÷ Total Investment) × 100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Assume: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Total investment in 3 years = ₩520M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Total revenue in 3 years = ₩700M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Net profit = ₩700M − ₩520M = </a:t>
            </a:r>
            <a:r>
              <a:rPr b="1" lang="en-US" sz="2000">
                <a:solidFill>
                  <a:schemeClr val="dk1"/>
                </a:solidFill>
              </a:rPr>
              <a:t>₩180M</a:t>
            </a:r>
            <a:endParaRPr sz="2000"/>
          </a:p>
        </p:txBody>
      </p:sp>
      <p:grpSp>
        <p:nvGrpSpPr>
          <p:cNvPr id="430" name="Google Shape;430;p14"/>
          <p:cNvGrpSpPr/>
          <p:nvPr/>
        </p:nvGrpSpPr>
        <p:grpSpPr>
          <a:xfrm>
            <a:off x="13151675" y="9692291"/>
            <a:ext cx="2225550" cy="472800"/>
            <a:chOff x="1190050" y="184397"/>
            <a:chExt cx="2225550" cy="472800"/>
          </a:xfrm>
        </p:grpSpPr>
        <p:sp>
          <p:nvSpPr>
            <p:cNvPr id="431" name="Google Shape;431;p14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5" name="Google Shape;435;p14"/>
          <p:cNvSpPr txBox="1"/>
          <p:nvPr/>
        </p:nvSpPr>
        <p:spPr>
          <a:xfrm>
            <a:off x="17219325" y="9873625"/>
            <a:ext cx="10689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13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"/>
          <p:cNvSpPr/>
          <p:nvPr/>
        </p:nvSpPr>
        <p:spPr>
          <a:xfrm>
            <a:off x="287525" y="547100"/>
            <a:ext cx="17583600" cy="94146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1" name="Google Shape;441;p15"/>
          <p:cNvGrpSpPr/>
          <p:nvPr/>
        </p:nvGrpSpPr>
        <p:grpSpPr>
          <a:xfrm>
            <a:off x="7371350" y="3085552"/>
            <a:ext cx="3545468" cy="1995576"/>
            <a:chOff x="0" y="-85725"/>
            <a:chExt cx="817927" cy="454687"/>
          </a:xfrm>
        </p:grpSpPr>
        <p:sp>
          <p:nvSpPr>
            <p:cNvPr id="442" name="Google Shape;442;p15"/>
            <p:cNvSpPr/>
            <p:nvPr/>
          </p:nvSpPr>
          <p:spPr>
            <a:xfrm>
              <a:off x="0" y="0"/>
              <a:ext cx="817927" cy="368962"/>
            </a:xfrm>
            <a:custGeom>
              <a:rect b="b" l="l" r="r" t="t"/>
              <a:pathLst>
                <a:path extrusionOk="0" h="368962" w="817927">
                  <a:moveTo>
                    <a:pt x="0" y="0"/>
                  </a:moveTo>
                  <a:lnTo>
                    <a:pt x="817927" y="0"/>
                  </a:lnTo>
                  <a:lnTo>
                    <a:pt x="817927" y="368962"/>
                  </a:lnTo>
                  <a:lnTo>
                    <a:pt x="0" y="36896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443" name="Google Shape;443;p15"/>
            <p:cNvSpPr txBox="1"/>
            <p:nvPr/>
          </p:nvSpPr>
          <p:spPr>
            <a:xfrm>
              <a:off x="0" y="-85725"/>
              <a:ext cx="817927" cy="454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Daniela Gutierrez</a:t>
              </a:r>
              <a:endParaRPr/>
            </a:p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(CEO)</a:t>
              </a:r>
              <a:endParaRPr/>
            </a:p>
          </p:txBody>
        </p:sp>
      </p:grpSp>
      <p:grpSp>
        <p:nvGrpSpPr>
          <p:cNvPr id="444" name="Google Shape;444;p15"/>
          <p:cNvGrpSpPr/>
          <p:nvPr/>
        </p:nvGrpSpPr>
        <p:grpSpPr>
          <a:xfrm>
            <a:off x="11945516" y="3561902"/>
            <a:ext cx="2223948" cy="1313033"/>
            <a:chOff x="0" y="-47625"/>
            <a:chExt cx="1086195" cy="641296"/>
          </a:xfrm>
        </p:grpSpPr>
        <p:sp>
          <p:nvSpPr>
            <p:cNvPr id="445" name="Google Shape;445;p15"/>
            <p:cNvSpPr/>
            <p:nvPr/>
          </p:nvSpPr>
          <p:spPr>
            <a:xfrm>
              <a:off x="0" y="0"/>
              <a:ext cx="1086195" cy="593671"/>
            </a:xfrm>
            <a:custGeom>
              <a:rect b="b" l="l" r="r" t="t"/>
              <a:pathLst>
                <a:path extrusionOk="0" h="593671" w="1086195">
                  <a:moveTo>
                    <a:pt x="0" y="0"/>
                  </a:moveTo>
                  <a:lnTo>
                    <a:pt x="1086195" y="0"/>
                  </a:lnTo>
                  <a:lnTo>
                    <a:pt x="1086195" y="593671"/>
                  </a:lnTo>
                  <a:lnTo>
                    <a:pt x="0" y="593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6" name="Google Shape;446;p15"/>
            <p:cNvSpPr txBox="1"/>
            <p:nvPr/>
          </p:nvSpPr>
          <p:spPr>
            <a:xfrm>
              <a:off x="0" y="-47625"/>
              <a:ext cx="1086195" cy="641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Irfan Ali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(CMO)</a:t>
              </a:r>
              <a:endParaRPr/>
            </a:p>
          </p:txBody>
        </p:sp>
      </p:grpSp>
      <p:grpSp>
        <p:nvGrpSpPr>
          <p:cNvPr id="447" name="Google Shape;447;p15"/>
          <p:cNvGrpSpPr/>
          <p:nvPr/>
        </p:nvGrpSpPr>
        <p:grpSpPr>
          <a:xfrm>
            <a:off x="8032103" y="5982041"/>
            <a:ext cx="2223948" cy="1313033"/>
            <a:chOff x="0" y="-47625"/>
            <a:chExt cx="1086195" cy="641296"/>
          </a:xfrm>
        </p:grpSpPr>
        <p:sp>
          <p:nvSpPr>
            <p:cNvPr id="448" name="Google Shape;448;p15"/>
            <p:cNvSpPr/>
            <p:nvPr/>
          </p:nvSpPr>
          <p:spPr>
            <a:xfrm>
              <a:off x="0" y="0"/>
              <a:ext cx="1086195" cy="593671"/>
            </a:xfrm>
            <a:custGeom>
              <a:rect b="b" l="l" r="r" t="t"/>
              <a:pathLst>
                <a:path extrusionOk="0" h="593671" w="1086195">
                  <a:moveTo>
                    <a:pt x="0" y="0"/>
                  </a:moveTo>
                  <a:lnTo>
                    <a:pt x="1086195" y="0"/>
                  </a:lnTo>
                  <a:lnTo>
                    <a:pt x="1086195" y="593671"/>
                  </a:lnTo>
                  <a:lnTo>
                    <a:pt x="0" y="593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49" name="Google Shape;449;p15"/>
            <p:cNvSpPr txBox="1"/>
            <p:nvPr/>
          </p:nvSpPr>
          <p:spPr>
            <a:xfrm>
              <a:off x="0" y="-47625"/>
              <a:ext cx="1086195" cy="641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Rafsan Jany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(CFO)</a:t>
              </a:r>
              <a:endParaRPr/>
            </a:p>
          </p:txBody>
        </p:sp>
      </p:grpSp>
      <p:grpSp>
        <p:nvGrpSpPr>
          <p:cNvPr id="450" name="Google Shape;450;p15"/>
          <p:cNvGrpSpPr/>
          <p:nvPr/>
        </p:nvGrpSpPr>
        <p:grpSpPr>
          <a:xfrm>
            <a:off x="7908277" y="1198902"/>
            <a:ext cx="2382024" cy="1313246"/>
            <a:chOff x="-43882" y="-47631"/>
            <a:chExt cx="1163400" cy="641400"/>
          </a:xfrm>
        </p:grpSpPr>
        <p:sp>
          <p:nvSpPr>
            <p:cNvPr id="451" name="Google Shape;451;p15"/>
            <p:cNvSpPr/>
            <p:nvPr/>
          </p:nvSpPr>
          <p:spPr>
            <a:xfrm>
              <a:off x="0" y="0"/>
              <a:ext cx="1119387" cy="593671"/>
            </a:xfrm>
            <a:custGeom>
              <a:rect b="b" l="l" r="r" t="t"/>
              <a:pathLst>
                <a:path extrusionOk="0" h="593671" w="1119387">
                  <a:moveTo>
                    <a:pt x="0" y="0"/>
                  </a:moveTo>
                  <a:lnTo>
                    <a:pt x="1119387" y="0"/>
                  </a:lnTo>
                  <a:lnTo>
                    <a:pt x="1119387" y="593671"/>
                  </a:lnTo>
                  <a:lnTo>
                    <a:pt x="0" y="593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2" name="Google Shape;452;p15"/>
            <p:cNvSpPr txBox="1"/>
            <p:nvPr/>
          </p:nvSpPr>
          <p:spPr>
            <a:xfrm>
              <a:off x="-43882" y="-47631"/>
              <a:ext cx="11634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Muhammad Hassan (COO)</a:t>
              </a:r>
              <a:endParaRPr/>
            </a:p>
          </p:txBody>
        </p:sp>
      </p:grpSp>
      <p:grpSp>
        <p:nvGrpSpPr>
          <p:cNvPr id="453" name="Google Shape;453;p15"/>
          <p:cNvGrpSpPr/>
          <p:nvPr/>
        </p:nvGrpSpPr>
        <p:grpSpPr>
          <a:xfrm>
            <a:off x="4118700" y="3576189"/>
            <a:ext cx="2223948" cy="1313033"/>
            <a:chOff x="0" y="-47625"/>
            <a:chExt cx="1086195" cy="641296"/>
          </a:xfrm>
        </p:grpSpPr>
        <p:sp>
          <p:nvSpPr>
            <p:cNvPr id="454" name="Google Shape;454;p15"/>
            <p:cNvSpPr/>
            <p:nvPr/>
          </p:nvSpPr>
          <p:spPr>
            <a:xfrm>
              <a:off x="0" y="0"/>
              <a:ext cx="1086195" cy="593671"/>
            </a:xfrm>
            <a:custGeom>
              <a:rect b="b" l="l" r="r" t="t"/>
              <a:pathLst>
                <a:path extrusionOk="0" h="593671" w="1086195">
                  <a:moveTo>
                    <a:pt x="0" y="0"/>
                  </a:moveTo>
                  <a:lnTo>
                    <a:pt x="1086195" y="0"/>
                  </a:lnTo>
                  <a:lnTo>
                    <a:pt x="1086195" y="593671"/>
                  </a:lnTo>
                  <a:lnTo>
                    <a:pt x="0" y="593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5" name="Google Shape;455;p15"/>
            <p:cNvSpPr txBox="1"/>
            <p:nvPr/>
          </p:nvSpPr>
          <p:spPr>
            <a:xfrm>
              <a:off x="0" y="-47625"/>
              <a:ext cx="1086195" cy="641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Human Resource</a:t>
              </a:r>
              <a:endParaRPr/>
            </a:p>
          </p:txBody>
        </p:sp>
      </p:grpSp>
      <p:cxnSp>
        <p:nvCxnSpPr>
          <p:cNvPr id="456" name="Google Shape;456;p15"/>
          <p:cNvCxnSpPr/>
          <p:nvPr/>
        </p:nvCxnSpPr>
        <p:spPr>
          <a:xfrm flipH="1" rot="10800000">
            <a:off x="10916807" y="4267174"/>
            <a:ext cx="1028709" cy="14288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15"/>
          <p:cNvCxnSpPr/>
          <p:nvPr/>
        </p:nvCxnSpPr>
        <p:spPr>
          <a:xfrm rot="10800000">
            <a:off x="6342648" y="4281461"/>
            <a:ext cx="1028700" cy="0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8" name="Google Shape;458;p15"/>
          <p:cNvCxnSpPr/>
          <p:nvPr/>
        </p:nvCxnSpPr>
        <p:spPr>
          <a:xfrm rot="10800000">
            <a:off x="9144078" y="2511945"/>
            <a:ext cx="0" cy="969848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9" name="Google Shape;459;p15"/>
          <p:cNvCxnSpPr/>
          <p:nvPr/>
        </p:nvCxnSpPr>
        <p:spPr>
          <a:xfrm>
            <a:off x="9144078" y="5081129"/>
            <a:ext cx="0" cy="998423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60" name="Google Shape;460;p15"/>
          <p:cNvGrpSpPr/>
          <p:nvPr/>
        </p:nvGrpSpPr>
        <p:grpSpPr>
          <a:xfrm>
            <a:off x="11431161" y="685958"/>
            <a:ext cx="2243683" cy="1058393"/>
            <a:chOff x="0" y="-47625"/>
            <a:chExt cx="1095833" cy="516928"/>
          </a:xfrm>
        </p:grpSpPr>
        <p:sp>
          <p:nvSpPr>
            <p:cNvPr id="461" name="Google Shape;461;p15"/>
            <p:cNvSpPr/>
            <p:nvPr/>
          </p:nvSpPr>
          <p:spPr>
            <a:xfrm>
              <a:off x="0" y="0"/>
              <a:ext cx="1095833" cy="469303"/>
            </a:xfrm>
            <a:custGeom>
              <a:rect b="b" l="l" r="r" t="t"/>
              <a:pathLst>
                <a:path extrusionOk="0" h="469303" w="1095833">
                  <a:moveTo>
                    <a:pt x="0" y="0"/>
                  </a:moveTo>
                  <a:lnTo>
                    <a:pt x="1095833" y="0"/>
                  </a:lnTo>
                  <a:lnTo>
                    <a:pt x="1095833" y="469303"/>
                  </a:lnTo>
                  <a:lnTo>
                    <a:pt x="0" y="46930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</p:sp>
        <p:sp>
          <p:nvSpPr>
            <p:cNvPr id="462" name="Google Shape;462;p15"/>
            <p:cNvSpPr txBox="1"/>
            <p:nvPr/>
          </p:nvSpPr>
          <p:spPr>
            <a:xfrm>
              <a:off x="0" y="-47625"/>
              <a:ext cx="1095833" cy="516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General Management</a:t>
              </a:r>
              <a:endParaRPr/>
            </a:p>
          </p:txBody>
        </p:sp>
      </p:grpSp>
      <p:grpSp>
        <p:nvGrpSpPr>
          <p:cNvPr id="463" name="Google Shape;463;p15"/>
          <p:cNvGrpSpPr/>
          <p:nvPr/>
        </p:nvGrpSpPr>
        <p:grpSpPr>
          <a:xfrm>
            <a:off x="11431161" y="1912468"/>
            <a:ext cx="2243683" cy="1045383"/>
            <a:chOff x="0" y="-47625"/>
            <a:chExt cx="1095833" cy="510574"/>
          </a:xfrm>
        </p:grpSpPr>
        <p:sp>
          <p:nvSpPr>
            <p:cNvPr id="464" name="Google Shape;464;p15"/>
            <p:cNvSpPr/>
            <p:nvPr/>
          </p:nvSpPr>
          <p:spPr>
            <a:xfrm>
              <a:off x="0" y="0"/>
              <a:ext cx="1095833" cy="462949"/>
            </a:xfrm>
            <a:custGeom>
              <a:rect b="b" l="l" r="r" t="t"/>
              <a:pathLst>
                <a:path extrusionOk="0" h="462949" w="1095833">
                  <a:moveTo>
                    <a:pt x="0" y="0"/>
                  </a:moveTo>
                  <a:lnTo>
                    <a:pt x="1095833" y="0"/>
                  </a:lnTo>
                  <a:lnTo>
                    <a:pt x="1095833" y="462949"/>
                  </a:lnTo>
                  <a:lnTo>
                    <a:pt x="0" y="46294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</p:sp>
        <p:sp>
          <p:nvSpPr>
            <p:cNvPr id="465" name="Google Shape;465;p15"/>
            <p:cNvSpPr txBox="1"/>
            <p:nvPr/>
          </p:nvSpPr>
          <p:spPr>
            <a:xfrm>
              <a:off x="0" y="-47625"/>
              <a:ext cx="1095833" cy="510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Operations</a:t>
              </a:r>
              <a:endParaRPr/>
            </a:p>
          </p:txBody>
        </p:sp>
      </p:grpSp>
      <p:cxnSp>
        <p:nvCxnSpPr>
          <p:cNvPr id="466" name="Google Shape;466;p15"/>
          <p:cNvCxnSpPr/>
          <p:nvPr/>
        </p:nvCxnSpPr>
        <p:spPr>
          <a:xfrm flipH="1" rot="10800000">
            <a:off x="10290032" y="1263910"/>
            <a:ext cx="1141129" cy="640274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7" name="Google Shape;467;p15"/>
          <p:cNvCxnSpPr/>
          <p:nvPr/>
        </p:nvCxnSpPr>
        <p:spPr>
          <a:xfrm>
            <a:off x="10290032" y="1904184"/>
            <a:ext cx="1141129" cy="579731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68" name="Google Shape;468;p15"/>
          <p:cNvGrpSpPr/>
          <p:nvPr/>
        </p:nvGrpSpPr>
        <p:grpSpPr>
          <a:xfrm>
            <a:off x="14717414" y="1966494"/>
            <a:ext cx="2025837" cy="973811"/>
            <a:chOff x="0" y="-47625"/>
            <a:chExt cx="989435" cy="475617"/>
          </a:xfrm>
        </p:grpSpPr>
        <p:sp>
          <p:nvSpPr>
            <p:cNvPr id="469" name="Google Shape;469;p15"/>
            <p:cNvSpPr/>
            <p:nvPr/>
          </p:nvSpPr>
          <p:spPr>
            <a:xfrm>
              <a:off x="0" y="0"/>
              <a:ext cx="989435" cy="427992"/>
            </a:xfrm>
            <a:custGeom>
              <a:rect b="b" l="l" r="r" t="t"/>
              <a:pathLst>
                <a:path extrusionOk="0" h="427992" w="989435">
                  <a:moveTo>
                    <a:pt x="0" y="0"/>
                  </a:moveTo>
                  <a:lnTo>
                    <a:pt x="989435" y="0"/>
                  </a:lnTo>
                  <a:lnTo>
                    <a:pt x="989435" y="427992"/>
                  </a:lnTo>
                  <a:lnTo>
                    <a:pt x="0" y="42799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470" name="Google Shape;470;p15"/>
            <p:cNvSpPr txBox="1"/>
            <p:nvPr/>
          </p:nvSpPr>
          <p:spPr>
            <a:xfrm>
              <a:off x="0" y="-47625"/>
              <a:ext cx="989435" cy="47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Logistics</a:t>
              </a:r>
              <a:endParaRPr/>
            </a:p>
          </p:txBody>
        </p:sp>
      </p:grpSp>
      <p:grpSp>
        <p:nvGrpSpPr>
          <p:cNvPr id="471" name="Google Shape;471;p15"/>
          <p:cNvGrpSpPr/>
          <p:nvPr/>
        </p:nvGrpSpPr>
        <p:grpSpPr>
          <a:xfrm>
            <a:off x="14717414" y="721744"/>
            <a:ext cx="2025837" cy="973811"/>
            <a:chOff x="0" y="-47625"/>
            <a:chExt cx="989435" cy="475617"/>
          </a:xfrm>
        </p:grpSpPr>
        <p:sp>
          <p:nvSpPr>
            <p:cNvPr id="472" name="Google Shape;472;p15"/>
            <p:cNvSpPr/>
            <p:nvPr/>
          </p:nvSpPr>
          <p:spPr>
            <a:xfrm>
              <a:off x="0" y="0"/>
              <a:ext cx="989435" cy="427992"/>
            </a:xfrm>
            <a:custGeom>
              <a:rect b="b" l="l" r="r" t="t"/>
              <a:pathLst>
                <a:path extrusionOk="0" h="427992" w="989435">
                  <a:moveTo>
                    <a:pt x="0" y="0"/>
                  </a:moveTo>
                  <a:lnTo>
                    <a:pt x="989435" y="0"/>
                  </a:lnTo>
                  <a:lnTo>
                    <a:pt x="989435" y="427992"/>
                  </a:lnTo>
                  <a:lnTo>
                    <a:pt x="0" y="42799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473" name="Google Shape;473;p15"/>
            <p:cNvSpPr txBox="1"/>
            <p:nvPr/>
          </p:nvSpPr>
          <p:spPr>
            <a:xfrm>
              <a:off x="0" y="-47625"/>
              <a:ext cx="989435" cy="47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Resources</a:t>
              </a:r>
              <a:endParaRPr/>
            </a:p>
          </p:txBody>
        </p:sp>
      </p:grpSp>
      <p:grpSp>
        <p:nvGrpSpPr>
          <p:cNvPr id="474" name="Google Shape;474;p15"/>
          <p:cNvGrpSpPr/>
          <p:nvPr/>
        </p:nvGrpSpPr>
        <p:grpSpPr>
          <a:xfrm>
            <a:off x="1544749" y="6809792"/>
            <a:ext cx="2025837" cy="973811"/>
            <a:chOff x="0" y="-47625"/>
            <a:chExt cx="989435" cy="475617"/>
          </a:xfrm>
        </p:grpSpPr>
        <p:sp>
          <p:nvSpPr>
            <p:cNvPr id="475" name="Google Shape;475;p15"/>
            <p:cNvSpPr/>
            <p:nvPr/>
          </p:nvSpPr>
          <p:spPr>
            <a:xfrm>
              <a:off x="0" y="0"/>
              <a:ext cx="989435" cy="427992"/>
            </a:xfrm>
            <a:custGeom>
              <a:rect b="b" l="l" r="r" t="t"/>
              <a:pathLst>
                <a:path extrusionOk="0" h="427992" w="989435">
                  <a:moveTo>
                    <a:pt x="0" y="0"/>
                  </a:moveTo>
                  <a:lnTo>
                    <a:pt x="989435" y="0"/>
                  </a:lnTo>
                  <a:lnTo>
                    <a:pt x="989435" y="427992"/>
                  </a:lnTo>
                  <a:lnTo>
                    <a:pt x="0" y="42799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476" name="Google Shape;476;p15"/>
            <p:cNvSpPr txBox="1"/>
            <p:nvPr/>
          </p:nvSpPr>
          <p:spPr>
            <a:xfrm>
              <a:off x="0" y="-47625"/>
              <a:ext cx="989435" cy="47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Audits</a:t>
              </a:r>
              <a:endParaRPr/>
            </a:p>
          </p:txBody>
        </p:sp>
      </p:grpSp>
      <p:grpSp>
        <p:nvGrpSpPr>
          <p:cNvPr id="477" name="Google Shape;477;p15"/>
          <p:cNvGrpSpPr/>
          <p:nvPr/>
        </p:nvGrpSpPr>
        <p:grpSpPr>
          <a:xfrm>
            <a:off x="1544749" y="5525731"/>
            <a:ext cx="2025837" cy="973811"/>
            <a:chOff x="0" y="-47625"/>
            <a:chExt cx="989435" cy="475617"/>
          </a:xfrm>
        </p:grpSpPr>
        <p:sp>
          <p:nvSpPr>
            <p:cNvPr id="478" name="Google Shape;478;p15"/>
            <p:cNvSpPr/>
            <p:nvPr/>
          </p:nvSpPr>
          <p:spPr>
            <a:xfrm>
              <a:off x="0" y="0"/>
              <a:ext cx="989435" cy="427992"/>
            </a:xfrm>
            <a:custGeom>
              <a:rect b="b" l="l" r="r" t="t"/>
              <a:pathLst>
                <a:path extrusionOk="0" h="427992" w="989435">
                  <a:moveTo>
                    <a:pt x="0" y="0"/>
                  </a:moveTo>
                  <a:lnTo>
                    <a:pt x="989435" y="0"/>
                  </a:lnTo>
                  <a:lnTo>
                    <a:pt x="989435" y="427992"/>
                  </a:lnTo>
                  <a:lnTo>
                    <a:pt x="0" y="42799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479" name="Google Shape;479;p15"/>
            <p:cNvSpPr txBox="1"/>
            <p:nvPr/>
          </p:nvSpPr>
          <p:spPr>
            <a:xfrm>
              <a:off x="0" y="-47625"/>
              <a:ext cx="989435" cy="47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Budgeting</a:t>
              </a:r>
              <a:endParaRPr/>
            </a:p>
          </p:txBody>
        </p:sp>
      </p:grpSp>
      <p:cxnSp>
        <p:nvCxnSpPr>
          <p:cNvPr id="480" name="Google Shape;480;p15"/>
          <p:cNvCxnSpPr/>
          <p:nvPr/>
        </p:nvCxnSpPr>
        <p:spPr>
          <a:xfrm>
            <a:off x="13674845" y="2483915"/>
            <a:ext cx="1042570" cy="18240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15"/>
          <p:cNvCxnSpPr/>
          <p:nvPr/>
        </p:nvCxnSpPr>
        <p:spPr>
          <a:xfrm flipH="1" rot="10800000">
            <a:off x="13674845" y="1257405"/>
            <a:ext cx="1042570" cy="1226510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15"/>
          <p:cNvCxnSpPr/>
          <p:nvPr/>
        </p:nvCxnSpPr>
        <p:spPr>
          <a:xfrm flipH="1">
            <a:off x="3570586" y="6074058"/>
            <a:ext cx="1042729" cy="1271395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15"/>
          <p:cNvCxnSpPr/>
          <p:nvPr/>
        </p:nvCxnSpPr>
        <p:spPr>
          <a:xfrm rot="10800000">
            <a:off x="3570586" y="6061392"/>
            <a:ext cx="1042729" cy="12666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15"/>
          <p:cNvCxnSpPr/>
          <p:nvPr/>
        </p:nvCxnSpPr>
        <p:spPr>
          <a:xfrm rot="10800000">
            <a:off x="6856998" y="6074058"/>
            <a:ext cx="1175105" cy="613255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" name="Google Shape;485;p15"/>
          <p:cNvCxnSpPr/>
          <p:nvPr/>
        </p:nvCxnSpPr>
        <p:spPr>
          <a:xfrm flipH="1">
            <a:off x="6856998" y="6687313"/>
            <a:ext cx="1175105" cy="613255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86" name="Google Shape;486;p15"/>
          <p:cNvGrpSpPr/>
          <p:nvPr/>
        </p:nvGrpSpPr>
        <p:grpSpPr>
          <a:xfrm>
            <a:off x="1286763" y="8113548"/>
            <a:ext cx="15714474" cy="1636369"/>
            <a:chOff x="0" y="-319118"/>
            <a:chExt cx="11855225" cy="1234500"/>
          </a:xfrm>
        </p:grpSpPr>
        <p:sp>
          <p:nvSpPr>
            <p:cNvPr id="487" name="Google Shape;487;p15"/>
            <p:cNvSpPr/>
            <p:nvPr/>
          </p:nvSpPr>
          <p:spPr>
            <a:xfrm>
              <a:off x="0" y="-224561"/>
              <a:ext cx="11855225" cy="1072601"/>
            </a:xfrm>
            <a:custGeom>
              <a:rect b="b" l="l" r="r" t="t"/>
              <a:pathLst>
                <a:path extrusionOk="0" h="1072601" w="11855225">
                  <a:moveTo>
                    <a:pt x="14780" y="0"/>
                  </a:moveTo>
                  <a:lnTo>
                    <a:pt x="11840445" y="0"/>
                  </a:lnTo>
                  <a:cubicBezTo>
                    <a:pt x="11848608" y="0"/>
                    <a:pt x="11855225" y="6617"/>
                    <a:pt x="11855225" y="14780"/>
                  </a:cubicBezTo>
                  <a:lnTo>
                    <a:pt x="11855225" y="1057822"/>
                  </a:lnTo>
                  <a:cubicBezTo>
                    <a:pt x="11855225" y="1065984"/>
                    <a:pt x="11848608" y="1072601"/>
                    <a:pt x="11840445" y="1072601"/>
                  </a:cubicBezTo>
                  <a:lnTo>
                    <a:pt x="14780" y="1072601"/>
                  </a:lnTo>
                  <a:cubicBezTo>
                    <a:pt x="6617" y="1072601"/>
                    <a:pt x="0" y="1065984"/>
                    <a:pt x="0" y="1057822"/>
                  </a:cubicBezTo>
                  <a:lnTo>
                    <a:pt x="0" y="14780"/>
                  </a:lnTo>
                  <a:cubicBezTo>
                    <a:pt x="0" y="6617"/>
                    <a:pt x="6617" y="0"/>
                    <a:pt x="147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5"/>
            <p:cNvSpPr txBox="1"/>
            <p:nvPr/>
          </p:nvSpPr>
          <p:spPr>
            <a:xfrm>
              <a:off x="0" y="-319118"/>
              <a:ext cx="11855100" cy="123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Our Leadership Team</a:t>
              </a:r>
              <a:endParaRPr/>
            </a:p>
          </p:txBody>
        </p:sp>
      </p:grpSp>
      <p:grpSp>
        <p:nvGrpSpPr>
          <p:cNvPr id="489" name="Google Shape;489;p15"/>
          <p:cNvGrpSpPr/>
          <p:nvPr/>
        </p:nvGrpSpPr>
        <p:grpSpPr>
          <a:xfrm>
            <a:off x="4613315" y="5502611"/>
            <a:ext cx="2243683" cy="1045383"/>
            <a:chOff x="0" y="-47625"/>
            <a:chExt cx="1095833" cy="510574"/>
          </a:xfrm>
        </p:grpSpPr>
        <p:sp>
          <p:nvSpPr>
            <p:cNvPr id="490" name="Google Shape;490;p15"/>
            <p:cNvSpPr/>
            <p:nvPr/>
          </p:nvSpPr>
          <p:spPr>
            <a:xfrm>
              <a:off x="0" y="0"/>
              <a:ext cx="1095833" cy="462949"/>
            </a:xfrm>
            <a:custGeom>
              <a:rect b="b" l="l" r="r" t="t"/>
              <a:pathLst>
                <a:path extrusionOk="0" h="462949" w="1095833">
                  <a:moveTo>
                    <a:pt x="0" y="0"/>
                  </a:moveTo>
                  <a:lnTo>
                    <a:pt x="1095833" y="0"/>
                  </a:lnTo>
                  <a:lnTo>
                    <a:pt x="1095833" y="462949"/>
                  </a:lnTo>
                  <a:lnTo>
                    <a:pt x="0" y="46294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</p:sp>
        <p:sp>
          <p:nvSpPr>
            <p:cNvPr id="491" name="Google Shape;491;p15"/>
            <p:cNvSpPr txBox="1"/>
            <p:nvPr/>
          </p:nvSpPr>
          <p:spPr>
            <a:xfrm>
              <a:off x="0" y="-47625"/>
              <a:ext cx="1095833" cy="510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Finances</a:t>
              </a:r>
              <a:endParaRPr/>
            </a:p>
          </p:txBody>
        </p:sp>
      </p:grpSp>
      <p:grpSp>
        <p:nvGrpSpPr>
          <p:cNvPr id="492" name="Google Shape;492;p15"/>
          <p:cNvGrpSpPr/>
          <p:nvPr/>
        </p:nvGrpSpPr>
        <p:grpSpPr>
          <a:xfrm>
            <a:off x="4613315" y="6729121"/>
            <a:ext cx="2243683" cy="1045383"/>
            <a:chOff x="0" y="-47625"/>
            <a:chExt cx="1095833" cy="510574"/>
          </a:xfrm>
        </p:grpSpPr>
        <p:sp>
          <p:nvSpPr>
            <p:cNvPr id="493" name="Google Shape;493;p15"/>
            <p:cNvSpPr/>
            <p:nvPr/>
          </p:nvSpPr>
          <p:spPr>
            <a:xfrm>
              <a:off x="0" y="0"/>
              <a:ext cx="1095833" cy="462949"/>
            </a:xfrm>
            <a:custGeom>
              <a:rect b="b" l="l" r="r" t="t"/>
              <a:pathLst>
                <a:path extrusionOk="0" h="462949" w="1095833">
                  <a:moveTo>
                    <a:pt x="0" y="0"/>
                  </a:moveTo>
                  <a:lnTo>
                    <a:pt x="1095833" y="0"/>
                  </a:lnTo>
                  <a:lnTo>
                    <a:pt x="1095833" y="462949"/>
                  </a:lnTo>
                  <a:lnTo>
                    <a:pt x="0" y="46294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</p:sp>
        <p:sp>
          <p:nvSpPr>
            <p:cNvPr id="494" name="Google Shape;494;p15"/>
            <p:cNvSpPr txBox="1"/>
            <p:nvPr/>
          </p:nvSpPr>
          <p:spPr>
            <a:xfrm>
              <a:off x="0" y="-47625"/>
              <a:ext cx="1095833" cy="5105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Taxation</a:t>
              </a:r>
              <a:endParaRPr/>
            </a:p>
          </p:txBody>
        </p:sp>
      </p:grpSp>
      <p:grpSp>
        <p:nvGrpSpPr>
          <p:cNvPr id="495" name="Google Shape;495;p15"/>
          <p:cNvGrpSpPr/>
          <p:nvPr/>
        </p:nvGrpSpPr>
        <p:grpSpPr>
          <a:xfrm>
            <a:off x="15233463" y="3731513"/>
            <a:ext cx="2025837" cy="973811"/>
            <a:chOff x="0" y="-47625"/>
            <a:chExt cx="989435" cy="475617"/>
          </a:xfrm>
        </p:grpSpPr>
        <p:sp>
          <p:nvSpPr>
            <p:cNvPr id="496" name="Google Shape;496;p15"/>
            <p:cNvSpPr/>
            <p:nvPr/>
          </p:nvSpPr>
          <p:spPr>
            <a:xfrm>
              <a:off x="0" y="0"/>
              <a:ext cx="989435" cy="427992"/>
            </a:xfrm>
            <a:custGeom>
              <a:rect b="b" l="l" r="r" t="t"/>
              <a:pathLst>
                <a:path extrusionOk="0" h="427992" w="989435">
                  <a:moveTo>
                    <a:pt x="0" y="0"/>
                  </a:moveTo>
                  <a:lnTo>
                    <a:pt x="989435" y="0"/>
                  </a:lnTo>
                  <a:lnTo>
                    <a:pt x="989435" y="427992"/>
                  </a:lnTo>
                  <a:lnTo>
                    <a:pt x="0" y="42799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497" name="Google Shape;497;p15"/>
            <p:cNvSpPr txBox="1"/>
            <p:nvPr/>
          </p:nvSpPr>
          <p:spPr>
            <a:xfrm>
              <a:off x="0" y="-47625"/>
              <a:ext cx="989435" cy="47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</p:grpSp>
      <p:grpSp>
        <p:nvGrpSpPr>
          <p:cNvPr id="498" name="Google Shape;498;p15"/>
          <p:cNvGrpSpPr/>
          <p:nvPr/>
        </p:nvGrpSpPr>
        <p:grpSpPr>
          <a:xfrm>
            <a:off x="15233463" y="4983618"/>
            <a:ext cx="2025837" cy="973811"/>
            <a:chOff x="0" y="-47625"/>
            <a:chExt cx="989435" cy="475617"/>
          </a:xfrm>
        </p:grpSpPr>
        <p:sp>
          <p:nvSpPr>
            <p:cNvPr id="499" name="Google Shape;499;p15"/>
            <p:cNvSpPr/>
            <p:nvPr/>
          </p:nvSpPr>
          <p:spPr>
            <a:xfrm>
              <a:off x="0" y="0"/>
              <a:ext cx="989435" cy="427992"/>
            </a:xfrm>
            <a:custGeom>
              <a:rect b="b" l="l" r="r" t="t"/>
              <a:pathLst>
                <a:path extrusionOk="0" h="427992" w="989435">
                  <a:moveTo>
                    <a:pt x="0" y="0"/>
                  </a:moveTo>
                  <a:lnTo>
                    <a:pt x="989435" y="0"/>
                  </a:lnTo>
                  <a:lnTo>
                    <a:pt x="989435" y="427992"/>
                  </a:lnTo>
                  <a:lnTo>
                    <a:pt x="0" y="427992"/>
                  </a:lnTo>
                  <a:close/>
                </a:path>
              </a:pathLst>
            </a:custGeom>
            <a:solidFill>
              <a:srgbClr val="719D7F"/>
            </a:solidFill>
            <a:ln>
              <a:noFill/>
            </a:ln>
          </p:spPr>
        </p:sp>
        <p:sp>
          <p:nvSpPr>
            <p:cNvPr id="500" name="Google Shape;500;p15"/>
            <p:cNvSpPr txBox="1"/>
            <p:nvPr/>
          </p:nvSpPr>
          <p:spPr>
            <a:xfrm>
              <a:off x="0" y="-47625"/>
              <a:ext cx="989435" cy="475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Marketing</a:t>
              </a:r>
              <a:endParaRPr/>
            </a:p>
          </p:txBody>
        </p:sp>
      </p:grpSp>
      <p:cxnSp>
        <p:nvCxnSpPr>
          <p:cNvPr id="501" name="Google Shape;501;p15"/>
          <p:cNvCxnSpPr/>
          <p:nvPr/>
        </p:nvCxnSpPr>
        <p:spPr>
          <a:xfrm>
            <a:off x="14169464" y="4267174"/>
            <a:ext cx="1063999" cy="0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2" name="Google Shape;502;p15"/>
          <p:cNvCxnSpPr/>
          <p:nvPr/>
        </p:nvCxnSpPr>
        <p:spPr>
          <a:xfrm>
            <a:off x="14169464" y="4267174"/>
            <a:ext cx="1063999" cy="1252105"/>
          </a:xfrm>
          <a:prstGeom prst="straightConnector1">
            <a:avLst/>
          </a:prstGeom>
          <a:noFill/>
          <a:ln cap="rnd" cmpd="sng" w="28575">
            <a:solidFill>
              <a:srgbClr val="719D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3" name="Google Shape;503;p15"/>
          <p:cNvSpPr/>
          <p:nvPr/>
        </p:nvSpPr>
        <p:spPr>
          <a:xfrm>
            <a:off x="1003375" y="672418"/>
            <a:ext cx="2895607" cy="3003024"/>
          </a:xfrm>
          <a:custGeom>
            <a:rect b="b" l="l" r="r" t="t"/>
            <a:pathLst>
              <a:path extrusionOk="0" h="4984273" w="4766431">
                <a:moveTo>
                  <a:pt x="0" y="0"/>
                </a:moveTo>
                <a:lnTo>
                  <a:pt x="4766431" y="0"/>
                </a:lnTo>
                <a:lnTo>
                  <a:pt x="4766431" y="4984274"/>
                </a:lnTo>
                <a:lnTo>
                  <a:pt x="0" y="4984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219" l="-57258" r="-58128" t="0"/>
            </a:stretch>
          </a:blipFill>
          <a:ln>
            <a:noFill/>
          </a:ln>
        </p:spPr>
      </p:sp>
      <p:sp>
        <p:nvSpPr>
          <p:cNvPr id="504" name="Google Shape;504;p15"/>
          <p:cNvSpPr txBox="1"/>
          <p:nvPr/>
        </p:nvSpPr>
        <p:spPr>
          <a:xfrm>
            <a:off x="17000875" y="9873675"/>
            <a:ext cx="1287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6554C"/>
                </a:solidFill>
              </a:rPr>
              <a:t>14</a:t>
            </a:r>
            <a:endParaRPr b="1" sz="2000">
              <a:solidFill>
                <a:srgbClr val="26554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6"/>
          <p:cNvSpPr/>
          <p:nvPr/>
        </p:nvSpPr>
        <p:spPr>
          <a:xfrm>
            <a:off x="287525" y="417225"/>
            <a:ext cx="17583600" cy="9480300"/>
          </a:xfrm>
          <a:prstGeom prst="rect">
            <a:avLst/>
          </a:prstGeom>
          <a:noFill/>
          <a:ln cap="flat" cmpd="sng" w="38100">
            <a:solidFill>
              <a:srgbClr val="7FA7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8321297" y="3556502"/>
            <a:ext cx="9009410" cy="5777998"/>
          </a:xfrm>
          <a:custGeom>
            <a:rect b="b" l="l" r="r" t="t"/>
            <a:pathLst>
              <a:path extrusionOk="0" h="2107829" w="3286657">
                <a:moveTo>
                  <a:pt x="0" y="0"/>
                </a:moveTo>
                <a:lnTo>
                  <a:pt x="3286657" y="0"/>
                </a:lnTo>
                <a:lnTo>
                  <a:pt x="3286657" y="2107829"/>
                </a:lnTo>
                <a:lnTo>
                  <a:pt x="0" y="21078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1" name="Google Shape;511;p16"/>
          <p:cNvSpPr/>
          <p:nvPr/>
        </p:nvSpPr>
        <p:spPr>
          <a:xfrm>
            <a:off x="905495" y="3556502"/>
            <a:ext cx="7087021" cy="5777998"/>
          </a:xfrm>
          <a:custGeom>
            <a:rect b="b" l="l" r="r" t="t"/>
            <a:pathLst>
              <a:path extrusionOk="0" h="2107829" w="2585364">
                <a:moveTo>
                  <a:pt x="0" y="0"/>
                </a:moveTo>
                <a:lnTo>
                  <a:pt x="2585364" y="0"/>
                </a:lnTo>
                <a:lnTo>
                  <a:pt x="2585364" y="2107829"/>
                </a:lnTo>
                <a:lnTo>
                  <a:pt x="0" y="21078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2" name="Google Shape;512;p16"/>
          <p:cNvSpPr/>
          <p:nvPr/>
        </p:nvSpPr>
        <p:spPr>
          <a:xfrm>
            <a:off x="905495" y="973442"/>
            <a:ext cx="16425212" cy="1919444"/>
          </a:xfrm>
          <a:custGeom>
            <a:rect b="b" l="l" r="r" t="t"/>
            <a:pathLst>
              <a:path extrusionOk="0" h="700219" w="5991962">
                <a:moveTo>
                  <a:pt x="0" y="0"/>
                </a:moveTo>
                <a:lnTo>
                  <a:pt x="5991962" y="0"/>
                </a:lnTo>
                <a:lnTo>
                  <a:pt x="5991962" y="700219"/>
                </a:lnTo>
                <a:lnTo>
                  <a:pt x="0" y="7002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3" name="Google Shape;513;p16"/>
          <p:cNvSpPr txBox="1"/>
          <p:nvPr/>
        </p:nvSpPr>
        <p:spPr>
          <a:xfrm>
            <a:off x="3927887" y="1142590"/>
            <a:ext cx="10200643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6554C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grpSp>
        <p:nvGrpSpPr>
          <p:cNvPr id="514" name="Google Shape;514;p16"/>
          <p:cNvGrpSpPr/>
          <p:nvPr/>
        </p:nvGrpSpPr>
        <p:grpSpPr>
          <a:xfrm>
            <a:off x="8952021" y="4530415"/>
            <a:ext cx="7747962" cy="3744447"/>
            <a:chOff x="0" y="-114300"/>
            <a:chExt cx="10330617" cy="4992596"/>
          </a:xfrm>
        </p:grpSpPr>
        <p:sp>
          <p:nvSpPr>
            <p:cNvPr id="515" name="Google Shape;515;p16"/>
            <p:cNvSpPr txBox="1"/>
            <p:nvPr/>
          </p:nvSpPr>
          <p:spPr>
            <a:xfrm>
              <a:off x="0" y="3491456"/>
              <a:ext cx="10330617" cy="821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Call us</a:t>
              </a:r>
              <a:endParaRPr/>
            </a:p>
          </p:txBody>
        </p:sp>
        <p:sp>
          <p:nvSpPr>
            <p:cNvPr id="516" name="Google Shape;516;p16"/>
            <p:cNvSpPr txBox="1"/>
            <p:nvPr/>
          </p:nvSpPr>
          <p:spPr>
            <a:xfrm>
              <a:off x="0" y="4365428"/>
              <a:ext cx="10330617" cy="512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012-3456-7890</a:t>
              </a:r>
              <a:endParaRPr/>
            </a:p>
          </p:txBody>
        </p:sp>
        <p:sp>
          <p:nvSpPr>
            <p:cNvPr id="517" name="Google Shape;517;p16"/>
            <p:cNvSpPr txBox="1"/>
            <p:nvPr/>
          </p:nvSpPr>
          <p:spPr>
            <a:xfrm>
              <a:off x="0" y="-114300"/>
              <a:ext cx="10330617" cy="821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Email </a:t>
              </a:r>
              <a:endParaRPr/>
            </a:p>
          </p:txBody>
        </p:sp>
        <p:sp>
          <p:nvSpPr>
            <p:cNvPr id="518" name="Google Shape;518;p16"/>
            <p:cNvSpPr txBox="1"/>
            <p:nvPr/>
          </p:nvSpPr>
          <p:spPr>
            <a:xfrm>
              <a:off x="0" y="759672"/>
              <a:ext cx="10330617" cy="512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swapps@corporations.com</a:t>
              </a:r>
              <a:endParaRPr/>
            </a:p>
          </p:txBody>
        </p:sp>
        <p:sp>
          <p:nvSpPr>
            <p:cNvPr id="519" name="Google Shape;519;p16"/>
            <p:cNvSpPr txBox="1"/>
            <p:nvPr/>
          </p:nvSpPr>
          <p:spPr>
            <a:xfrm>
              <a:off x="0" y="1685515"/>
              <a:ext cx="10330617" cy="821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26554C"/>
                  </a:solidFill>
                  <a:latin typeface="Arial"/>
                  <a:ea typeface="Arial"/>
                  <a:cs typeface="Arial"/>
                  <a:sym typeface="Arial"/>
                </a:rPr>
                <a:t>Social Media </a:t>
              </a:r>
              <a:endParaRPr/>
            </a:p>
          </p:txBody>
        </p:sp>
        <p:sp>
          <p:nvSpPr>
            <p:cNvPr id="520" name="Google Shape;520;p16"/>
            <p:cNvSpPr txBox="1"/>
            <p:nvPr/>
          </p:nvSpPr>
          <p:spPr>
            <a:xfrm>
              <a:off x="0" y="2559487"/>
              <a:ext cx="10330617" cy="512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@swappscorporations</a:t>
              </a:r>
              <a:endParaRPr/>
            </a:p>
          </p:txBody>
        </p:sp>
      </p:grpSp>
      <p:sp>
        <p:nvSpPr>
          <p:cNvPr id="521" name="Google Shape;521;p16"/>
          <p:cNvSpPr/>
          <p:nvPr/>
        </p:nvSpPr>
        <p:spPr>
          <a:xfrm rot="-5400000">
            <a:off x="-1469734" y="3485755"/>
            <a:ext cx="3927179" cy="1392364"/>
          </a:xfrm>
          <a:custGeom>
            <a:rect b="b" l="l" r="r" t="t"/>
            <a:pathLst>
              <a:path extrusionOk="0" h="1392364" w="3927179">
                <a:moveTo>
                  <a:pt x="0" y="0"/>
                </a:moveTo>
                <a:lnTo>
                  <a:pt x="3927179" y="0"/>
                </a:lnTo>
                <a:lnTo>
                  <a:pt x="3927179" y="1392363"/>
                </a:lnTo>
                <a:lnTo>
                  <a:pt x="0" y="139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16"/>
          <p:cNvSpPr/>
          <p:nvPr/>
        </p:nvSpPr>
        <p:spPr>
          <a:xfrm>
            <a:off x="14826857" y="8743432"/>
            <a:ext cx="3927179" cy="1392364"/>
          </a:xfrm>
          <a:custGeom>
            <a:rect b="b" l="l" r="r" t="t"/>
            <a:pathLst>
              <a:path extrusionOk="0" h="1392364" w="3927179">
                <a:moveTo>
                  <a:pt x="0" y="0"/>
                </a:moveTo>
                <a:lnTo>
                  <a:pt x="3927179" y="0"/>
                </a:lnTo>
                <a:lnTo>
                  <a:pt x="3927179" y="1392363"/>
                </a:lnTo>
                <a:lnTo>
                  <a:pt x="0" y="139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16"/>
          <p:cNvSpPr/>
          <p:nvPr/>
        </p:nvSpPr>
        <p:spPr>
          <a:xfrm>
            <a:off x="2065790" y="3953364"/>
            <a:ext cx="4766431" cy="4984273"/>
          </a:xfrm>
          <a:custGeom>
            <a:rect b="b" l="l" r="r" t="t"/>
            <a:pathLst>
              <a:path extrusionOk="0" h="4984273" w="4766431">
                <a:moveTo>
                  <a:pt x="0" y="0"/>
                </a:moveTo>
                <a:lnTo>
                  <a:pt x="4766431" y="0"/>
                </a:lnTo>
                <a:lnTo>
                  <a:pt x="4766431" y="4984274"/>
                </a:lnTo>
                <a:lnTo>
                  <a:pt x="0" y="4984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6221" l="-57252" r="-58135" t="0"/>
            </a:stretch>
          </a:blipFill>
          <a:ln>
            <a:noFill/>
          </a:ln>
        </p:spPr>
      </p:sp>
      <p:sp>
        <p:nvSpPr>
          <p:cNvPr id="524" name="Google Shape;524;p16"/>
          <p:cNvSpPr/>
          <p:nvPr/>
        </p:nvSpPr>
        <p:spPr>
          <a:xfrm>
            <a:off x="1994337" y="5619813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5" name="Google Shape;525;p16"/>
          <p:cNvSpPr/>
          <p:nvPr/>
        </p:nvSpPr>
        <p:spPr>
          <a:xfrm>
            <a:off x="6462058" y="4510359"/>
            <a:ext cx="441616" cy="633141"/>
          </a:xfrm>
          <a:custGeom>
            <a:rect b="b" l="l" r="r" t="t"/>
            <a:pathLst>
              <a:path extrusionOk="0" h="633141" w="441616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6" name="Google Shape;526;p16"/>
          <p:cNvGrpSpPr/>
          <p:nvPr/>
        </p:nvGrpSpPr>
        <p:grpSpPr>
          <a:xfrm>
            <a:off x="1190050" y="184397"/>
            <a:ext cx="2225550" cy="472800"/>
            <a:chOff x="1190050" y="184397"/>
            <a:chExt cx="2225550" cy="472800"/>
          </a:xfrm>
        </p:grpSpPr>
        <p:sp>
          <p:nvSpPr>
            <p:cNvPr id="527" name="Google Shape;527;p16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16"/>
          <p:cNvGrpSpPr/>
          <p:nvPr/>
        </p:nvGrpSpPr>
        <p:grpSpPr>
          <a:xfrm>
            <a:off x="8591200" y="9602388"/>
            <a:ext cx="2225550" cy="472800"/>
            <a:chOff x="1190050" y="184397"/>
            <a:chExt cx="2225550" cy="472800"/>
          </a:xfrm>
        </p:grpSpPr>
        <p:sp>
          <p:nvSpPr>
            <p:cNvPr id="532" name="Google Shape;532;p16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16"/>
          <p:cNvGrpSpPr/>
          <p:nvPr/>
        </p:nvGrpSpPr>
        <p:grpSpPr>
          <a:xfrm>
            <a:off x="14826850" y="184397"/>
            <a:ext cx="2225550" cy="472800"/>
            <a:chOff x="1190050" y="184397"/>
            <a:chExt cx="2225550" cy="472800"/>
          </a:xfrm>
        </p:grpSpPr>
        <p:sp>
          <p:nvSpPr>
            <p:cNvPr id="537" name="Google Shape;537;p16"/>
            <p:cNvSpPr/>
            <p:nvPr/>
          </p:nvSpPr>
          <p:spPr>
            <a:xfrm>
              <a:off x="1784538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119005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2379025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2974000" y="184397"/>
              <a:ext cx="441600" cy="472800"/>
            </a:xfrm>
            <a:prstGeom prst="flowChartConnector">
              <a:avLst/>
            </a:prstGeom>
            <a:solidFill>
              <a:srgbClr val="D9EAD3"/>
            </a:solidFill>
            <a:ln cap="flat" cmpd="sng" w="9525">
              <a:solidFill>
                <a:srgbClr val="2655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