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647" r:id="rId3"/>
    <p:sldId id="649" r:id="rId4"/>
    <p:sldId id="648" r:id="rId5"/>
    <p:sldId id="650" r:id="rId6"/>
    <p:sldId id="651" r:id="rId7"/>
    <p:sldId id="652" r:id="rId8"/>
    <p:sldId id="625" r:id="rId9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  <a:srgbClr val="FF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47" autoAdjust="0"/>
  </p:normalViewPr>
  <p:slideViewPr>
    <p:cSldViewPr>
      <p:cViewPr varScale="1">
        <p:scale>
          <a:sx n="81" d="100"/>
          <a:sy n="81" d="100"/>
        </p:scale>
        <p:origin x="60" y="174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003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196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181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226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99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91559" y="3204567"/>
            <a:ext cx="5688632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Rafsan</a:t>
            </a:r>
            <a:r>
              <a:rPr lang="ko-KR" altLang="en-US" sz="2500" dirty="0">
                <a:latin typeface="Caladea" panose="020B0600000101010101" charset="0"/>
                <a:ea typeface="HY중고딕" pitchFamily="18" charset="-127"/>
              </a:rPr>
              <a:t> </a:t>
            </a:r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Jany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adea" panose="020B0600000101010101" charset="0"/>
                <a:cs typeface="Assistant" pitchFamily="2" charset="-79"/>
              </a:rPr>
              <a:t>Korean Convergence Medical Science</a:t>
            </a:r>
            <a:endParaRPr lang="en-US" sz="2400" b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810195" y="1980431"/>
            <a:ext cx="9251361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Temporal Alignment Analysis of the UBFC rPPG Dataset</a:t>
            </a:r>
            <a:endParaRPr lang="en-US" altLang="ko-KR" sz="2800" dirty="0">
              <a:solidFill>
                <a:srgbClr val="000000"/>
              </a:solidFill>
              <a:latin typeface="Caladea" panose="020B0600000101010101" charset="0"/>
              <a:ea typeface="HY견고딕" pitchFamily="18" charset="-127"/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Raw Code for UBFC 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ADB30AC-F724-5D9B-7C4B-5A7716E20675}"/>
              </a:ext>
            </a:extLst>
          </p:cNvPr>
          <p:cNvGrpSpPr/>
          <p:nvPr/>
        </p:nvGrpSpPr>
        <p:grpSpPr>
          <a:xfrm>
            <a:off x="62191" y="1404367"/>
            <a:ext cx="1296144" cy="936104"/>
            <a:chOff x="450156" y="1332359"/>
            <a:chExt cx="1296144" cy="93610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CDE175-4C90-0CF2-A125-44966F23FD98}"/>
                </a:ext>
              </a:extLst>
            </p:cNvPr>
            <p:cNvSpPr/>
            <p:nvPr/>
          </p:nvSpPr>
          <p:spPr>
            <a:xfrm>
              <a:off x="450156" y="1552014"/>
              <a:ext cx="1296144" cy="7164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UBFC Dataset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(video.avi + gt.txt)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8517EFE-AEBE-C9E9-3176-5852B425AC2F}"/>
                </a:ext>
              </a:extLst>
            </p:cNvPr>
            <p:cNvSpPr/>
            <p:nvPr/>
          </p:nvSpPr>
          <p:spPr>
            <a:xfrm>
              <a:off x="450156" y="1332359"/>
              <a:ext cx="1296144" cy="39073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406E0FA-ABF9-6E67-208C-B7F0DA159F01}"/>
                </a:ext>
              </a:extLst>
            </p:cNvPr>
            <p:cNvSpPr/>
            <p:nvPr/>
          </p:nvSpPr>
          <p:spPr>
            <a:xfrm>
              <a:off x="594172" y="1404367"/>
              <a:ext cx="1008112" cy="21602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50A05AB-2EEC-AAF4-DA31-F81D89CA99E0}"/>
              </a:ext>
            </a:extLst>
          </p:cNvPr>
          <p:cNvSpPr/>
          <p:nvPr/>
        </p:nvSpPr>
        <p:spPr>
          <a:xfrm>
            <a:off x="1885752" y="1707033"/>
            <a:ext cx="2414017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Load video + nominal FPS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2ED3FB-96C1-9735-6091-E2C7B9A81BA1}"/>
              </a:ext>
            </a:extLst>
          </p:cNvPr>
          <p:cNvSpPr/>
          <p:nvPr/>
        </p:nvSpPr>
        <p:spPr>
          <a:xfrm>
            <a:off x="4801593" y="1707033"/>
            <a:ext cx="2495127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Build video time axis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BD4D57-3FD4-2142-B1DA-A852C0FBCF39}"/>
              </a:ext>
            </a:extLst>
          </p:cNvPr>
          <p:cNvSpPr/>
          <p:nvPr/>
        </p:nvSpPr>
        <p:spPr>
          <a:xfrm>
            <a:off x="7716663" y="1707033"/>
            <a:ext cx="2703475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Define 8-second start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and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end windows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9D5E54-C443-0275-ADCF-5468F5799C7C}"/>
              </a:ext>
            </a:extLst>
          </p:cNvPr>
          <p:cNvSpPr/>
          <p:nvPr/>
        </p:nvSpPr>
        <p:spPr>
          <a:xfrm>
            <a:off x="7769106" y="4153997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Extract ROI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Compute </a:t>
            </a:r>
            <a:r>
              <a:rPr lang="en-US" sz="800" dirty="0" err="1">
                <a:solidFill>
                  <a:schemeClr val="tx1"/>
                </a:solidFill>
              </a:rPr>
              <a:t>rPPG</a:t>
            </a:r>
            <a:r>
              <a:rPr lang="en-US" sz="800" dirty="0">
                <a:solidFill>
                  <a:schemeClr val="tx1"/>
                </a:solidFill>
              </a:rPr>
              <a:t> using CHROM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A3518C-479A-2F4E-CF8D-C4708CA32ECE}"/>
              </a:ext>
            </a:extLst>
          </p:cNvPr>
          <p:cNvSpPr/>
          <p:nvPr/>
        </p:nvSpPr>
        <p:spPr>
          <a:xfrm>
            <a:off x="3978548" y="4165640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Estimate lag via cross-correlation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767FC2-6DBD-2060-7951-D23DE0E07317}"/>
              </a:ext>
            </a:extLst>
          </p:cNvPr>
          <p:cNvSpPr/>
          <p:nvPr/>
        </p:nvSpPr>
        <p:spPr>
          <a:xfrm>
            <a:off x="494172" y="4165640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>
                <a:solidFill>
                  <a:schemeClr val="tx1"/>
                </a:solidFill>
              </a:rPr>
              <a:t>Compute drift = |lag_end – lag_start|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B89D35-5D0F-9059-737B-635F0219EAE5}"/>
              </a:ext>
            </a:extLst>
          </p:cNvPr>
          <p:cNvSpPr/>
          <p:nvPr/>
        </p:nvSpPr>
        <p:spPr>
          <a:xfrm>
            <a:off x="494172" y="5158073"/>
            <a:ext cx="2598588" cy="5890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Test FPS correction</a:t>
            </a:r>
            <a:endParaRPr lang="en-US" sz="8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6678280-D586-0BEF-62D9-AE2915E2BEE3}"/>
              </a:ext>
            </a:extLst>
          </p:cNvPr>
          <p:cNvCxnSpPr>
            <a:stCxn id="9" idx="3"/>
            <a:endCxn id="20" idx="1"/>
          </p:cNvCxnSpPr>
          <p:nvPr/>
        </p:nvCxnSpPr>
        <p:spPr>
          <a:xfrm>
            <a:off x="1358335" y="1982247"/>
            <a:ext cx="527417" cy="19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29E3A5-2CDB-9C2C-1FCF-15230FC34B8E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4299769" y="2001570"/>
            <a:ext cx="5018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423824-B08B-B0E6-AA5E-3601A50A8C27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296720" y="2001570"/>
            <a:ext cx="4199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EE1DE7-D169-D815-5FFD-14A9B55897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9068400" y="2296106"/>
            <a:ext cx="1" cy="1857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548FC22-AF4C-811D-1746-8A69CA989CBA}"/>
              </a:ext>
            </a:extLst>
          </p:cNvPr>
          <p:cNvCxnSpPr>
            <a:cxnSpLocks/>
            <a:stCxn id="24" idx="1"/>
            <a:endCxn id="25" idx="3"/>
          </p:cNvCxnSpPr>
          <p:nvPr/>
        </p:nvCxnSpPr>
        <p:spPr>
          <a:xfrm flipH="1">
            <a:off x="6577136" y="4448534"/>
            <a:ext cx="1191970" cy="11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96DED0C-50DC-7B45-DBA6-3E44C6FF2768}"/>
              </a:ext>
            </a:extLst>
          </p:cNvPr>
          <p:cNvCxnSpPr>
            <a:cxnSpLocks/>
            <a:stCxn id="25" idx="1"/>
            <a:endCxn id="26" idx="3"/>
          </p:cNvCxnSpPr>
          <p:nvPr/>
        </p:nvCxnSpPr>
        <p:spPr>
          <a:xfrm flipH="1">
            <a:off x="3092760" y="4460177"/>
            <a:ext cx="8857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B14C5CE-EFFF-C52E-A4AA-0ED440D064ED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>
            <a:off x="1793466" y="4754713"/>
            <a:ext cx="0" cy="4033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279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Verify gt.txt structure and timing for one UBFC Subject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53658" y="1110669"/>
            <a:ext cx="5184576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Consolas" panose="020B0609020204030204" pitchFamily="49" charset="0"/>
              </a:rPr>
              <a:t>Check GT and Video timing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Video No: 01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GT loaded successfully: 1547 PPG samples, 1547 timestamps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PPG samples and timestamps are 1:1 aligned (same length)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GT PPG duration: 52.691 s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GT  fps: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	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Video info: 1547 frames @ 29.264 fps → 52.863 s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Duration difference (video − GT): 0.172 s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Problematic Zone: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b="1" dirty="0">
                <a:latin typeface="Consolas" panose="020B0609020204030204" pitchFamily="49" charset="0"/>
              </a:rPr>
              <a:t>PPG: 0 → 52.691 s</a:t>
            </a:r>
          </a:p>
          <a:p>
            <a:r>
              <a:rPr lang="en-US" sz="1100" b="1" dirty="0">
                <a:latin typeface="Consolas" panose="020B0609020204030204" pitchFamily="49" charset="0"/>
              </a:rPr>
              <a:t>Video: 0 → 52.863 s</a:t>
            </a:r>
          </a:p>
          <a:p>
            <a:endParaRPr lang="en-US" sz="1100" b="1" dirty="0">
              <a:latin typeface="Consolas" panose="020B0609020204030204" pitchFamily="49" charset="0"/>
            </a:endParaRPr>
          </a:p>
          <a:p>
            <a:r>
              <a:rPr lang="en-US" sz="1100" b="1" dirty="0">
                <a:latin typeface="Consolas" panose="020B0609020204030204" pitchFamily="49" charset="0"/>
              </a:rPr>
              <a:t>That’s a 0.172 s offset (≈5 frames @ 29.3 fps).</a:t>
            </a:r>
          </a:p>
          <a:p>
            <a:endParaRPr lang="en-US" sz="1100" b="1" dirty="0">
              <a:latin typeface="Consolas" panose="020B0609020204030204" pitchFamily="49" charset="0"/>
            </a:endParaRPr>
          </a:p>
          <a:p>
            <a:r>
              <a:rPr lang="en-US" sz="1100" b="1" i="1" dirty="0">
                <a:latin typeface="Consolas" panose="020B0609020204030204" pitchFamily="49" charset="0"/>
              </a:rPr>
              <a:t>So, even though there are 1547 PPG values and 1547 frames, </a:t>
            </a:r>
          </a:p>
          <a:p>
            <a:r>
              <a:rPr lang="en-US" sz="1100" b="1" i="1" dirty="0">
                <a:latin typeface="Consolas" panose="020B0609020204030204" pitchFamily="49" charset="0"/>
              </a:rPr>
              <a:t>the last few video frames occur after the PPG stopped recording.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17B890-C84D-96AD-F0C7-5803D7725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88" y="2772519"/>
            <a:ext cx="1721546" cy="432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1F74A3-6841-F972-EB4A-025756C65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048" y="1985166"/>
            <a:ext cx="6354812" cy="22241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E178727-28DE-74BF-4D3C-49DC2D7764F4}"/>
              </a:ext>
            </a:extLst>
          </p:cNvPr>
          <p:cNvSpPr txBox="1"/>
          <p:nvPr/>
        </p:nvSpPr>
        <p:spPr>
          <a:xfrm>
            <a:off x="5250313" y="4203823"/>
            <a:ext cx="52987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nsolas" panose="020B0609020204030204" pitchFamily="49" charset="0"/>
              </a:rPr>
              <a:t>Visualize GT/Video timing</a:t>
            </a:r>
          </a:p>
          <a:p>
            <a:endParaRPr lang="en-US" sz="1000" b="1" i="1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Loaded GT: 1547 samples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1 duplicated or non-increasing timestamps found at indices [494]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→ Adjusted duplicated timestamps by +1e-6 s increments.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Video info: 1547 frames @ 29.264 fps → 52.863 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GT PPG duration: 52.691 s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Duration difference (video − GT): 0.172 s ≈ 5.04 frames (0.33 % of duration)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Frames within overlap: 1542 (5 trimmed)</a:t>
            </a:r>
          </a:p>
        </p:txBody>
      </p:sp>
    </p:spTree>
    <p:extLst>
      <p:ext uri="{BB962C8B-B14F-4D97-AF65-F5344CB8AC3E}">
        <p14:creationId xmlns:p14="http://schemas.microsoft.com/office/powerpoint/2010/main" val="668660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Measurements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137488" y="1116335"/>
            <a:ext cx="87376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Phase-Lag Estimation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To quantify alignment quality, a sign-invariant cross-correlation method is used.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i="1" dirty="0" err="1">
                <a:latin typeface="Consolas" panose="020B0609020204030204" pitchFamily="49" charset="0"/>
              </a:rPr>
              <a:t>s</a:t>
            </a:r>
            <a:r>
              <a:rPr lang="en-US" sz="1400" i="1" baseline="-25000" dirty="0" err="1">
                <a:latin typeface="Consolas" panose="020B0609020204030204" pitchFamily="49" charset="0"/>
              </a:rPr>
              <a:t>r</a:t>
            </a:r>
            <a:r>
              <a:rPr lang="en-US" sz="1400" i="1" dirty="0">
                <a:latin typeface="Consolas" panose="020B0609020204030204" pitchFamily="49" charset="0"/>
              </a:rPr>
              <a:t>(t) → filtered, normalized </a:t>
            </a:r>
            <a:r>
              <a:rPr lang="en-US" sz="1400" i="1" dirty="0" err="1">
                <a:latin typeface="Consolas" panose="020B0609020204030204" pitchFamily="49" charset="0"/>
              </a:rPr>
              <a:t>rPPG</a:t>
            </a:r>
            <a:r>
              <a:rPr lang="en-US" sz="1400" i="1" dirty="0">
                <a:latin typeface="Consolas" panose="020B0609020204030204" pitchFamily="49" charset="0"/>
              </a:rPr>
              <a:t> signal</a:t>
            </a:r>
          </a:p>
          <a:p>
            <a:r>
              <a:rPr lang="en-US" sz="1400" i="1" dirty="0">
                <a:latin typeface="Consolas" panose="020B0609020204030204" pitchFamily="49" charset="0"/>
              </a:rPr>
              <a:t>s</a:t>
            </a:r>
            <a:r>
              <a:rPr lang="en-US" sz="1400" i="1" baseline="-25000" dirty="0">
                <a:latin typeface="Consolas" panose="020B0609020204030204" pitchFamily="49" charset="0"/>
              </a:rPr>
              <a:t>g</a:t>
            </a:r>
            <a:r>
              <a:rPr lang="en-US" sz="1400" i="1" dirty="0">
                <a:latin typeface="Consolas" panose="020B0609020204030204" pitchFamily="49" charset="0"/>
              </a:rPr>
              <a:t>(t) → filtered, normalized ground-truth PPG signal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C4A57-63CF-C431-F782-5D697CEEFC49}"/>
              </a:ext>
            </a:extLst>
          </p:cNvPr>
          <p:cNvSpPr txBox="1"/>
          <p:nvPr/>
        </p:nvSpPr>
        <p:spPr>
          <a:xfrm>
            <a:off x="137488" y="3251316"/>
            <a:ext cx="84363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Drift Measurement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The drift across the recording is defined 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D5AEA-4E92-0019-3511-673C0CCA1BE7}"/>
              </a:ext>
            </a:extLst>
          </p:cNvPr>
          <p:cNvSpPr txBox="1"/>
          <p:nvPr/>
        </p:nvSpPr>
        <p:spPr>
          <a:xfrm>
            <a:off x="120484" y="4845913"/>
            <a:ext cx="97575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Ground Truth FPS Correction Mechanism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 corrected FPS is estimated using the duration of the ground-truth PPG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The entire lag estimation process is repeated with this corrected frame timeline. For each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sequence, the drift before and after FPS correction,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90B70F-5761-1427-FC3C-96413689B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687" y="2451631"/>
            <a:ext cx="2811602" cy="418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D487AD-5C02-3EE1-8AF7-22A04CC1F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097" y="3837289"/>
            <a:ext cx="2461334" cy="424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095F93-14C4-8BD4-5C71-17EB96CA9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1764" y="5482335"/>
            <a:ext cx="1861844" cy="5430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4A790F-6981-66B6-655F-29C4804DC3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9410" y="6714335"/>
            <a:ext cx="1804198" cy="42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26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UBFC: Edge-Lag and Decision Summary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244128" y="1116335"/>
            <a:ext cx="9883243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| seq id | delta </a:t>
            </a:r>
            <a:r>
              <a:rPr lang="en-US" sz="1100" dirty="0" err="1">
                <a:latin typeface="Consolas" panose="020B0609020204030204" pitchFamily="49" charset="0"/>
              </a:rPr>
              <a:t>fr</a:t>
            </a:r>
            <a:r>
              <a:rPr lang="en-US" sz="1100" dirty="0">
                <a:latin typeface="Consolas" panose="020B0609020204030204" pitchFamily="49" charset="0"/>
              </a:rPr>
              <a:t> | remain </a:t>
            </a:r>
            <a:r>
              <a:rPr lang="en-US" sz="1100" dirty="0" err="1">
                <a:latin typeface="Consolas" panose="020B0609020204030204" pitchFamily="49" charset="0"/>
              </a:rPr>
              <a:t>fr</a:t>
            </a:r>
            <a:r>
              <a:rPr lang="en-US" sz="1100" dirty="0">
                <a:latin typeface="Consolas" panose="020B0609020204030204" pitchFamily="49" charset="0"/>
              </a:rPr>
              <a:t> | decision     || seq id | delta </a:t>
            </a:r>
            <a:r>
              <a:rPr lang="en-US" sz="1100" dirty="0" err="1">
                <a:latin typeface="Consolas" panose="020B0609020204030204" pitchFamily="49" charset="0"/>
              </a:rPr>
              <a:t>fr</a:t>
            </a:r>
            <a:r>
              <a:rPr lang="en-US" sz="1100" dirty="0">
                <a:latin typeface="Consolas" panose="020B0609020204030204" pitchFamily="49" charset="0"/>
              </a:rPr>
              <a:t> | remain </a:t>
            </a:r>
            <a:r>
              <a:rPr lang="en-US" sz="1100" dirty="0" err="1">
                <a:latin typeface="Consolas" panose="020B0609020204030204" pitchFamily="49" charset="0"/>
              </a:rPr>
              <a:t>fr</a:t>
            </a:r>
            <a:r>
              <a:rPr lang="en-US" sz="1100" dirty="0">
                <a:latin typeface="Consolas" panose="020B0609020204030204" pitchFamily="49" charset="0"/>
              </a:rPr>
              <a:t> | decision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|--------|----------|-----------|--------------||--------|----------|-----------|--------------|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vid 1  | 6.000    | 4.045     | FPS ADJUST   </a:t>
            </a:r>
            <a:r>
              <a:rPr lang="en-US" sz="1100" dirty="0">
                <a:latin typeface="Consolas" panose="020B0609020204030204" pitchFamily="49" charset="0"/>
              </a:rPr>
              <a:t>|| vid 33 | 23.000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10 | 1.000    | 0.000     | TRIM         </a:t>
            </a:r>
            <a:r>
              <a:rPr lang="en-US" sz="1100" dirty="0">
                <a:latin typeface="Consolas" panose="020B0609020204030204" pitchFamily="49" charset="0"/>
              </a:rPr>
              <a:t>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34 | 1.000    | 0.000     | TRIM   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11 | 5.000    | 0.000     | UNCERTAIN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35 | 2.000    | 0.601     | TRIM   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12 | 8.000    | 2.457     | UNCERTAIN    || vid 37 | 11.000   | 0.704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13 | 11.000   | 0.000     | UNCERTAIN    || vid 38 | 34.000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14 | 44.000   | 0.000     | UNCERTAIN    || vid 39 | 8.000    | 0.979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15 | 48.000   | 0.000     | UNCERTAIN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4  | 2.000    | 0.000     | TRIM   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16 | 8.000    | 0.016     | UNCERTAIN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40 | 0.000    | 0.000     | TRIM   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vid 17 | 4.000    | 2.622     | FPS ADJUST   </a:t>
            </a:r>
            <a:r>
              <a:rPr lang="en-US" sz="1100" dirty="0">
                <a:latin typeface="Consolas" panose="020B0609020204030204" pitchFamily="49" charset="0"/>
              </a:rPr>
              <a:t>|| vid 41 | 42.000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18 | 11.000   | 0.000     | UNCERTAIN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42 | 1.000    | 0.000     | TRIM   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20 | 77.000   | 0.000     | UNCERTAIN    || vid 43 | 5.000 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22 | 0.000    | 0.000     | TRIM         </a:t>
            </a:r>
            <a:r>
              <a:rPr lang="en-US" sz="1100" dirty="0">
                <a:latin typeface="Consolas" panose="020B0609020204030204" pitchFamily="49" charset="0"/>
              </a:rPr>
              <a:t>|| vid 44 | 9.000    | 1.865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23 | 21.000   | 0.000     | UNCERTAIN    || vid 45 | 11.000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24 | 20.000   | 0.000     | UNCERTAIN    || vid 46 | 35.000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25 | 6.000    | 0.000     | UNCERTAIN    || vid 47 | 10.000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26 | 11.000   | 0.470     | UNCERTAIN    || vid 48 | 5.000 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3  | 1.000    | 0.000     | TRIM         </a:t>
            </a:r>
            <a:r>
              <a:rPr lang="en-US" sz="1100" dirty="0">
                <a:latin typeface="Consolas" panose="020B0609020204030204" pitchFamily="49" charset="0"/>
              </a:rPr>
              <a:t>|| vid 49 | 12.000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30 | 26.000   | 0.000     | UNCERTAIN    || vid 5  | 4.000    | 0.000     | UNCERTAIN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31 | 39.000   | 0.000     | UNCERTAIN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8  | 2.000    | 0.000     | TRIM   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32 | 3.000    | 0.000     | UNCERTAIN    || vid 9  | 35.000   | 0.000     | UNCERTAIN    |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delta </a:t>
            </a:r>
            <a:r>
              <a:rPr lang="en-US" sz="1100" dirty="0" err="1">
                <a:latin typeface="Consolas" panose="020B0609020204030204" pitchFamily="49" charset="0"/>
              </a:rPr>
              <a:t>fr</a:t>
            </a:r>
            <a:r>
              <a:rPr lang="en-US" sz="1100" dirty="0">
                <a:latin typeface="Consolas" panose="020B0609020204030204" pitchFamily="49" charset="0"/>
              </a:rPr>
              <a:t>: timing drift expressed in number of video frames.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remain </a:t>
            </a:r>
            <a:r>
              <a:rPr lang="en-US" sz="1100" dirty="0" err="1">
                <a:latin typeface="Consolas" panose="020B0609020204030204" pitchFamily="49" charset="0"/>
              </a:rPr>
              <a:t>fr</a:t>
            </a:r>
            <a:r>
              <a:rPr lang="en-US" sz="1100" dirty="0">
                <a:latin typeface="Consolas" panose="020B0609020204030204" pitchFamily="49" charset="0"/>
              </a:rPr>
              <a:t>: number of leftover frames that do not fit into the analysis windows.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3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Stable (TRIM)				Correctable (FPS ADJUST)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Minimal drift				Drift attributed to FPS mismatch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Usable with small truncation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/>
              <a:t>Problematic (UNCERTAIN)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Significant drift not explained by metadata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4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UBFC: Edge-Lag and Decision Summary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29225" y="4637512"/>
            <a:ext cx="382487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onsolas" panose="020B0609020204030204" pitchFamily="49" charset="0"/>
              </a:rPr>
              <a:t>Statistical Overview for UBFC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Mean drift: 15.05 frames.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• Standard deviation: 16.86 frames.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• Minimum drift: 0 frames.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• Maximum drift: 77 frames.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68897E-90F4-0D6C-76F7-EC73747CE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0499"/>
            <a:ext cx="10693400" cy="35644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653409-1FD3-8D23-2E76-92DB3D89E45E}"/>
              </a:ext>
            </a:extLst>
          </p:cNvPr>
          <p:cNvSpPr txBox="1"/>
          <p:nvPr/>
        </p:nvSpPr>
        <p:spPr>
          <a:xfrm>
            <a:off x="4015372" y="5110580"/>
            <a:ext cx="54745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Remaining-frame statistics: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• Mean: 0.344 frames.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• Standard deviation: 0.867 frames.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• Maximum: 4.045 frames.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5B2E7-CD91-5EA9-43FF-4B5223979860}"/>
              </a:ext>
            </a:extLst>
          </p:cNvPr>
          <p:cNvSpPr txBox="1"/>
          <p:nvPr/>
        </p:nvSpPr>
        <p:spPr>
          <a:xfrm>
            <a:off x="49418" y="6324888"/>
            <a:ext cx="54745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Decision distribution: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• TRIM: 9 sequences.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• FPS adjustment suggested: 2 sequences.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• UNCERTAIN: 29 sequences</a:t>
            </a:r>
          </a:p>
        </p:txBody>
      </p:sp>
    </p:spTree>
    <p:extLst>
      <p:ext uri="{BB962C8B-B14F-4D97-AF65-F5344CB8AC3E}">
        <p14:creationId xmlns:p14="http://schemas.microsoft.com/office/powerpoint/2010/main" val="3000420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chemeClr val="accent6"/>
                </a:solidFill>
                <a:latin typeface="Caladea"/>
                <a:ea typeface="HY견고딕" pitchFamily="18" charset="-127"/>
              </a:rPr>
              <a:t>UBFC: FPS Correction Effectiveness</a:t>
            </a:r>
            <a:endParaRPr lang="en-US" altLang="ko-KR" sz="2400" dirty="0">
              <a:solidFill>
                <a:schemeClr val="accent6"/>
              </a:solidFill>
              <a:latin typeface="Caladea"/>
              <a:ea typeface="HY견고딕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F339B-A750-38BB-0832-4898CA0BD415}"/>
              </a:ext>
            </a:extLst>
          </p:cNvPr>
          <p:cNvSpPr txBox="1"/>
          <p:nvPr/>
        </p:nvSpPr>
        <p:spPr>
          <a:xfrm>
            <a:off x="244128" y="1116335"/>
            <a:ext cx="9883243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| seq id |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 err="1">
                <a:latin typeface="Consolas" panose="020B0609020204030204" pitchFamily="49" charset="0"/>
              </a:rPr>
              <a:t>orig</a:t>
            </a:r>
            <a:r>
              <a:rPr lang="en-US" sz="1100" dirty="0">
                <a:latin typeface="Consolas" panose="020B0609020204030204" pitchFamily="49" charset="0"/>
              </a:rPr>
              <a:t>  |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 err="1">
                <a:latin typeface="Consolas" panose="020B0609020204030204" pitchFamily="49" charset="0"/>
              </a:rPr>
              <a:t>corr</a:t>
            </a:r>
            <a:r>
              <a:rPr lang="en-US" sz="1100" dirty="0">
                <a:latin typeface="Consolas" panose="020B0609020204030204" pitchFamily="49" charset="0"/>
              </a:rPr>
              <a:t>  | Improved? || seq id |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 err="1">
                <a:latin typeface="Consolas" panose="020B0609020204030204" pitchFamily="49" charset="0"/>
              </a:rPr>
              <a:t>orig</a:t>
            </a:r>
            <a:r>
              <a:rPr lang="en-US" sz="1100" dirty="0">
                <a:latin typeface="Consolas" panose="020B0609020204030204" pitchFamily="49" charset="0"/>
              </a:rPr>
              <a:t>  | </a:t>
            </a:r>
            <a:r>
              <a:rPr lang="el-GR" sz="1100" dirty="0">
                <a:latin typeface="Consolas" panose="020B0609020204030204" pitchFamily="49" charset="0"/>
              </a:rPr>
              <a:t>Δ</a:t>
            </a:r>
            <a:r>
              <a:rPr lang="en-US" sz="1100" dirty="0" err="1">
                <a:latin typeface="Consolas" panose="020B0609020204030204" pitchFamily="49" charset="0"/>
              </a:rPr>
              <a:t>corr</a:t>
            </a:r>
            <a:r>
              <a:rPr lang="en-US" sz="1100" dirty="0">
                <a:latin typeface="Consolas" panose="020B0609020204030204" pitchFamily="49" charset="0"/>
              </a:rPr>
              <a:t>  | Improved?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|--------|--------|--------|-----------||--------|--------|--------|-----------|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1  | 6.00   | 2.00   | True      </a:t>
            </a:r>
            <a:r>
              <a:rPr lang="en-US" sz="1100" dirty="0">
                <a:latin typeface="Consolas" panose="020B0609020204030204" pitchFamily="49" charset="0"/>
              </a:rPr>
              <a:t>|| vid 33 | 23.00  | 24.00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10 | 1.00   | 0.00   | True      </a:t>
            </a:r>
            <a:r>
              <a:rPr lang="en-US" sz="1100" dirty="0">
                <a:latin typeface="Consolas" panose="020B0609020204030204" pitchFamily="49" charset="0"/>
              </a:rPr>
              <a:t>|| vid 34 | 1.00   | 2.00 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11 | 5.00   | 5.00   | False     || vid 35 | 2.00   | 3.00 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12 | 8.00   | 10.00  | False 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37 | 11.00  | 10.00  | True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13 | 11.00  | 2.00   | True      </a:t>
            </a:r>
            <a:r>
              <a:rPr lang="en-US" sz="1100" dirty="0">
                <a:latin typeface="Consolas" panose="020B0609020204030204" pitchFamily="49" charset="0"/>
              </a:rPr>
              <a:t>|| vid 38 | 34.00  | 34.00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14 | 44.00  | 45.00  | False 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39 | 8.00   | 7.00   | True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15 | 48.00  | 64.00  | False 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4  | 2.00   | 1.00   | True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16 | 8.00   | 7.00   | True      </a:t>
            </a:r>
            <a:r>
              <a:rPr lang="en-US" sz="1100" dirty="0">
                <a:latin typeface="Consolas" panose="020B0609020204030204" pitchFamily="49" charset="0"/>
              </a:rPr>
              <a:t>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40 | 0.00   | 0.00   | True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17 | 4.00   | 21.00  | False     || vid 41 | 42.00  | 50.00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18 | 11.00  | 11.00  | False     || vid 42 | 1.00   | 1.00 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20 | 77.00  | 77.00  | False     || vid 43 | 5.00   | 6.00 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22 | 0.00   | 0.00   | False 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44 | 9.00   | 6.00   | True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23 | 21.00  | 20.00  | True      </a:t>
            </a:r>
            <a:r>
              <a:rPr lang="en-US" sz="1100" dirty="0">
                <a:latin typeface="Consolas" panose="020B0609020204030204" pitchFamily="49" charset="0"/>
              </a:rPr>
              <a:t>|| vid 45 | 11.00  | 12.00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24 | 20.00  | 21.00  | False 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46 | 35.00  | 34.00  | True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25 | 6.00   | 10.00  | False 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47 | 10.00  | 10.00  | True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26 | 11.00  | 10.00  | True      </a:t>
            </a:r>
            <a:r>
              <a:rPr lang="en-US" sz="1100" dirty="0">
                <a:latin typeface="Consolas" panose="020B0609020204030204" pitchFamily="49" charset="0"/>
              </a:rPr>
              <a:t>|| vid 48 | 5.00   | 23.00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3  | 1.00   | 2.00   | False     || vid 49 | 12.00  | 12.00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30 | 26.00  | 27.00  | False     ||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vid 5  | 4.00   | 1.00   | True     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31 | 39.00  | 39.00  | False     || vid 8  | 2.00   | 2.00   | False     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vid 32 | 3.00   | 3.00   | False     || vid 9  | 35.00  | 35.00  | False     |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∆</a:t>
            </a:r>
            <a:r>
              <a:rPr lang="en-US" sz="1100" baseline="-25000" dirty="0" err="1">
                <a:latin typeface="Consolas" panose="020B0609020204030204" pitchFamily="49" charset="0"/>
              </a:rPr>
              <a:t>orig</a:t>
            </a:r>
            <a:r>
              <a:rPr lang="en-US" sz="1100" dirty="0">
                <a:latin typeface="Consolas" panose="020B0609020204030204" pitchFamily="49" charset="0"/>
              </a:rPr>
              <a:t>: drift before FPS correction.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onsolas" panose="020B0609020204030204" pitchFamily="49" charset="0"/>
              </a:rPr>
              <a:t>∆</a:t>
            </a:r>
            <a:r>
              <a:rPr lang="en-US" sz="1100" baseline="-25000" dirty="0" err="1">
                <a:latin typeface="Consolas" panose="020B0609020204030204" pitchFamily="49" charset="0"/>
              </a:rPr>
              <a:t>corr</a:t>
            </a:r>
            <a:r>
              <a:rPr lang="en-US" sz="1100" dirty="0">
                <a:latin typeface="Consolas" panose="020B0609020204030204" pitchFamily="49" charset="0"/>
              </a:rPr>
              <a:t>: drift after FPS correction</a:t>
            </a:r>
          </a:p>
          <a:p>
            <a:endParaRPr lang="en-US" sz="1300" dirty="0">
              <a:latin typeface="Consolas" panose="020B0609020204030204" pitchFamily="49" charset="0"/>
            </a:endParaRPr>
          </a:p>
          <a:p>
            <a:r>
              <a:rPr lang="en-US" sz="1300" dirty="0">
                <a:latin typeface="Consolas" panose="020B0609020204030204" pitchFamily="49" charset="0"/>
              </a:rPr>
              <a:t>Summary for UBFC: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• Total sequences </a:t>
            </a:r>
            <a:r>
              <a:rPr lang="en-US" sz="1300" dirty="0" err="1">
                <a:latin typeface="Consolas" panose="020B0609020204030204" pitchFamily="49" charset="0"/>
              </a:rPr>
              <a:t>analysed</a:t>
            </a:r>
            <a:r>
              <a:rPr lang="en-US" sz="1300" dirty="0">
                <a:latin typeface="Consolas" panose="020B0609020204030204" pitchFamily="49" charset="0"/>
              </a:rPr>
              <a:t>: 40.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• FPS correction improved drift in 14 sequences.</a:t>
            </a:r>
          </a:p>
          <a:p>
            <a:r>
              <a:rPr lang="en-US" sz="1300" dirty="0">
                <a:latin typeface="Consolas" panose="020B0609020204030204" pitchFamily="49" charset="0"/>
              </a:rPr>
              <a:t>• FPS correction did not help in 26 sequences.</a:t>
            </a:r>
          </a:p>
        </p:txBody>
      </p:sp>
      <p:sp>
        <p:nvSpPr>
          <p:cNvPr id="15" name="AutoShape 4" descr="Output image">
            <a:extLst>
              <a:ext uri="{FF2B5EF4-FFF2-40B4-BE49-F238E27FC236}">
                <a16:creationId xmlns:a16="http://schemas.microsoft.com/office/drawing/2014/main" id="{6D6FBE01-F851-694A-905C-7E34796C1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" y="152400"/>
            <a:ext cx="106172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1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925012" y="7042731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D9315-840B-297E-6DF5-E7088C14CDC7}"/>
              </a:ext>
            </a:extLst>
          </p:cNvPr>
          <p:cNvSpPr txBox="1"/>
          <p:nvPr/>
        </p:nvSpPr>
        <p:spPr>
          <a:xfrm>
            <a:off x="162124" y="115965"/>
            <a:ext cx="832784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accent6"/>
                </a:solidFill>
                <a:latin typeface="Caladea"/>
                <a:ea typeface="HY견고딕" pitchFamily="18" charset="-127"/>
              </a:rPr>
              <a:t>Appendix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23B25-A938-3C4F-8BC6-DB8A2AC5B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219310"/>
              </p:ext>
            </p:extLst>
          </p:nvPr>
        </p:nvGraphicFramePr>
        <p:xfrm>
          <a:off x="162124" y="1044327"/>
          <a:ext cx="10369152" cy="5933275"/>
        </p:xfrm>
        <a:graphic>
          <a:graphicData uri="http://schemas.openxmlformats.org/drawingml/2006/table">
            <a:tbl>
              <a:tblPr/>
              <a:tblGrid>
                <a:gridCol w="1296144">
                  <a:extLst>
                    <a:ext uri="{9D8B030D-6E8A-4147-A177-3AD203B41FA5}">
                      <a16:colId xmlns:a16="http://schemas.microsoft.com/office/drawing/2014/main" val="23407837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782779315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716765803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656439436"/>
                    </a:ext>
                  </a:extLst>
                </a:gridCol>
              </a:tblGrid>
              <a:tr h="157935">
                <a:tc>
                  <a:txBody>
                    <a:bodyPr/>
                    <a:lstStyle/>
                    <a:p>
                      <a:r>
                        <a:rPr lang="en-US" sz="800" b="1" dirty="0"/>
                        <a:t>Abbreviation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Full Form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Meaning / Description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Context in Discussion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727380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 dirty="0"/>
                        <a:t>BCG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Ballistocardiography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Measurement of tiny body movements caused by cardiac ejection of blood (mechanical action of the heart).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as the </a:t>
                      </a:r>
                      <a:r>
                        <a:rPr lang="en-US" sz="800" b="1"/>
                        <a:t>start reference signal</a:t>
                      </a:r>
                      <a:r>
                        <a:rPr lang="en-US" sz="800"/>
                        <a:t> in Yoshioka et al. (2020) via 24 GHz radar to compute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795554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 dirty="0"/>
                        <a:t>PPG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Photoplethysmography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Optical measurement of blood volume changes in tissue using a light source and detector (usually contact-based).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Conventional </a:t>
                      </a:r>
                      <a:r>
                        <a:rPr lang="en-US" sz="800" b="1"/>
                        <a:t>contact sensor</a:t>
                      </a:r>
                      <a:r>
                        <a:rPr lang="en-US" sz="800"/>
                        <a:t> reference for pulse arrival.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09777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iPPG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Imaging Photoplethysmography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PPG signal extracted from </a:t>
                      </a:r>
                      <a:r>
                        <a:rPr lang="en-US" sz="800" b="1" dirty="0"/>
                        <a:t>video frames</a:t>
                      </a:r>
                      <a:r>
                        <a:rPr lang="en-US" sz="800" dirty="0"/>
                        <a:t> (facial brightness changes), without physical contact.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in Yoshioka et al. (2020) for </a:t>
                      </a:r>
                      <a:r>
                        <a:rPr lang="en-US" sz="800" b="1"/>
                        <a:t>noncontact pulse detection</a:t>
                      </a:r>
                      <a:r>
                        <a:rPr lang="en-US" sz="800"/>
                        <a:t>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610254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rPPG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Remote Photoplethysmography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General term for noncontact PPG obtained from camera images (essentially same as iPPG).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The main signal type in current research focus.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66269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Pulse Transit Time</a:t>
                      </a:r>
                      <a:endParaRPr lang="en-US" sz="800" dirty="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taken for the arterial pulse wave to travel between two sites (from heart to face).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Key physiological metric; shorter PTT means higher arterial stiffness or BP.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8146"/>
                  </a:ext>
                </a:extLst>
              </a:tr>
              <a:tr h="491375">
                <a:tc>
                  <a:txBody>
                    <a:bodyPr/>
                    <a:lstStyle/>
                    <a:p>
                      <a:r>
                        <a:rPr lang="en-US" sz="800" b="1"/>
                        <a:t>PAT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Pulse Arrival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between ECG R-wave (electrical heart activation) and PPG pulse arrival; includes </a:t>
                      </a:r>
                      <a:r>
                        <a:rPr lang="en-US" sz="800" b="1" dirty="0"/>
                        <a:t>pre-ejection period (PEP)</a:t>
                      </a:r>
                      <a:r>
                        <a:rPr lang="en-US" sz="800" dirty="0"/>
                        <a:t>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Used in both papers as a </a:t>
                      </a:r>
                      <a:r>
                        <a:rPr lang="en-US" sz="800" b="1"/>
                        <a:t>surrogate</a:t>
                      </a:r>
                      <a:r>
                        <a:rPr lang="en-US" sz="800"/>
                        <a:t> of true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54595"/>
                  </a:ext>
                </a:extLst>
              </a:tr>
              <a:tr h="424063">
                <a:tc>
                  <a:txBody>
                    <a:bodyPr/>
                    <a:lstStyle/>
                    <a:p>
                      <a:r>
                        <a:rPr lang="en-US" sz="800" b="1"/>
                        <a:t>PEP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Pre-Ejection Period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Time between the ECG R-wave and the actual mechanical ejection of blood from the heart.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Present in PAT, but </a:t>
                      </a:r>
                      <a:r>
                        <a:rPr lang="en-US" sz="800" b="1"/>
                        <a:t>not</a:t>
                      </a:r>
                      <a:r>
                        <a:rPr lang="en-US" sz="800"/>
                        <a:t> in PTT (BCG avoids this).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921848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ECG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Electrocardiography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Electrical recording of heart activity, especially used to detect the R-wave for timing.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Contact reference for PAT in Block et al. (2020).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453763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Force exerted by circulating blood on arterial walls.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Physiological parameter correlated </a:t>
                      </a:r>
                      <a:r>
                        <a:rPr lang="en-US" sz="800" b="1"/>
                        <a:t>inversely</a:t>
                      </a:r>
                      <a:r>
                        <a:rPr lang="en-US" sz="800"/>
                        <a:t> with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934973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SBP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Systolic 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Maximum arterial pressure during heart contraction.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Strongly correlated with PTT (R ≈ −0.6).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31409"/>
                  </a:ext>
                </a:extLst>
              </a:tr>
              <a:tr h="222128">
                <a:tc>
                  <a:txBody>
                    <a:bodyPr/>
                    <a:lstStyle/>
                    <a:p>
                      <a:r>
                        <a:rPr lang="en-US" sz="800" b="1"/>
                        <a:t>DBP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Diastolic Blood Pressure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Minimum arterial pressure during heart relaxation.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Weak correlation with PTT (R ≈ −0.2).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002393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ROI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Region of Interest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Specific area in an image or video used for signal extraction (e.g., cheek or forehead).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In iPPG, face ROI used for green-channel brightness analysis.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235589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FIR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Finite Impulse Response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Type of digital filter used for signal smoothing and noise reduction.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Applied to iPPG signals before peak detection in Yoshioka et al. (2020).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163924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cPTT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Conventional Pulse Transit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PTT derived from </a:t>
                      </a:r>
                      <a:r>
                        <a:rPr lang="en-US" sz="800" b="1"/>
                        <a:t>ECG–PPG</a:t>
                      </a:r>
                      <a:r>
                        <a:rPr lang="en-US" sz="800"/>
                        <a:t> or </a:t>
                      </a:r>
                      <a:r>
                        <a:rPr lang="en-US" sz="800" b="1"/>
                        <a:t>PPG–PPG</a:t>
                      </a:r>
                      <a:r>
                        <a:rPr lang="en-US" sz="800"/>
                        <a:t> pairs using contact sensors.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Defined in Block et al. (2020) as traditional, contact-based methods.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911810"/>
                  </a:ext>
                </a:extLst>
              </a:tr>
              <a:tr h="289441">
                <a:tc>
                  <a:txBody>
                    <a:bodyPr/>
                    <a:lstStyle/>
                    <a:p>
                      <a:r>
                        <a:rPr lang="en-US" sz="800" b="1"/>
                        <a:t>dPTT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Differential Pulse Transit Time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Time difference between two distal PPGs (e.g., ear–toe).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Represents the </a:t>
                      </a:r>
                      <a:r>
                        <a:rPr lang="en-US" sz="800" b="1" dirty="0"/>
                        <a:t>difference of two PTTs</a:t>
                      </a:r>
                      <a:r>
                        <a:rPr lang="en-US" sz="800" dirty="0"/>
                        <a:t>, not a true PTT.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564356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sz="800" b="1"/>
                        <a:t>PATfoot / PPG foot</a:t>
                      </a:r>
                      <a:endParaRPr lang="en-US" sz="800"/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—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The </a:t>
                      </a:r>
                      <a:r>
                        <a:rPr lang="en-US" sz="800" b="1"/>
                        <a:t>waveform onset</a:t>
                      </a:r>
                      <a:r>
                        <a:rPr lang="en-US" sz="800"/>
                        <a:t> (foot) used as a reliable timing marker for pulse arrival.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Identified in Block et al. (2020) as more consistent than the peak.</a:t>
                      </a:r>
                    </a:p>
                  </a:txBody>
                  <a:tcPr marL="16336" marR="16336" marT="8168" marB="81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27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71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21125</TotalTime>
  <Words>1879</Words>
  <Application>Microsoft Office PowerPoint</Application>
  <PresentationFormat>Custom</PresentationFormat>
  <Paragraphs>234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Caladea</vt:lpstr>
      <vt:lpstr>HY견고딕</vt:lpstr>
      <vt:lpstr>HY중고딕</vt:lpstr>
      <vt:lpstr>맑은 고딕</vt:lpstr>
      <vt:lpstr>Arial</vt:lpstr>
      <vt:lpstr>Consolas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Rafsan Jany</cp:lastModifiedBy>
  <cp:revision>331</cp:revision>
  <cp:lastPrinted>2012-01-03T07:03:32Z</cp:lastPrinted>
  <dcterms:created xsi:type="dcterms:W3CDTF">2011-12-29T06:45:05Z</dcterms:created>
  <dcterms:modified xsi:type="dcterms:W3CDTF">2025-11-24T06:16:00Z</dcterms:modified>
</cp:coreProperties>
</file>