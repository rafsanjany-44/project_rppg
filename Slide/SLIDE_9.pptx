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364" r:id="rId3"/>
    <p:sldId id="379" r:id="rId4"/>
    <p:sldId id="380" r:id="rId5"/>
    <p:sldId id="373" r:id="rId6"/>
    <p:sldId id="381" r:id="rId7"/>
    <p:sldId id="376" r:id="rId8"/>
    <p:sldId id="382" r:id="rId9"/>
    <p:sldId id="370" r:id="rId10"/>
    <p:sldId id="391" r:id="rId11"/>
    <p:sldId id="392" r:id="rId12"/>
    <p:sldId id="387" r:id="rId13"/>
    <p:sldId id="388" r:id="rId14"/>
    <p:sldId id="389" r:id="rId15"/>
    <p:sldId id="383" r:id="rId16"/>
    <p:sldId id="384" r:id="rId17"/>
    <p:sldId id="385" r:id="rId18"/>
    <p:sldId id="386" r:id="rId19"/>
    <p:sldId id="390" r:id="rId20"/>
  </p:sldIdLst>
  <p:sldSz cx="10693400" cy="7561263"/>
  <p:notesSz cx="9874250" cy="6797675"/>
  <p:defaultTextStyle>
    <a:defPPr>
      <a:defRPr lang="ko-KR"/>
    </a:defPPr>
    <a:lvl1pPr marL="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84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69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53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38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22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07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4916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2761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7405"/>
    <a:srgbClr val="E78B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47" autoAdjust="0"/>
  </p:normalViewPr>
  <p:slideViewPr>
    <p:cSldViewPr>
      <p:cViewPr varScale="1">
        <p:scale>
          <a:sx n="120" d="100"/>
          <a:sy n="120" d="100"/>
        </p:scale>
        <p:origin x="1464" y="103"/>
      </p:cViewPr>
      <p:guideLst>
        <p:guide orient="horz" pos="2382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92027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C65444-5612-4993-A297-66E4EA569180}" type="datetime1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92027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70AE1-31D9-4381-959D-9050CC0FE9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8306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93126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3867D-DA73-4C30-B686-2D05E2BBC364}" type="datetime1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33725" y="509588"/>
            <a:ext cx="36068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426" y="3228896"/>
            <a:ext cx="789940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93126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0A336D-49A4-4170-8C35-7E5BA4D4E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46915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744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771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637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0018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9748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9297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2669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8112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5401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038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1331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2054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0457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7656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59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7796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91936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1217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771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3EF1-6E1E-49A8-89C7-5D842E70784B}" type="datetime1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06140" y="91456"/>
            <a:ext cx="8496944" cy="736847"/>
          </a:xfrm>
          <a:prstGeom prst="rect">
            <a:avLst/>
          </a:prstGeom>
        </p:spPr>
        <p:txBody>
          <a:bodyPr anchor="ctr"/>
          <a:lstStyle>
            <a:lvl1pPr algn="l">
              <a:defRPr sz="3000" b="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(HY</a:t>
            </a:r>
            <a:r>
              <a:rPr lang="ko-KR" altLang="en-US" dirty="0"/>
              <a:t>견고딕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D9B9-AAC4-4186-832C-ACCB8141D63A}" type="datetime1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40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06140" y="91456"/>
            <a:ext cx="8496944" cy="736847"/>
          </a:xfrm>
          <a:prstGeom prst="rect">
            <a:avLst/>
          </a:prstGeom>
        </p:spPr>
        <p:txBody>
          <a:bodyPr anchor="ctr"/>
          <a:lstStyle>
            <a:lvl1pPr algn="l">
              <a:defRPr sz="3000" b="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(HY</a:t>
            </a:r>
            <a:r>
              <a:rPr lang="ko-KR" altLang="en-US" dirty="0"/>
              <a:t>견고딕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D9B9-AAC4-4186-832C-ACCB8141D63A}" type="datetime1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781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4670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FB339-8C5D-44DF-A368-296A032EEE0C}" type="datetime1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53579" y="7008172"/>
            <a:ext cx="3386243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3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</p:sldLayoutIdLst>
  <p:hf hdr="0" ftr="0" dt="0"/>
  <p:txStyles>
    <p:titleStyle>
      <a:lvl1pPr algn="ctr" defTabSz="995690" rtl="0" eaLnBrk="1" latinLnBrk="1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384" indent="-373384" algn="l" defTabSz="995690" rtl="0" eaLnBrk="1" latinLnBrk="1" hangingPunct="1">
        <a:spcBef>
          <a:spcPct val="20000"/>
        </a:spcBef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8998" indent="-311153" algn="l" defTabSz="995690" rtl="0" eaLnBrk="1" latinLnBrk="1" hangingPunct="1">
        <a:spcBef>
          <a:spcPct val="20000"/>
        </a:spcBef>
        <a:buFont typeface="Arial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61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458" indent="-248923" algn="l" defTabSz="995690" rtl="0" eaLnBrk="1" latinLnBrk="1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303" indent="-248923" algn="l" defTabSz="995690" rtl="0" eaLnBrk="1" latinLnBrk="1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14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599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383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168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84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69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53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38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22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07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4916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2761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2124" y="828303"/>
            <a:ext cx="9937104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Applying All The Algorithms to Full Dataset Of UBFC   </a:t>
            </a: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Finding The Optimum Peak Finding Algorithms</a:t>
            </a: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Applying Various Processing Methods</a:t>
            </a:r>
            <a:r>
              <a:rPr lang="en-US" altLang="ko-KR" sz="2800" b="1" dirty="0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 </a:t>
            </a:r>
            <a:r>
              <a:rPr lang="en-US" altLang="ko-KR" sz="2800" dirty="0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with Time Domain</a:t>
            </a: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Visually Analysis The frame wise Error</a:t>
            </a: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Two Peak Problems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38588" y="4572719"/>
            <a:ext cx="5688632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500" dirty="0">
                <a:latin typeface="Caladea" panose="020B0600000101010101" charset="0"/>
                <a:ea typeface="HY중고딕" pitchFamily="18" charset="-127"/>
              </a:rPr>
              <a:t>Rafsan</a:t>
            </a:r>
            <a:r>
              <a:rPr lang="ko-KR" altLang="en-US" sz="2500" dirty="0">
                <a:latin typeface="Caladea" panose="020B0600000101010101" charset="0"/>
                <a:ea typeface="HY중고딕" pitchFamily="18" charset="-127"/>
              </a:rPr>
              <a:t> </a:t>
            </a:r>
            <a:r>
              <a:rPr lang="en-US" altLang="ko-KR" sz="2500" dirty="0">
                <a:latin typeface="Caladea" panose="020B0600000101010101" charset="0"/>
                <a:ea typeface="HY중고딕" pitchFamily="18" charset="-127"/>
              </a:rPr>
              <a:t>Jany</a:t>
            </a:r>
          </a:p>
          <a:p>
            <a:pPr algn="r" rtl="0"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adea" panose="020B0600000101010101" charset="0"/>
                <a:cs typeface="Assistant" pitchFamily="2" charset="-79"/>
              </a:rPr>
              <a:t>Korean Convergence Medical Science</a:t>
            </a:r>
            <a:br>
              <a:rPr lang="en-US" sz="2000" dirty="0"/>
            </a:br>
            <a:endParaRPr lang="en-US" sz="2400" b="0" dirty="0">
              <a:effectLst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BFA47E-2C3C-B12E-FF19-4D5F348668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948" y="6804967"/>
            <a:ext cx="1836174" cy="87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923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96">
            <a:extLst>
              <a:ext uri="{FF2B5EF4-FFF2-40B4-BE49-F238E27FC236}">
                <a16:creationId xmlns:a16="http://schemas.microsoft.com/office/drawing/2014/main" id="{4AD49E9A-1895-AC8E-BD9A-1DE9206CFE86}"/>
              </a:ext>
            </a:extLst>
          </p:cNvPr>
          <p:cNvSpPr/>
          <p:nvPr/>
        </p:nvSpPr>
        <p:spPr>
          <a:xfrm>
            <a:off x="9689050" y="2334189"/>
            <a:ext cx="814518" cy="50405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3 x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DDF7B896-7CA8-EE3D-3622-3BA7BCAF3068}"/>
              </a:ext>
            </a:extLst>
          </p:cNvPr>
          <p:cNvSpPr/>
          <p:nvPr/>
        </p:nvSpPr>
        <p:spPr>
          <a:xfrm>
            <a:off x="9667180" y="5831215"/>
            <a:ext cx="814518" cy="50405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31 x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E0558BF0-8873-FFEE-00E9-71E1BFC60DD0}"/>
              </a:ext>
            </a:extLst>
          </p:cNvPr>
          <p:cNvSpPr/>
          <p:nvPr/>
        </p:nvSpPr>
        <p:spPr>
          <a:xfrm>
            <a:off x="9698889" y="4372595"/>
            <a:ext cx="814518" cy="50405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15 x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0C7BA45-687F-574D-4004-B6409970A76F}"/>
              </a:ext>
            </a:extLst>
          </p:cNvPr>
          <p:cNvSpPr/>
          <p:nvPr/>
        </p:nvSpPr>
        <p:spPr>
          <a:xfrm>
            <a:off x="3088223" y="3721851"/>
            <a:ext cx="6286270" cy="18504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2A29983-1D6A-106E-D63D-01BB7FD4A04A}"/>
              </a:ext>
            </a:extLst>
          </p:cNvPr>
          <p:cNvSpPr/>
          <p:nvPr/>
        </p:nvSpPr>
        <p:spPr>
          <a:xfrm>
            <a:off x="32512" y="1947434"/>
            <a:ext cx="4657887" cy="166116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Experiment Paths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1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5EFE996-C482-6DC8-C4BE-AE33A7D53B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826" y="2193339"/>
            <a:ext cx="1153590" cy="115359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2">
                <a:lumMod val="40000"/>
                <a:lumOff val="60000"/>
              </a:schemeClr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C986E4-9615-0CC8-C9F7-56DB9A91E12F}"/>
              </a:ext>
            </a:extLst>
          </p:cNvPr>
          <p:cNvSpPr/>
          <p:nvPr/>
        </p:nvSpPr>
        <p:spPr>
          <a:xfrm>
            <a:off x="189832" y="1062073"/>
            <a:ext cx="864096" cy="4426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E83961-E3C1-A8E4-682D-50F769000A62}"/>
              </a:ext>
            </a:extLst>
          </p:cNvPr>
          <p:cNvSpPr/>
          <p:nvPr/>
        </p:nvSpPr>
        <p:spPr>
          <a:xfrm>
            <a:off x="1138904" y="1062073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EC514B-5432-1438-9E3F-6FD5EAA5F30D}"/>
              </a:ext>
            </a:extLst>
          </p:cNvPr>
          <p:cNvSpPr/>
          <p:nvPr/>
        </p:nvSpPr>
        <p:spPr>
          <a:xfrm>
            <a:off x="2087976" y="1062073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C427E8-4495-C858-0B39-05BFEB280237}"/>
              </a:ext>
            </a:extLst>
          </p:cNvPr>
          <p:cNvSpPr/>
          <p:nvPr/>
        </p:nvSpPr>
        <p:spPr>
          <a:xfrm>
            <a:off x="3028146" y="1062073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A7356D-A02A-2034-FD3F-58127C975730}"/>
              </a:ext>
            </a:extLst>
          </p:cNvPr>
          <p:cNvSpPr/>
          <p:nvPr/>
        </p:nvSpPr>
        <p:spPr>
          <a:xfrm>
            <a:off x="3968316" y="1072679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049903-3352-A106-DD67-F5B963E12789}"/>
              </a:ext>
            </a:extLst>
          </p:cNvPr>
          <p:cNvSpPr/>
          <p:nvPr/>
        </p:nvSpPr>
        <p:spPr>
          <a:xfrm>
            <a:off x="5665357" y="1061508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46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8982D7-0AF7-D7E0-E9B4-CC9B7311A1A3}"/>
              </a:ext>
            </a:extLst>
          </p:cNvPr>
          <p:cNvSpPr/>
          <p:nvPr/>
        </p:nvSpPr>
        <p:spPr>
          <a:xfrm>
            <a:off x="6589615" y="1073245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47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793FFB-7D17-CD72-8344-87BC98043603}"/>
              </a:ext>
            </a:extLst>
          </p:cNvPr>
          <p:cNvSpPr/>
          <p:nvPr/>
        </p:nvSpPr>
        <p:spPr>
          <a:xfrm>
            <a:off x="7507985" y="1083851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48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6ABCF4-4E4E-F35E-CAE7-251221A5221F}"/>
              </a:ext>
            </a:extLst>
          </p:cNvPr>
          <p:cNvSpPr/>
          <p:nvPr/>
        </p:nvSpPr>
        <p:spPr>
          <a:xfrm>
            <a:off x="8432243" y="1083851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49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6C642E7-3263-A562-43FF-1CDE7DB9114C}"/>
              </a:ext>
            </a:extLst>
          </p:cNvPr>
          <p:cNvCxnSpPr>
            <a:cxnSpLocks/>
          </p:cNvCxnSpPr>
          <p:nvPr/>
        </p:nvCxnSpPr>
        <p:spPr>
          <a:xfrm flipV="1">
            <a:off x="4914652" y="1482384"/>
            <a:ext cx="720080" cy="223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EE9F81DB-33A8-713E-583D-1CB387EB93F4}"/>
              </a:ext>
            </a:extLst>
          </p:cNvPr>
          <p:cNvSpPr/>
          <p:nvPr/>
        </p:nvSpPr>
        <p:spPr>
          <a:xfrm>
            <a:off x="9523164" y="1061508"/>
            <a:ext cx="144016" cy="45439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C35B47-C2AE-8A75-86B2-8220D0DDA3FB}"/>
              </a:ext>
            </a:extLst>
          </p:cNvPr>
          <p:cNvSpPr/>
          <p:nvPr/>
        </p:nvSpPr>
        <p:spPr>
          <a:xfrm>
            <a:off x="9689050" y="1011843"/>
            <a:ext cx="814518" cy="50405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40 </a:t>
            </a:r>
          </a:p>
          <a:p>
            <a:pPr algn="ctr"/>
            <a:r>
              <a:rPr lang="en-US" sz="1200" dirty="0"/>
              <a:t>Subjects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C3F462-0F78-B3EC-5589-E0CFC11F21B6}"/>
              </a:ext>
            </a:extLst>
          </p:cNvPr>
          <p:cNvSpPr/>
          <p:nvPr/>
        </p:nvSpPr>
        <p:spPr>
          <a:xfrm>
            <a:off x="5593303" y="2421378"/>
            <a:ext cx="1276109" cy="7132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Mean</a:t>
            </a:r>
            <a:r>
              <a:rPr lang="en-US" sz="1600" b="1" dirty="0">
                <a:solidFill>
                  <a:srgbClr val="FF0000"/>
                </a:solidFill>
              </a:rPr>
              <a:t> R</a:t>
            </a:r>
            <a:r>
              <a:rPr lang="en-US" sz="1600" b="1" dirty="0">
                <a:solidFill>
                  <a:srgbClr val="00B050"/>
                </a:solidFill>
              </a:rPr>
              <a:t>G</a:t>
            </a:r>
            <a:r>
              <a:rPr lang="en-US" sz="1600" b="1" dirty="0">
                <a:solidFill>
                  <a:srgbClr val="0070C0"/>
                </a:solidFill>
              </a:rPr>
              <a:t>B</a:t>
            </a:r>
            <a:r>
              <a:rPr lang="en-US" sz="1600" dirty="0"/>
              <a:t> </a:t>
            </a:r>
          </a:p>
          <a:p>
            <a:pPr algn="ctr"/>
            <a:r>
              <a:rPr lang="en-US" sz="1600" dirty="0"/>
              <a:t>Extraction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51E0987-495C-E37C-6268-56AA84CA0C1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63" y="2209099"/>
            <a:ext cx="1137830" cy="113783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2">
                <a:lumMod val="40000"/>
                <a:lumOff val="60000"/>
              </a:schemeClr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F68CF2A-E21D-952D-0468-13F5128B669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980" y="2209099"/>
            <a:ext cx="1137830" cy="113783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2">
                <a:lumMod val="40000"/>
                <a:lumOff val="60000"/>
              </a:schemeClr>
            </a:solidFill>
          </a:ln>
        </p:spPr>
      </p:pic>
      <p:sp>
        <p:nvSpPr>
          <p:cNvPr id="29" name="Multiplication Sign 28">
            <a:extLst>
              <a:ext uri="{FF2B5EF4-FFF2-40B4-BE49-F238E27FC236}">
                <a16:creationId xmlns:a16="http://schemas.microsoft.com/office/drawing/2014/main" id="{6A9DB70B-F8C6-4D77-E374-529B079F37D8}"/>
              </a:ext>
            </a:extLst>
          </p:cNvPr>
          <p:cNvSpPr/>
          <p:nvPr/>
        </p:nvSpPr>
        <p:spPr>
          <a:xfrm>
            <a:off x="1890316" y="2628503"/>
            <a:ext cx="216024" cy="216024"/>
          </a:xfrm>
          <a:prstGeom prst="mathMultiply">
            <a:avLst>
              <a:gd name="adj1" fmla="val 934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Multiplication Sign 29">
            <a:extLst>
              <a:ext uri="{FF2B5EF4-FFF2-40B4-BE49-F238E27FC236}">
                <a16:creationId xmlns:a16="http://schemas.microsoft.com/office/drawing/2014/main" id="{6995ED24-2672-ED5F-A527-1A88BA13453E}"/>
              </a:ext>
            </a:extLst>
          </p:cNvPr>
          <p:cNvSpPr/>
          <p:nvPr/>
        </p:nvSpPr>
        <p:spPr>
          <a:xfrm>
            <a:off x="2245372" y="2612731"/>
            <a:ext cx="216024" cy="216024"/>
          </a:xfrm>
          <a:prstGeom prst="mathMultiply">
            <a:avLst>
              <a:gd name="adj1" fmla="val 934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Multiplication Sign 30">
            <a:extLst>
              <a:ext uri="{FF2B5EF4-FFF2-40B4-BE49-F238E27FC236}">
                <a16:creationId xmlns:a16="http://schemas.microsoft.com/office/drawing/2014/main" id="{92A36092-E4A4-DAC5-7A5E-68A0938A874C}"/>
              </a:ext>
            </a:extLst>
          </p:cNvPr>
          <p:cNvSpPr/>
          <p:nvPr/>
        </p:nvSpPr>
        <p:spPr>
          <a:xfrm>
            <a:off x="3515133" y="2409092"/>
            <a:ext cx="216024" cy="216024"/>
          </a:xfrm>
          <a:prstGeom prst="mathMultiply">
            <a:avLst>
              <a:gd name="adj1" fmla="val 934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4B5BA5BB-376B-C2BB-3888-EADB82417BED}"/>
              </a:ext>
            </a:extLst>
          </p:cNvPr>
          <p:cNvCxnSpPr>
            <a:cxnSpLocks/>
            <a:stCxn id="4" idx="2"/>
            <a:endCxn id="32" idx="0"/>
          </p:cNvCxnSpPr>
          <p:nvPr/>
        </p:nvCxnSpPr>
        <p:spPr>
          <a:xfrm rot="16200000" flipH="1">
            <a:off x="1270315" y="856292"/>
            <a:ext cx="442707" cy="1739576"/>
          </a:xfrm>
          <a:prstGeom prst="bentConnector3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892A6F77-E3FB-AD09-5563-C52760A8F1B1}"/>
              </a:ext>
            </a:extLst>
          </p:cNvPr>
          <p:cNvCxnSpPr>
            <a:cxnSpLocks/>
            <a:stCxn id="8" idx="2"/>
            <a:endCxn id="32" idx="0"/>
          </p:cNvCxnSpPr>
          <p:nvPr/>
        </p:nvCxnSpPr>
        <p:spPr>
          <a:xfrm rot="16200000" flipH="1">
            <a:off x="1739548" y="1325525"/>
            <a:ext cx="453313" cy="79050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88EB3C9C-02E0-8FF4-BB75-2994DC3E2A3A}"/>
              </a:ext>
            </a:extLst>
          </p:cNvPr>
          <p:cNvCxnSpPr>
            <a:cxnSpLocks/>
            <a:stCxn id="9" idx="2"/>
            <a:endCxn id="32" idx="0"/>
          </p:cNvCxnSpPr>
          <p:nvPr/>
        </p:nvCxnSpPr>
        <p:spPr>
          <a:xfrm rot="5400000">
            <a:off x="2214084" y="1641493"/>
            <a:ext cx="453313" cy="15856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612C3BDA-D736-65F0-B803-86472996EEAA}"/>
              </a:ext>
            </a:extLst>
          </p:cNvPr>
          <p:cNvCxnSpPr>
            <a:cxnSpLocks/>
            <a:stCxn id="10" idx="2"/>
            <a:endCxn id="32" idx="0"/>
          </p:cNvCxnSpPr>
          <p:nvPr/>
        </p:nvCxnSpPr>
        <p:spPr>
          <a:xfrm rot="5400000">
            <a:off x="2684169" y="1171408"/>
            <a:ext cx="453313" cy="109873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6E05CDBD-6D8C-E87F-277A-974138B1DC43}"/>
              </a:ext>
            </a:extLst>
          </p:cNvPr>
          <p:cNvCxnSpPr>
            <a:cxnSpLocks/>
            <a:stCxn id="11" idx="2"/>
            <a:endCxn id="32" idx="0"/>
          </p:cNvCxnSpPr>
          <p:nvPr/>
        </p:nvCxnSpPr>
        <p:spPr>
          <a:xfrm rot="5400000">
            <a:off x="3159557" y="706626"/>
            <a:ext cx="442707" cy="203890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682019AC-7969-E8EA-39DF-FE882B1826A7}"/>
              </a:ext>
            </a:extLst>
          </p:cNvPr>
          <p:cNvCxnSpPr>
            <a:cxnSpLocks/>
            <a:stCxn id="12" idx="2"/>
            <a:endCxn id="32" idx="0"/>
          </p:cNvCxnSpPr>
          <p:nvPr/>
        </p:nvCxnSpPr>
        <p:spPr>
          <a:xfrm rot="5400000">
            <a:off x="4002492" y="-147479"/>
            <a:ext cx="453878" cy="3735949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F1D3C3F5-F602-ED29-AC97-EFFD6C978097}"/>
              </a:ext>
            </a:extLst>
          </p:cNvPr>
          <p:cNvCxnSpPr>
            <a:cxnSpLocks/>
            <a:stCxn id="13" idx="2"/>
            <a:endCxn id="32" idx="0"/>
          </p:cNvCxnSpPr>
          <p:nvPr/>
        </p:nvCxnSpPr>
        <p:spPr>
          <a:xfrm rot="5400000">
            <a:off x="4470490" y="-603740"/>
            <a:ext cx="442141" cy="466020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3FAE7F6A-1885-E55C-BEBE-691BDCF46B55}"/>
              </a:ext>
            </a:extLst>
          </p:cNvPr>
          <p:cNvCxnSpPr>
            <a:cxnSpLocks/>
            <a:stCxn id="14" idx="2"/>
            <a:endCxn id="32" idx="0"/>
          </p:cNvCxnSpPr>
          <p:nvPr/>
        </p:nvCxnSpPr>
        <p:spPr>
          <a:xfrm rot="5400000">
            <a:off x="4934978" y="-1057622"/>
            <a:ext cx="431535" cy="557857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81E6941D-F401-4F1C-ED8B-D12ECDBAAE4B}"/>
              </a:ext>
            </a:extLst>
          </p:cNvPr>
          <p:cNvCxnSpPr>
            <a:cxnSpLocks/>
            <a:stCxn id="15" idx="2"/>
            <a:endCxn id="32" idx="0"/>
          </p:cNvCxnSpPr>
          <p:nvPr/>
        </p:nvCxnSpPr>
        <p:spPr>
          <a:xfrm rot="5400000">
            <a:off x="5397107" y="-1519751"/>
            <a:ext cx="431535" cy="6502835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6B8AAAE5-79AB-3729-A85F-916067380559}"/>
              </a:ext>
            </a:extLst>
          </p:cNvPr>
          <p:cNvSpPr txBox="1"/>
          <p:nvPr/>
        </p:nvSpPr>
        <p:spPr>
          <a:xfrm>
            <a:off x="486003" y="3328111"/>
            <a:ext cx="7920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All ROI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0392C8D-9E03-144B-900F-EBD503D6F830}"/>
              </a:ext>
            </a:extLst>
          </p:cNvPr>
          <p:cNvSpPr txBox="1"/>
          <p:nvPr/>
        </p:nvSpPr>
        <p:spPr>
          <a:xfrm>
            <a:off x="1638298" y="3320378"/>
            <a:ext cx="14463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Only Forehead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8A9F760-7E3A-5E83-1E9C-E8C591F9021F}"/>
              </a:ext>
            </a:extLst>
          </p:cNvPr>
          <p:cNvSpPr txBox="1"/>
          <p:nvPr/>
        </p:nvSpPr>
        <p:spPr>
          <a:xfrm>
            <a:off x="2853505" y="3348583"/>
            <a:ext cx="15468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Only Both Cheeks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5E6F739-3D8D-7463-2A1F-C9573C8F35D7}"/>
              </a:ext>
            </a:extLst>
          </p:cNvPr>
          <p:cNvCxnSpPr>
            <a:cxnSpLocks/>
            <a:stCxn id="32" idx="3"/>
            <a:endCxn id="24" idx="1"/>
          </p:cNvCxnSpPr>
          <p:nvPr/>
        </p:nvCxnSpPr>
        <p:spPr>
          <a:xfrm>
            <a:off x="4690399" y="2778014"/>
            <a:ext cx="902904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6" name="Right Brace 95">
            <a:extLst>
              <a:ext uri="{FF2B5EF4-FFF2-40B4-BE49-F238E27FC236}">
                <a16:creationId xmlns:a16="http://schemas.microsoft.com/office/drawing/2014/main" id="{F8C121D6-6A6F-E173-7C8D-8F6C80CE8B15}"/>
              </a:ext>
            </a:extLst>
          </p:cNvPr>
          <p:cNvSpPr/>
          <p:nvPr/>
        </p:nvSpPr>
        <p:spPr>
          <a:xfrm>
            <a:off x="9441183" y="1806453"/>
            <a:ext cx="313554" cy="162484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6E8BBD4-B3C4-B3BD-FBEC-751F94F9C63E}"/>
              </a:ext>
            </a:extLst>
          </p:cNvPr>
          <p:cNvSpPr/>
          <p:nvPr/>
        </p:nvSpPr>
        <p:spPr>
          <a:xfrm>
            <a:off x="3228749" y="3861117"/>
            <a:ext cx="864096" cy="4426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Green </a:t>
            </a:r>
          </a:p>
          <a:p>
            <a:pPr algn="ctr"/>
            <a:r>
              <a:rPr lang="en-US" sz="1050" b="1" dirty="0">
                <a:solidFill>
                  <a:schemeClr val="tx1"/>
                </a:solidFill>
              </a:rPr>
              <a:t>Channel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155DBC7C-FBAE-9A5E-2F3F-0E96F49BDFBD}"/>
              </a:ext>
            </a:extLst>
          </p:cNvPr>
          <p:cNvSpPr/>
          <p:nvPr/>
        </p:nvSpPr>
        <p:spPr>
          <a:xfrm>
            <a:off x="4238374" y="4975497"/>
            <a:ext cx="864096" cy="432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ICA 1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CA555BE-3F03-58DA-6FCE-9C4820434555}"/>
              </a:ext>
            </a:extLst>
          </p:cNvPr>
          <p:cNvSpPr/>
          <p:nvPr/>
        </p:nvSpPr>
        <p:spPr>
          <a:xfrm>
            <a:off x="4238374" y="4403296"/>
            <a:ext cx="864096" cy="432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ICA 2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86B9BA2-655C-C717-2F8F-7AD13E806D69}"/>
              </a:ext>
            </a:extLst>
          </p:cNvPr>
          <p:cNvSpPr/>
          <p:nvPr/>
        </p:nvSpPr>
        <p:spPr>
          <a:xfrm>
            <a:off x="5284269" y="3854498"/>
            <a:ext cx="864096" cy="432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POS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5AB395C-875F-0344-0971-9FAFEC534660}"/>
              </a:ext>
            </a:extLst>
          </p:cNvPr>
          <p:cNvSpPr/>
          <p:nvPr/>
        </p:nvSpPr>
        <p:spPr>
          <a:xfrm>
            <a:off x="7281304" y="4403296"/>
            <a:ext cx="864096" cy="4426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PCA 2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4C527C7-98E3-35EC-997A-74F660719553}"/>
              </a:ext>
            </a:extLst>
          </p:cNvPr>
          <p:cNvSpPr/>
          <p:nvPr/>
        </p:nvSpPr>
        <p:spPr>
          <a:xfrm>
            <a:off x="7295605" y="4967582"/>
            <a:ext cx="864096" cy="432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PCA 3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67C57125-9A65-750B-2BB2-0FDCE58C81E3}"/>
              </a:ext>
            </a:extLst>
          </p:cNvPr>
          <p:cNvSpPr/>
          <p:nvPr/>
        </p:nvSpPr>
        <p:spPr>
          <a:xfrm>
            <a:off x="3238412" y="5005381"/>
            <a:ext cx="864096" cy="432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RED</a:t>
            </a:r>
          </a:p>
          <a:p>
            <a:pPr algn="ctr"/>
            <a:r>
              <a:rPr lang="en-US" sz="1050" b="1" dirty="0">
                <a:solidFill>
                  <a:schemeClr val="tx1"/>
                </a:solidFill>
              </a:rPr>
              <a:t> Channel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20051CB-F1C6-07F5-C934-496E50595774}"/>
              </a:ext>
            </a:extLst>
          </p:cNvPr>
          <p:cNvSpPr/>
          <p:nvPr/>
        </p:nvSpPr>
        <p:spPr>
          <a:xfrm>
            <a:off x="3233043" y="4413902"/>
            <a:ext cx="864096" cy="432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Blue </a:t>
            </a:r>
          </a:p>
          <a:p>
            <a:pPr algn="ctr"/>
            <a:r>
              <a:rPr lang="en-US" sz="1050" b="1" dirty="0">
                <a:solidFill>
                  <a:schemeClr val="tx1"/>
                </a:solidFill>
              </a:rPr>
              <a:t>Channel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14398988-24AF-DE5E-B5D0-132F3E05F95B}"/>
              </a:ext>
            </a:extLst>
          </p:cNvPr>
          <p:cNvSpPr/>
          <p:nvPr/>
        </p:nvSpPr>
        <p:spPr>
          <a:xfrm>
            <a:off x="6249986" y="3833848"/>
            <a:ext cx="864096" cy="432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CHROM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3739FB3-EC62-A1EF-34B1-1A1D12050B63}"/>
              </a:ext>
            </a:extLst>
          </p:cNvPr>
          <p:cNvSpPr/>
          <p:nvPr/>
        </p:nvSpPr>
        <p:spPr>
          <a:xfrm>
            <a:off x="5284269" y="4413902"/>
            <a:ext cx="864096" cy="432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POS++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8390737-6E32-615F-DC24-C09B31FB7426}"/>
              </a:ext>
            </a:extLst>
          </p:cNvPr>
          <p:cNvSpPr/>
          <p:nvPr/>
        </p:nvSpPr>
        <p:spPr>
          <a:xfrm>
            <a:off x="6249986" y="4368461"/>
            <a:ext cx="864096" cy="432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CHROM</a:t>
            </a:r>
          </a:p>
          <a:p>
            <a:pPr algn="ctr"/>
            <a:r>
              <a:rPr lang="en-US" sz="1050" b="1" dirty="0">
                <a:solidFill>
                  <a:schemeClr val="tx1"/>
                </a:solidFill>
              </a:rPr>
              <a:t>++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0270DA7-610A-FCD6-192C-ACC43CB4E4FB}"/>
              </a:ext>
            </a:extLst>
          </p:cNvPr>
          <p:cNvSpPr/>
          <p:nvPr/>
        </p:nvSpPr>
        <p:spPr>
          <a:xfrm>
            <a:off x="7282072" y="3855615"/>
            <a:ext cx="864096" cy="432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PCA 1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355BB39-5559-2B05-AD2F-8F2AE6E514F4}"/>
              </a:ext>
            </a:extLst>
          </p:cNvPr>
          <p:cNvSpPr/>
          <p:nvPr/>
        </p:nvSpPr>
        <p:spPr>
          <a:xfrm>
            <a:off x="8352650" y="3850333"/>
            <a:ext cx="864096" cy="432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Kalman </a:t>
            </a:r>
          </a:p>
          <a:p>
            <a:pPr algn="ctr"/>
            <a:r>
              <a:rPr lang="en-US" sz="1050" b="1" dirty="0">
                <a:solidFill>
                  <a:schemeClr val="tx1"/>
                </a:solidFill>
              </a:rPr>
              <a:t>POS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AD9C4AE-BBB8-FB12-E2D6-DF72CA47BF64}"/>
              </a:ext>
            </a:extLst>
          </p:cNvPr>
          <p:cNvSpPr/>
          <p:nvPr/>
        </p:nvSpPr>
        <p:spPr>
          <a:xfrm>
            <a:off x="8352650" y="4413902"/>
            <a:ext cx="864096" cy="432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Kalman</a:t>
            </a:r>
          </a:p>
          <a:p>
            <a:pPr algn="ctr"/>
            <a:r>
              <a:rPr lang="en-US" sz="1050" b="1" dirty="0">
                <a:solidFill>
                  <a:schemeClr val="tx1"/>
                </a:solidFill>
              </a:rPr>
              <a:t> Green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E2B2F04E-C4AF-F712-33D0-AD4C6878D941}"/>
              </a:ext>
            </a:extLst>
          </p:cNvPr>
          <p:cNvSpPr/>
          <p:nvPr/>
        </p:nvSpPr>
        <p:spPr>
          <a:xfrm>
            <a:off x="438814" y="5760618"/>
            <a:ext cx="2001926" cy="6480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31 Peak Detection Methods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AFAF7713-820D-7FCD-E6F3-9EEE28876478}"/>
              </a:ext>
            </a:extLst>
          </p:cNvPr>
          <p:cNvSpPr/>
          <p:nvPr/>
        </p:nvSpPr>
        <p:spPr>
          <a:xfrm>
            <a:off x="4227650" y="3850333"/>
            <a:ext cx="864096" cy="432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ICA 3</a:t>
            </a: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003699BD-D7F8-A333-EA33-BDEF4912B811}"/>
              </a:ext>
            </a:extLst>
          </p:cNvPr>
          <p:cNvCxnSpPr>
            <a:cxnSpLocks/>
            <a:stCxn id="24" idx="2"/>
            <a:endCxn id="145" idx="0"/>
          </p:cNvCxnSpPr>
          <p:nvPr/>
        </p:nvCxnSpPr>
        <p:spPr>
          <a:xfrm>
            <a:off x="6231358" y="3134650"/>
            <a:ext cx="0" cy="587201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: Elbow 152">
            <a:extLst>
              <a:ext uri="{FF2B5EF4-FFF2-40B4-BE49-F238E27FC236}">
                <a16:creationId xmlns:a16="http://schemas.microsoft.com/office/drawing/2014/main" id="{C1726E0C-179B-BBA9-37A1-A907A4285EDC}"/>
              </a:ext>
            </a:extLst>
          </p:cNvPr>
          <p:cNvCxnSpPr>
            <a:stCxn id="145" idx="1"/>
            <a:endCxn id="119" idx="0"/>
          </p:cNvCxnSpPr>
          <p:nvPr/>
        </p:nvCxnSpPr>
        <p:spPr>
          <a:xfrm rot="10800000" flipV="1">
            <a:off x="1439777" y="4647090"/>
            <a:ext cx="1648446" cy="1113527"/>
          </a:xfrm>
          <a:prstGeom prst="bentConnector2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ight Brace 153">
            <a:extLst>
              <a:ext uri="{FF2B5EF4-FFF2-40B4-BE49-F238E27FC236}">
                <a16:creationId xmlns:a16="http://schemas.microsoft.com/office/drawing/2014/main" id="{BC4E4ED9-457B-04ED-65BD-AA6442FAEDBD}"/>
              </a:ext>
            </a:extLst>
          </p:cNvPr>
          <p:cNvSpPr/>
          <p:nvPr/>
        </p:nvSpPr>
        <p:spPr>
          <a:xfrm>
            <a:off x="9438395" y="3656535"/>
            <a:ext cx="313554" cy="191579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ight Brace 155">
            <a:extLst>
              <a:ext uri="{FF2B5EF4-FFF2-40B4-BE49-F238E27FC236}">
                <a16:creationId xmlns:a16="http://schemas.microsoft.com/office/drawing/2014/main" id="{7EF8DC8C-11D4-20D6-8DAC-A1FB5D6CC714}"/>
              </a:ext>
            </a:extLst>
          </p:cNvPr>
          <p:cNvSpPr/>
          <p:nvPr/>
        </p:nvSpPr>
        <p:spPr>
          <a:xfrm>
            <a:off x="9438395" y="5760618"/>
            <a:ext cx="313554" cy="64073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53A27AA3-3C2D-B09E-71E3-2EB5CD0EDA6F}"/>
              </a:ext>
            </a:extLst>
          </p:cNvPr>
          <p:cNvSpPr/>
          <p:nvPr/>
        </p:nvSpPr>
        <p:spPr>
          <a:xfrm>
            <a:off x="438814" y="6831687"/>
            <a:ext cx="2868981" cy="3673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Normal HR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DBB9453B-91E3-BB63-896B-AEC2516E4365}"/>
              </a:ext>
            </a:extLst>
          </p:cNvPr>
          <p:cNvSpPr/>
          <p:nvPr/>
        </p:nvSpPr>
        <p:spPr>
          <a:xfrm>
            <a:off x="3402484" y="6831687"/>
            <a:ext cx="2868981" cy="3673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Z Scored Based HR 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E995D8F0-2707-7527-44AF-7BD5328173F9}"/>
              </a:ext>
            </a:extLst>
          </p:cNvPr>
          <p:cNvSpPr/>
          <p:nvPr/>
        </p:nvSpPr>
        <p:spPr>
          <a:xfrm>
            <a:off x="6427358" y="6835192"/>
            <a:ext cx="2868981" cy="3673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Threshold based HR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5D6DEF52-6D62-9051-BBBF-7F01C08B458D}"/>
              </a:ext>
            </a:extLst>
          </p:cNvPr>
          <p:cNvCxnSpPr>
            <a:cxnSpLocks/>
            <a:stCxn id="119" idx="2"/>
            <a:endCxn id="162" idx="0"/>
          </p:cNvCxnSpPr>
          <p:nvPr/>
        </p:nvCxnSpPr>
        <p:spPr>
          <a:xfrm rot="16200000" flipH="1">
            <a:off x="4437562" y="3410904"/>
            <a:ext cx="426503" cy="6422072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CDC5A5C3-1C5F-A437-CDDF-03DA4DE09614}"/>
              </a:ext>
            </a:extLst>
          </p:cNvPr>
          <p:cNvCxnSpPr>
            <a:cxnSpLocks/>
            <a:stCxn id="119" idx="2"/>
            <a:endCxn id="161" idx="0"/>
          </p:cNvCxnSpPr>
          <p:nvPr/>
        </p:nvCxnSpPr>
        <p:spPr>
          <a:xfrm rot="16200000" flipH="1">
            <a:off x="2926877" y="4921589"/>
            <a:ext cx="422998" cy="3397198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A6F54C9F-8971-21C7-5483-BA39EA3BCE93}"/>
              </a:ext>
            </a:extLst>
          </p:cNvPr>
          <p:cNvCxnSpPr>
            <a:cxnSpLocks/>
            <a:stCxn id="119" idx="2"/>
            <a:endCxn id="160" idx="0"/>
          </p:cNvCxnSpPr>
          <p:nvPr/>
        </p:nvCxnSpPr>
        <p:spPr>
          <a:xfrm rot="16200000" flipH="1">
            <a:off x="1445042" y="6403424"/>
            <a:ext cx="422998" cy="433528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0B82164E-3BF7-7260-A118-3970E33FC019}"/>
              </a:ext>
            </a:extLst>
          </p:cNvPr>
          <p:cNvSpPr/>
          <p:nvPr/>
        </p:nvSpPr>
        <p:spPr>
          <a:xfrm>
            <a:off x="9677905" y="6763311"/>
            <a:ext cx="814518" cy="50405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3 x</a:t>
            </a:r>
          </a:p>
        </p:txBody>
      </p:sp>
      <p:sp>
        <p:nvSpPr>
          <p:cNvPr id="42" name="Right Brace 41">
            <a:extLst>
              <a:ext uri="{FF2B5EF4-FFF2-40B4-BE49-F238E27FC236}">
                <a16:creationId xmlns:a16="http://schemas.microsoft.com/office/drawing/2014/main" id="{53F15EA7-DD6D-738D-6E5E-2C681C9F8A5A}"/>
              </a:ext>
            </a:extLst>
          </p:cNvPr>
          <p:cNvSpPr/>
          <p:nvPr/>
        </p:nvSpPr>
        <p:spPr>
          <a:xfrm>
            <a:off x="9452232" y="6831687"/>
            <a:ext cx="313554" cy="3673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418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Results From Full Dataset + ALL ROI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2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E1E1AC-5CA4-9FB0-EE57-220E8D97AA53}"/>
              </a:ext>
            </a:extLst>
          </p:cNvPr>
          <p:cNvSpPr txBox="1"/>
          <p:nvPr/>
        </p:nvSpPr>
        <p:spPr>
          <a:xfrm>
            <a:off x="0" y="1140644"/>
            <a:ext cx="3363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100 Frames, 3 Sec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0B773B5-7A7E-E4F7-3C23-DA137273A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103018"/>
              </p:ext>
            </p:extLst>
          </p:nvPr>
        </p:nvGraphicFramePr>
        <p:xfrm>
          <a:off x="275039" y="1654153"/>
          <a:ext cx="9883690" cy="5279032"/>
        </p:xfrm>
        <a:graphic>
          <a:graphicData uri="http://schemas.openxmlformats.org/drawingml/2006/table">
            <a:tbl>
              <a:tblPr/>
              <a:tblGrid>
                <a:gridCol w="1976738">
                  <a:extLst>
                    <a:ext uri="{9D8B030D-6E8A-4147-A177-3AD203B41FA5}">
                      <a16:colId xmlns:a16="http://schemas.microsoft.com/office/drawing/2014/main" val="537560543"/>
                    </a:ext>
                  </a:extLst>
                </a:gridCol>
                <a:gridCol w="1976738">
                  <a:extLst>
                    <a:ext uri="{9D8B030D-6E8A-4147-A177-3AD203B41FA5}">
                      <a16:colId xmlns:a16="http://schemas.microsoft.com/office/drawing/2014/main" val="3751371807"/>
                    </a:ext>
                  </a:extLst>
                </a:gridCol>
                <a:gridCol w="1976738">
                  <a:extLst>
                    <a:ext uri="{9D8B030D-6E8A-4147-A177-3AD203B41FA5}">
                      <a16:colId xmlns:a16="http://schemas.microsoft.com/office/drawing/2014/main" val="3203177324"/>
                    </a:ext>
                  </a:extLst>
                </a:gridCol>
                <a:gridCol w="1976738">
                  <a:extLst>
                    <a:ext uri="{9D8B030D-6E8A-4147-A177-3AD203B41FA5}">
                      <a16:colId xmlns:a16="http://schemas.microsoft.com/office/drawing/2014/main" val="615196892"/>
                    </a:ext>
                  </a:extLst>
                </a:gridCol>
                <a:gridCol w="1976738">
                  <a:extLst>
                    <a:ext uri="{9D8B030D-6E8A-4147-A177-3AD203B41FA5}">
                      <a16:colId xmlns:a16="http://schemas.microsoft.com/office/drawing/2014/main" val="483643369"/>
                    </a:ext>
                  </a:extLst>
                </a:gridCol>
              </a:tblGrid>
              <a:tr h="479912">
                <a:tc>
                  <a:txBody>
                    <a:bodyPr/>
                    <a:lstStyle/>
                    <a:p>
                      <a:r>
                        <a:rPr lang="en-US" sz="1200" dirty="0"/>
                        <a:t>Rank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Signal Source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HR Calculation Type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Peak Finding Algorithm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Average MAE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096565"/>
                  </a:ext>
                </a:extLst>
              </a:tr>
              <a:tr h="479912"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Kalman Green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savgol_peak</a:t>
                      </a:r>
                      <a:endParaRPr lang="en-US" sz="1200" dirty="0"/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13.57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48902"/>
                  </a:ext>
                </a:extLst>
              </a:tr>
              <a:tr h="479912">
                <a:tc>
                  <a:txBody>
                    <a:bodyPr/>
                    <a:lstStyle/>
                    <a:p>
                      <a:r>
                        <a:rPr lang="en-US" sz="1200"/>
                        <a:t>2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Green_Channel_Signal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slope_sum_function</a:t>
                      </a:r>
                      <a:endParaRPr lang="en-US" sz="1200" dirty="0"/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14.89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006752"/>
                  </a:ext>
                </a:extLst>
              </a:tr>
              <a:tr h="479912">
                <a:tc>
                  <a:txBody>
                    <a:bodyPr/>
                    <a:lstStyle/>
                    <a:p>
                      <a:r>
                        <a:rPr lang="en-US" sz="1200"/>
                        <a:t>3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Kalman Green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slope_sum_function</a:t>
                      </a:r>
                      <a:endParaRPr lang="en-US" sz="1200" dirty="0"/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14.92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527731"/>
                  </a:ext>
                </a:extLst>
              </a:tr>
              <a:tr h="479912">
                <a:tc>
                  <a:txBody>
                    <a:bodyPr/>
                    <a:lstStyle/>
                    <a:p>
                      <a:r>
                        <a:rPr lang="en-US" sz="1200"/>
                        <a:t>4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Kalman Green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gaussian_smooth_peaks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15.06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6047569"/>
                  </a:ext>
                </a:extLst>
              </a:tr>
              <a:tr h="479912">
                <a:tc>
                  <a:txBody>
                    <a:bodyPr/>
                    <a:lstStyle/>
                    <a:p>
                      <a:r>
                        <a:rPr lang="en-US" sz="1200"/>
                        <a:t>5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Kalman Green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bandpass_local_maxima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15.20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718238"/>
                  </a:ext>
                </a:extLst>
              </a:tr>
              <a:tr h="479912">
                <a:tc>
                  <a:txBody>
                    <a:bodyPr/>
                    <a:lstStyle/>
                    <a:p>
                      <a:r>
                        <a:rPr lang="en-US" sz="1200"/>
                        <a:t>6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Green_Channel_Signal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median_filtered_peaks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16.47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573214"/>
                  </a:ext>
                </a:extLst>
              </a:tr>
              <a:tr h="479912">
                <a:tc>
                  <a:txBody>
                    <a:bodyPr/>
                    <a:lstStyle/>
                    <a:p>
                      <a:r>
                        <a:rPr lang="en-US" sz="1200"/>
                        <a:t>7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Green_Channel_Signal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savgol_peak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16.55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898092"/>
                  </a:ext>
                </a:extLst>
              </a:tr>
              <a:tr h="479912">
                <a:tc>
                  <a:txBody>
                    <a:bodyPr/>
                    <a:lstStyle/>
                    <a:p>
                      <a:r>
                        <a:rPr lang="en-US" sz="1200"/>
                        <a:t>8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Green_Channel_Signal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bandpass_local_maxima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17.69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379985"/>
                  </a:ext>
                </a:extLst>
              </a:tr>
              <a:tr h="479912">
                <a:tc>
                  <a:txBody>
                    <a:bodyPr/>
                    <a:lstStyle/>
                    <a:p>
                      <a:r>
                        <a:rPr lang="en-US" sz="1200"/>
                        <a:t>9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Blue Channel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slope_sum_function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18.81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1662831"/>
                  </a:ext>
                </a:extLst>
              </a:tr>
              <a:tr h="479912">
                <a:tc>
                  <a:txBody>
                    <a:bodyPr/>
                    <a:lstStyle/>
                    <a:p>
                      <a:r>
                        <a:rPr lang="en-US" sz="1200"/>
                        <a:t>10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ICA Component 2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slope_sum_function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19.61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455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5942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Results From Full Dataset + ALL ROI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3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66F6F2-B79F-441A-9710-485F923D2BB4}"/>
              </a:ext>
            </a:extLst>
          </p:cNvPr>
          <p:cNvSpPr txBox="1"/>
          <p:nvPr/>
        </p:nvSpPr>
        <p:spPr>
          <a:xfrm>
            <a:off x="242844" y="972319"/>
            <a:ext cx="3363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300 Frames, 10 Sec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EEFD52-16FB-AF90-BE99-3A3EF3D1A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922045"/>
              </p:ext>
            </p:extLst>
          </p:nvPr>
        </p:nvGraphicFramePr>
        <p:xfrm>
          <a:off x="275040" y="1480952"/>
          <a:ext cx="9883690" cy="5303336"/>
        </p:xfrm>
        <a:graphic>
          <a:graphicData uri="http://schemas.openxmlformats.org/drawingml/2006/table">
            <a:tbl>
              <a:tblPr/>
              <a:tblGrid>
                <a:gridCol w="1976738">
                  <a:extLst>
                    <a:ext uri="{9D8B030D-6E8A-4147-A177-3AD203B41FA5}">
                      <a16:colId xmlns:a16="http://schemas.microsoft.com/office/drawing/2014/main" val="2337914191"/>
                    </a:ext>
                  </a:extLst>
                </a:gridCol>
                <a:gridCol w="1976738">
                  <a:extLst>
                    <a:ext uri="{9D8B030D-6E8A-4147-A177-3AD203B41FA5}">
                      <a16:colId xmlns:a16="http://schemas.microsoft.com/office/drawing/2014/main" val="522747352"/>
                    </a:ext>
                  </a:extLst>
                </a:gridCol>
                <a:gridCol w="1976738">
                  <a:extLst>
                    <a:ext uri="{9D8B030D-6E8A-4147-A177-3AD203B41FA5}">
                      <a16:colId xmlns:a16="http://schemas.microsoft.com/office/drawing/2014/main" val="4180797241"/>
                    </a:ext>
                  </a:extLst>
                </a:gridCol>
                <a:gridCol w="1976738">
                  <a:extLst>
                    <a:ext uri="{9D8B030D-6E8A-4147-A177-3AD203B41FA5}">
                      <a16:colId xmlns:a16="http://schemas.microsoft.com/office/drawing/2014/main" val="716671481"/>
                    </a:ext>
                  </a:extLst>
                </a:gridCol>
                <a:gridCol w="1976738">
                  <a:extLst>
                    <a:ext uri="{9D8B030D-6E8A-4147-A177-3AD203B41FA5}">
                      <a16:colId xmlns:a16="http://schemas.microsoft.com/office/drawing/2014/main" val="1248418199"/>
                    </a:ext>
                  </a:extLst>
                </a:gridCol>
              </a:tblGrid>
              <a:tr h="501889">
                <a:tc>
                  <a:txBody>
                    <a:bodyPr/>
                    <a:lstStyle/>
                    <a:p>
                      <a:r>
                        <a:rPr lang="en-US" sz="1300"/>
                        <a:t>Rank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Signal Source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HR Calculation Type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Peak Finding Algorithm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Average MAE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8325632"/>
                  </a:ext>
                </a:extLst>
              </a:tr>
              <a:tr h="501889">
                <a:tc>
                  <a:txBody>
                    <a:bodyPr/>
                    <a:lstStyle/>
                    <a:p>
                      <a:r>
                        <a:rPr lang="en-US" sz="1300"/>
                        <a:t>1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 err="1"/>
                        <a:t>Green_Channel_Signal</a:t>
                      </a:r>
                      <a:endParaRPr lang="en-US" sz="1300" dirty="0"/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Threshold filtered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 err="1"/>
                        <a:t>fast_ampd</a:t>
                      </a:r>
                      <a:endParaRPr lang="en-US" sz="1300" dirty="0"/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8.60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008321"/>
                  </a:ext>
                </a:extLst>
              </a:tr>
              <a:tr h="501889">
                <a:tc>
                  <a:txBody>
                    <a:bodyPr/>
                    <a:lstStyle/>
                    <a:p>
                      <a:r>
                        <a:rPr lang="en-US" sz="1300"/>
                        <a:t>2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Green_Channel_Signal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Normal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 err="1"/>
                        <a:t>fast_ampd</a:t>
                      </a:r>
                      <a:endParaRPr lang="en-US" sz="1300" dirty="0"/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8.89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746276"/>
                  </a:ext>
                </a:extLst>
              </a:tr>
              <a:tr h="501889">
                <a:tc>
                  <a:txBody>
                    <a:bodyPr/>
                    <a:lstStyle/>
                    <a:p>
                      <a:r>
                        <a:rPr lang="en-US" sz="1300"/>
                        <a:t>3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Green_Channel_Signal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Z-score filtered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fast_ampd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9.24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430517"/>
                  </a:ext>
                </a:extLst>
              </a:tr>
              <a:tr h="501889">
                <a:tc>
                  <a:txBody>
                    <a:bodyPr/>
                    <a:lstStyle/>
                    <a:p>
                      <a:r>
                        <a:rPr lang="en-US" sz="1300"/>
                        <a:t>4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PCA Component 3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Threshold filtered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fast_ampd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9.55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162864"/>
                  </a:ext>
                </a:extLst>
              </a:tr>
              <a:tr h="501889">
                <a:tc>
                  <a:txBody>
                    <a:bodyPr/>
                    <a:lstStyle/>
                    <a:p>
                      <a:r>
                        <a:rPr lang="en-US" sz="1300"/>
                        <a:t>5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Kalman Green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Threshold filtered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fast_ampd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9.62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7122876"/>
                  </a:ext>
                </a:extLst>
              </a:tr>
              <a:tr h="501889">
                <a:tc>
                  <a:txBody>
                    <a:bodyPr/>
                    <a:lstStyle/>
                    <a:p>
                      <a:r>
                        <a:rPr lang="en-US" sz="1300"/>
                        <a:t>6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PCA Component 3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Normal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fast_ampd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9.68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557012"/>
                  </a:ext>
                </a:extLst>
              </a:tr>
              <a:tr h="284446">
                <a:tc>
                  <a:txBody>
                    <a:bodyPr/>
                    <a:lstStyle/>
                    <a:p>
                      <a:r>
                        <a:rPr lang="en-US" sz="1300"/>
                        <a:t>7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Kalman Green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Normal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fast_ampd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9.77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142260"/>
                  </a:ext>
                </a:extLst>
              </a:tr>
              <a:tr h="501889">
                <a:tc>
                  <a:txBody>
                    <a:bodyPr/>
                    <a:lstStyle/>
                    <a:p>
                      <a:r>
                        <a:rPr lang="en-US" sz="1300"/>
                        <a:t>8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Kalman Green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Z-score filtered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fast_ampd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10.00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48414"/>
                  </a:ext>
                </a:extLst>
              </a:tr>
              <a:tr h="501889">
                <a:tc>
                  <a:txBody>
                    <a:bodyPr/>
                    <a:lstStyle/>
                    <a:p>
                      <a:r>
                        <a:rPr lang="en-US" sz="1300"/>
                        <a:t>9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ICA Component 2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Threshold filtered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fast_ampd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10.36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348167"/>
                  </a:ext>
                </a:extLst>
              </a:tr>
              <a:tr h="501889">
                <a:tc>
                  <a:txBody>
                    <a:bodyPr/>
                    <a:lstStyle/>
                    <a:p>
                      <a:r>
                        <a:rPr lang="en-US" sz="1300"/>
                        <a:t>10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ICA Component 2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Normal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fast_ampd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10.94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1658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7092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Results From Full Dataset + Both Cheeks ROI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4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E1E1AC-5CA4-9FB0-EE57-220E8D97AA53}"/>
              </a:ext>
            </a:extLst>
          </p:cNvPr>
          <p:cNvSpPr txBox="1"/>
          <p:nvPr/>
        </p:nvSpPr>
        <p:spPr>
          <a:xfrm>
            <a:off x="260364" y="972319"/>
            <a:ext cx="3363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100 Frames, 3 Sec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CD57B17-31C0-4959-A8E6-ACC45CC832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43932"/>
              </p:ext>
            </p:extLst>
          </p:nvPr>
        </p:nvGraphicFramePr>
        <p:xfrm>
          <a:off x="275040" y="1480952"/>
          <a:ext cx="9883690" cy="5329423"/>
        </p:xfrm>
        <a:graphic>
          <a:graphicData uri="http://schemas.openxmlformats.org/drawingml/2006/table">
            <a:tbl>
              <a:tblPr/>
              <a:tblGrid>
                <a:gridCol w="1976738">
                  <a:extLst>
                    <a:ext uri="{9D8B030D-6E8A-4147-A177-3AD203B41FA5}">
                      <a16:colId xmlns:a16="http://schemas.microsoft.com/office/drawing/2014/main" val="213549547"/>
                    </a:ext>
                  </a:extLst>
                </a:gridCol>
                <a:gridCol w="1976738">
                  <a:extLst>
                    <a:ext uri="{9D8B030D-6E8A-4147-A177-3AD203B41FA5}">
                      <a16:colId xmlns:a16="http://schemas.microsoft.com/office/drawing/2014/main" val="2582420472"/>
                    </a:ext>
                  </a:extLst>
                </a:gridCol>
                <a:gridCol w="1976738">
                  <a:extLst>
                    <a:ext uri="{9D8B030D-6E8A-4147-A177-3AD203B41FA5}">
                      <a16:colId xmlns:a16="http://schemas.microsoft.com/office/drawing/2014/main" val="2512597125"/>
                    </a:ext>
                  </a:extLst>
                </a:gridCol>
                <a:gridCol w="1976738">
                  <a:extLst>
                    <a:ext uri="{9D8B030D-6E8A-4147-A177-3AD203B41FA5}">
                      <a16:colId xmlns:a16="http://schemas.microsoft.com/office/drawing/2014/main" val="1055804974"/>
                    </a:ext>
                  </a:extLst>
                </a:gridCol>
                <a:gridCol w="1976738">
                  <a:extLst>
                    <a:ext uri="{9D8B030D-6E8A-4147-A177-3AD203B41FA5}">
                      <a16:colId xmlns:a16="http://schemas.microsoft.com/office/drawing/2014/main" val="652624520"/>
                    </a:ext>
                  </a:extLst>
                </a:gridCol>
              </a:tblGrid>
              <a:tr h="484493">
                <a:tc>
                  <a:txBody>
                    <a:bodyPr/>
                    <a:lstStyle/>
                    <a:p>
                      <a:r>
                        <a:rPr lang="en-US" sz="1200"/>
                        <a:t>Rank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Signal Source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HR Calculation Type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Peak Finding Algorithm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Average MAE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407928"/>
                  </a:ext>
                </a:extLst>
              </a:tr>
              <a:tr h="484493"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Kalman Green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savgol_peak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13.57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400396"/>
                  </a:ext>
                </a:extLst>
              </a:tr>
              <a:tr h="484493">
                <a:tc>
                  <a:txBody>
                    <a:bodyPr/>
                    <a:lstStyle/>
                    <a:p>
                      <a:r>
                        <a:rPr lang="en-US" sz="1200"/>
                        <a:t>2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Green_Channel_Signal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slope_sum_function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14.89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867033"/>
                  </a:ext>
                </a:extLst>
              </a:tr>
              <a:tr h="484493">
                <a:tc>
                  <a:txBody>
                    <a:bodyPr/>
                    <a:lstStyle/>
                    <a:p>
                      <a:r>
                        <a:rPr lang="en-US" sz="1200"/>
                        <a:t>3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Kalman Green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slope_sum_function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14.92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756350"/>
                  </a:ext>
                </a:extLst>
              </a:tr>
              <a:tr h="484493">
                <a:tc>
                  <a:txBody>
                    <a:bodyPr/>
                    <a:lstStyle/>
                    <a:p>
                      <a:r>
                        <a:rPr lang="en-US" sz="1200"/>
                        <a:t>4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Kalman Green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gaussian_smooth_peaks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15.06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021031"/>
                  </a:ext>
                </a:extLst>
              </a:tr>
              <a:tr h="484493">
                <a:tc>
                  <a:txBody>
                    <a:bodyPr/>
                    <a:lstStyle/>
                    <a:p>
                      <a:r>
                        <a:rPr lang="en-US" sz="1200"/>
                        <a:t>5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Kalman Green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bandpass_local_maxima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15.20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432322"/>
                  </a:ext>
                </a:extLst>
              </a:tr>
              <a:tr h="484493">
                <a:tc>
                  <a:txBody>
                    <a:bodyPr/>
                    <a:lstStyle/>
                    <a:p>
                      <a:r>
                        <a:rPr lang="en-US" sz="1200"/>
                        <a:t>6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Green_Channel_Signal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median_filtered_peaks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16.47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59077"/>
                  </a:ext>
                </a:extLst>
              </a:tr>
              <a:tr h="484493">
                <a:tc>
                  <a:txBody>
                    <a:bodyPr/>
                    <a:lstStyle/>
                    <a:p>
                      <a:r>
                        <a:rPr lang="en-US" sz="1200"/>
                        <a:t>7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Green_Channel_Signal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savgol_peak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16.55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776888"/>
                  </a:ext>
                </a:extLst>
              </a:tr>
              <a:tr h="484493">
                <a:tc>
                  <a:txBody>
                    <a:bodyPr/>
                    <a:lstStyle/>
                    <a:p>
                      <a:r>
                        <a:rPr lang="en-US" sz="1200"/>
                        <a:t>8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Green_Channel_Signal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bandpass_local_maxima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17.69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0074488"/>
                  </a:ext>
                </a:extLst>
              </a:tr>
              <a:tr h="484493">
                <a:tc>
                  <a:txBody>
                    <a:bodyPr/>
                    <a:lstStyle/>
                    <a:p>
                      <a:r>
                        <a:rPr lang="en-US" sz="1200"/>
                        <a:t>9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Blue Channel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slope_sum_function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18.81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563286"/>
                  </a:ext>
                </a:extLst>
              </a:tr>
              <a:tr h="484493">
                <a:tc>
                  <a:txBody>
                    <a:bodyPr/>
                    <a:lstStyle/>
                    <a:p>
                      <a:r>
                        <a:rPr lang="en-US" sz="1200"/>
                        <a:t>10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ICA Component 2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slope_sum_function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19.61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8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6048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Results From Full Dataset + Both Cheeks ROI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66F6F2-B79F-441A-9710-485F923D2BB4}"/>
              </a:ext>
            </a:extLst>
          </p:cNvPr>
          <p:cNvSpPr txBox="1"/>
          <p:nvPr/>
        </p:nvSpPr>
        <p:spPr>
          <a:xfrm>
            <a:off x="275040" y="972319"/>
            <a:ext cx="3363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300 Frames, 10 Sec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F32B931-8E6C-6FE5-FF62-BEAA7D8C4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430189"/>
              </p:ext>
            </p:extLst>
          </p:nvPr>
        </p:nvGraphicFramePr>
        <p:xfrm>
          <a:off x="275040" y="1620391"/>
          <a:ext cx="9883690" cy="5183371"/>
        </p:xfrm>
        <a:graphic>
          <a:graphicData uri="http://schemas.openxmlformats.org/drawingml/2006/table">
            <a:tbl>
              <a:tblPr/>
              <a:tblGrid>
                <a:gridCol w="1976738">
                  <a:extLst>
                    <a:ext uri="{9D8B030D-6E8A-4147-A177-3AD203B41FA5}">
                      <a16:colId xmlns:a16="http://schemas.microsoft.com/office/drawing/2014/main" val="1103115268"/>
                    </a:ext>
                  </a:extLst>
                </a:gridCol>
                <a:gridCol w="1976738">
                  <a:extLst>
                    <a:ext uri="{9D8B030D-6E8A-4147-A177-3AD203B41FA5}">
                      <a16:colId xmlns:a16="http://schemas.microsoft.com/office/drawing/2014/main" val="615832925"/>
                    </a:ext>
                  </a:extLst>
                </a:gridCol>
                <a:gridCol w="1976738">
                  <a:extLst>
                    <a:ext uri="{9D8B030D-6E8A-4147-A177-3AD203B41FA5}">
                      <a16:colId xmlns:a16="http://schemas.microsoft.com/office/drawing/2014/main" val="1914609975"/>
                    </a:ext>
                  </a:extLst>
                </a:gridCol>
                <a:gridCol w="1976738">
                  <a:extLst>
                    <a:ext uri="{9D8B030D-6E8A-4147-A177-3AD203B41FA5}">
                      <a16:colId xmlns:a16="http://schemas.microsoft.com/office/drawing/2014/main" val="1099142944"/>
                    </a:ext>
                  </a:extLst>
                </a:gridCol>
                <a:gridCol w="1976738">
                  <a:extLst>
                    <a:ext uri="{9D8B030D-6E8A-4147-A177-3AD203B41FA5}">
                      <a16:colId xmlns:a16="http://schemas.microsoft.com/office/drawing/2014/main" val="2265205269"/>
                    </a:ext>
                  </a:extLst>
                </a:gridCol>
              </a:tblGrid>
              <a:tr h="490536">
                <a:tc>
                  <a:txBody>
                    <a:bodyPr/>
                    <a:lstStyle/>
                    <a:p>
                      <a:r>
                        <a:rPr lang="en-US" sz="1300"/>
                        <a:t>Rank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Signal Source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HR Calculation Type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Peak Finding Algorithm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Average MAE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602644"/>
                  </a:ext>
                </a:extLst>
              </a:tr>
              <a:tr h="490536">
                <a:tc>
                  <a:txBody>
                    <a:bodyPr/>
                    <a:lstStyle/>
                    <a:p>
                      <a:r>
                        <a:rPr lang="en-US" sz="1300"/>
                        <a:t>1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Green_Channel_Signal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Threshold filtered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fast_ampd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9.66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728788"/>
                  </a:ext>
                </a:extLst>
              </a:tr>
              <a:tr h="490536">
                <a:tc>
                  <a:txBody>
                    <a:bodyPr/>
                    <a:lstStyle/>
                    <a:p>
                      <a:r>
                        <a:rPr lang="en-US" sz="1300"/>
                        <a:t>2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ICA Component 1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Threshold filtered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fast_ampd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9.86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990706"/>
                  </a:ext>
                </a:extLst>
              </a:tr>
              <a:tr h="490536">
                <a:tc>
                  <a:txBody>
                    <a:bodyPr/>
                    <a:lstStyle/>
                    <a:p>
                      <a:r>
                        <a:rPr lang="en-US" sz="1300"/>
                        <a:t>3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Kalman Green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Threshold filtered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fast_ampd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9.87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092216"/>
                  </a:ext>
                </a:extLst>
              </a:tr>
              <a:tr h="490536">
                <a:tc>
                  <a:txBody>
                    <a:bodyPr/>
                    <a:lstStyle/>
                    <a:p>
                      <a:r>
                        <a:rPr lang="en-US" sz="1300"/>
                        <a:t>4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ICA Component 1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Z-score filtered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fast_ampd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9.93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058609"/>
                  </a:ext>
                </a:extLst>
              </a:tr>
              <a:tr h="490536">
                <a:tc>
                  <a:txBody>
                    <a:bodyPr/>
                    <a:lstStyle/>
                    <a:p>
                      <a:r>
                        <a:rPr lang="en-US" sz="1300"/>
                        <a:t>5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Green_Channel_Signal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Normal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fast_ampd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10.00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285884"/>
                  </a:ext>
                </a:extLst>
              </a:tr>
              <a:tr h="490536">
                <a:tc>
                  <a:txBody>
                    <a:bodyPr/>
                    <a:lstStyle/>
                    <a:p>
                      <a:r>
                        <a:rPr lang="en-US" sz="1300"/>
                        <a:t>6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Kalman Green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Threshold filtered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median_filtered_peaks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10.02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51889"/>
                  </a:ext>
                </a:extLst>
              </a:tr>
              <a:tr h="490536">
                <a:tc>
                  <a:txBody>
                    <a:bodyPr/>
                    <a:lstStyle/>
                    <a:p>
                      <a:r>
                        <a:rPr lang="en-US" sz="1300"/>
                        <a:t>7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Kalman Green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Threshold filtered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sliding_window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10.08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978274"/>
                  </a:ext>
                </a:extLst>
              </a:tr>
              <a:tr h="490536">
                <a:tc>
                  <a:txBody>
                    <a:bodyPr/>
                    <a:lstStyle/>
                    <a:p>
                      <a:r>
                        <a:rPr lang="en-US" sz="1300"/>
                        <a:t>8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Green_Channel_Signal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Z-score filtered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fast_ampd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10.25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372641"/>
                  </a:ext>
                </a:extLst>
              </a:tr>
              <a:tr h="278011">
                <a:tc>
                  <a:txBody>
                    <a:bodyPr/>
                    <a:lstStyle/>
                    <a:p>
                      <a:r>
                        <a:rPr lang="en-US" sz="1300"/>
                        <a:t>9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Kalman Green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Normal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fast_ampd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10.27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952284"/>
                  </a:ext>
                </a:extLst>
              </a:tr>
              <a:tr h="490536">
                <a:tc>
                  <a:txBody>
                    <a:bodyPr/>
                    <a:lstStyle/>
                    <a:p>
                      <a:r>
                        <a:rPr lang="en-US" sz="1300"/>
                        <a:t>10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Kalman Green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Z-score filtered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fast_ampd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10.50</a:t>
                      </a:r>
                    </a:p>
                  </a:txBody>
                  <a:tcPr marL="59227" marR="59227" marT="29614" marB="29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075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1871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Results From Full Dataset + </a:t>
            </a:r>
            <a:r>
              <a:rPr lang="en-US" altLang="ko-KR" sz="3000" dirty="0" err="1">
                <a:latin typeface="Caladea"/>
                <a:ea typeface="HY견고딕" pitchFamily="18" charset="-127"/>
              </a:rPr>
              <a:t>ForeHead</a:t>
            </a:r>
            <a:r>
              <a:rPr lang="en-US" altLang="ko-KR" sz="3000" dirty="0">
                <a:latin typeface="Caladea"/>
                <a:ea typeface="HY견고딕" pitchFamily="18" charset="-127"/>
              </a:rPr>
              <a:t> ROI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E1E1AC-5CA4-9FB0-EE57-220E8D97AA53}"/>
              </a:ext>
            </a:extLst>
          </p:cNvPr>
          <p:cNvSpPr txBox="1"/>
          <p:nvPr/>
        </p:nvSpPr>
        <p:spPr>
          <a:xfrm>
            <a:off x="162124" y="945074"/>
            <a:ext cx="3363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100 Frames, 3 Sec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2810B8E-F402-D72C-783E-53CD63234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980164"/>
              </p:ext>
            </p:extLst>
          </p:nvPr>
        </p:nvGraphicFramePr>
        <p:xfrm>
          <a:off x="275040" y="1426462"/>
          <a:ext cx="9883690" cy="5383917"/>
        </p:xfrm>
        <a:graphic>
          <a:graphicData uri="http://schemas.openxmlformats.org/drawingml/2006/table">
            <a:tbl>
              <a:tblPr/>
              <a:tblGrid>
                <a:gridCol w="1976738">
                  <a:extLst>
                    <a:ext uri="{9D8B030D-6E8A-4147-A177-3AD203B41FA5}">
                      <a16:colId xmlns:a16="http://schemas.microsoft.com/office/drawing/2014/main" val="3171382739"/>
                    </a:ext>
                  </a:extLst>
                </a:gridCol>
                <a:gridCol w="1976738">
                  <a:extLst>
                    <a:ext uri="{9D8B030D-6E8A-4147-A177-3AD203B41FA5}">
                      <a16:colId xmlns:a16="http://schemas.microsoft.com/office/drawing/2014/main" val="2357054430"/>
                    </a:ext>
                  </a:extLst>
                </a:gridCol>
                <a:gridCol w="1976738">
                  <a:extLst>
                    <a:ext uri="{9D8B030D-6E8A-4147-A177-3AD203B41FA5}">
                      <a16:colId xmlns:a16="http://schemas.microsoft.com/office/drawing/2014/main" val="2928795697"/>
                    </a:ext>
                  </a:extLst>
                </a:gridCol>
                <a:gridCol w="1976738">
                  <a:extLst>
                    <a:ext uri="{9D8B030D-6E8A-4147-A177-3AD203B41FA5}">
                      <a16:colId xmlns:a16="http://schemas.microsoft.com/office/drawing/2014/main" val="1155109124"/>
                    </a:ext>
                  </a:extLst>
                </a:gridCol>
                <a:gridCol w="1976738">
                  <a:extLst>
                    <a:ext uri="{9D8B030D-6E8A-4147-A177-3AD203B41FA5}">
                      <a16:colId xmlns:a16="http://schemas.microsoft.com/office/drawing/2014/main" val="2915320589"/>
                    </a:ext>
                  </a:extLst>
                </a:gridCol>
              </a:tblGrid>
              <a:tr h="489447">
                <a:tc>
                  <a:txBody>
                    <a:bodyPr/>
                    <a:lstStyle/>
                    <a:p>
                      <a:r>
                        <a:rPr lang="en-US" sz="1200"/>
                        <a:t>Rank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Signal Source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HR Calculation Type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Peak Finding Algorithm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Average MAE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805602"/>
                  </a:ext>
                </a:extLst>
              </a:tr>
              <a:tr h="489447"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Kalman Green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slope_sum_function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19.87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828064"/>
                  </a:ext>
                </a:extLst>
              </a:tr>
              <a:tr h="489447">
                <a:tc>
                  <a:txBody>
                    <a:bodyPr/>
                    <a:lstStyle/>
                    <a:p>
                      <a:r>
                        <a:rPr lang="en-US" sz="1200"/>
                        <a:t>2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ICA Component 2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median_filtered_peaks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21.14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371035"/>
                  </a:ext>
                </a:extLst>
              </a:tr>
              <a:tr h="489447">
                <a:tc>
                  <a:txBody>
                    <a:bodyPr/>
                    <a:lstStyle/>
                    <a:p>
                      <a:r>
                        <a:rPr lang="en-US" sz="1200"/>
                        <a:t>3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PCA Component 2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median_filtered_peaks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21.47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614874"/>
                  </a:ext>
                </a:extLst>
              </a:tr>
              <a:tr h="489447">
                <a:tc>
                  <a:txBody>
                    <a:bodyPr/>
                    <a:lstStyle/>
                    <a:p>
                      <a:r>
                        <a:rPr lang="en-US" sz="1200"/>
                        <a:t>4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PCA Component 3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median_filtered_peaks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21.83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735013"/>
                  </a:ext>
                </a:extLst>
              </a:tr>
              <a:tr h="489447">
                <a:tc>
                  <a:txBody>
                    <a:bodyPr/>
                    <a:lstStyle/>
                    <a:p>
                      <a:r>
                        <a:rPr lang="en-US" sz="1200"/>
                        <a:t>5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Green_Channel_Signal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slope_sum_function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21.56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253488"/>
                  </a:ext>
                </a:extLst>
              </a:tr>
              <a:tr h="489447">
                <a:tc>
                  <a:txBody>
                    <a:bodyPr/>
                    <a:lstStyle/>
                    <a:p>
                      <a:r>
                        <a:rPr lang="en-US" sz="1200"/>
                        <a:t>6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PCA Component 2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bandpass_local_maxima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22.04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296882"/>
                  </a:ext>
                </a:extLst>
              </a:tr>
              <a:tr h="489447">
                <a:tc>
                  <a:txBody>
                    <a:bodyPr/>
                    <a:lstStyle/>
                    <a:p>
                      <a:r>
                        <a:rPr lang="en-US" sz="1200"/>
                        <a:t>7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PCA Component 3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sliding_window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22.15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354516"/>
                  </a:ext>
                </a:extLst>
              </a:tr>
              <a:tr h="489447">
                <a:tc>
                  <a:txBody>
                    <a:bodyPr/>
                    <a:lstStyle/>
                    <a:p>
                      <a:r>
                        <a:rPr lang="en-US" sz="1200"/>
                        <a:t>8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Green_Channel_Signal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bandpass_local_maxima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22.60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663292"/>
                  </a:ext>
                </a:extLst>
              </a:tr>
              <a:tr h="489447">
                <a:tc>
                  <a:txBody>
                    <a:bodyPr/>
                    <a:lstStyle/>
                    <a:p>
                      <a:r>
                        <a:rPr lang="en-US" sz="1200"/>
                        <a:t>9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Green_Channel_Signal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savgol_peak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22.99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035567"/>
                  </a:ext>
                </a:extLst>
              </a:tr>
              <a:tr h="489447">
                <a:tc>
                  <a:txBody>
                    <a:bodyPr/>
                    <a:lstStyle/>
                    <a:p>
                      <a:r>
                        <a:rPr lang="en-US" sz="1200"/>
                        <a:t>10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ICA Component 2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slope_sum_function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23.05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145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7185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Results From Full Dataset + </a:t>
            </a:r>
            <a:r>
              <a:rPr lang="en-US" altLang="ko-KR" sz="3000" dirty="0" err="1">
                <a:latin typeface="Caladea"/>
                <a:ea typeface="HY견고딕" pitchFamily="18" charset="-127"/>
              </a:rPr>
              <a:t>ForeHead</a:t>
            </a:r>
            <a:r>
              <a:rPr lang="en-US" altLang="ko-KR" sz="3000" dirty="0">
                <a:latin typeface="Caladea"/>
                <a:ea typeface="HY견고딕" pitchFamily="18" charset="-127"/>
              </a:rPr>
              <a:t> ROI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7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66F6F2-B79F-441A-9710-485F923D2BB4}"/>
              </a:ext>
            </a:extLst>
          </p:cNvPr>
          <p:cNvSpPr txBox="1"/>
          <p:nvPr/>
        </p:nvSpPr>
        <p:spPr>
          <a:xfrm>
            <a:off x="291972" y="972319"/>
            <a:ext cx="3363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300 Frames, 10 Sec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A927E5-A8A2-C24D-B311-F998DC69B6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286246"/>
              </p:ext>
            </p:extLst>
          </p:nvPr>
        </p:nvGraphicFramePr>
        <p:xfrm>
          <a:off x="291972" y="1480952"/>
          <a:ext cx="9866755" cy="5329423"/>
        </p:xfrm>
        <a:graphic>
          <a:graphicData uri="http://schemas.openxmlformats.org/drawingml/2006/table">
            <a:tbl>
              <a:tblPr/>
              <a:tblGrid>
                <a:gridCol w="1973351">
                  <a:extLst>
                    <a:ext uri="{9D8B030D-6E8A-4147-A177-3AD203B41FA5}">
                      <a16:colId xmlns:a16="http://schemas.microsoft.com/office/drawing/2014/main" val="2827868381"/>
                    </a:ext>
                  </a:extLst>
                </a:gridCol>
                <a:gridCol w="1973351">
                  <a:extLst>
                    <a:ext uri="{9D8B030D-6E8A-4147-A177-3AD203B41FA5}">
                      <a16:colId xmlns:a16="http://schemas.microsoft.com/office/drawing/2014/main" val="1125515480"/>
                    </a:ext>
                  </a:extLst>
                </a:gridCol>
                <a:gridCol w="1973351">
                  <a:extLst>
                    <a:ext uri="{9D8B030D-6E8A-4147-A177-3AD203B41FA5}">
                      <a16:colId xmlns:a16="http://schemas.microsoft.com/office/drawing/2014/main" val="3857475193"/>
                    </a:ext>
                  </a:extLst>
                </a:gridCol>
                <a:gridCol w="1973351">
                  <a:extLst>
                    <a:ext uri="{9D8B030D-6E8A-4147-A177-3AD203B41FA5}">
                      <a16:colId xmlns:a16="http://schemas.microsoft.com/office/drawing/2014/main" val="2897746997"/>
                    </a:ext>
                  </a:extLst>
                </a:gridCol>
                <a:gridCol w="1973351">
                  <a:extLst>
                    <a:ext uri="{9D8B030D-6E8A-4147-A177-3AD203B41FA5}">
                      <a16:colId xmlns:a16="http://schemas.microsoft.com/office/drawing/2014/main" val="2572565211"/>
                    </a:ext>
                  </a:extLst>
                </a:gridCol>
              </a:tblGrid>
              <a:tr h="484493">
                <a:tc>
                  <a:txBody>
                    <a:bodyPr/>
                    <a:lstStyle/>
                    <a:p>
                      <a:r>
                        <a:rPr lang="en-US" sz="1200"/>
                        <a:t>Rank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Signal Source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HR Calculation Type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Peak Finding Algorithm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Average MAE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510356"/>
                  </a:ext>
                </a:extLst>
              </a:tr>
              <a:tr h="484493"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PCA Component 3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fast_ampd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10.51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3728055"/>
                  </a:ext>
                </a:extLst>
              </a:tr>
              <a:tr h="484493">
                <a:tc>
                  <a:txBody>
                    <a:bodyPr/>
                    <a:lstStyle/>
                    <a:p>
                      <a:r>
                        <a:rPr lang="en-US" sz="1200"/>
                        <a:t>2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ICA Component 1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Normal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fast_ampd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10.53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064317"/>
                  </a:ext>
                </a:extLst>
              </a:tr>
              <a:tr h="484493">
                <a:tc>
                  <a:txBody>
                    <a:bodyPr/>
                    <a:lstStyle/>
                    <a:p>
                      <a:r>
                        <a:rPr lang="en-US" sz="1200"/>
                        <a:t>3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PCA Component 3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Normal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fast_ampd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10.56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327656"/>
                  </a:ext>
                </a:extLst>
              </a:tr>
              <a:tr h="484493">
                <a:tc>
                  <a:txBody>
                    <a:bodyPr/>
                    <a:lstStyle/>
                    <a:p>
                      <a:r>
                        <a:rPr lang="en-US" sz="1200"/>
                        <a:t>4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ICA Component 1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fast_ampd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10.60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6471507"/>
                  </a:ext>
                </a:extLst>
              </a:tr>
              <a:tr h="484493">
                <a:tc>
                  <a:txBody>
                    <a:bodyPr/>
                    <a:lstStyle/>
                    <a:p>
                      <a:r>
                        <a:rPr lang="en-US" sz="1200"/>
                        <a:t>5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PCA Component 3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Z-score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fast_ampd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10.76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4777486"/>
                  </a:ext>
                </a:extLst>
              </a:tr>
              <a:tr h="484493">
                <a:tc>
                  <a:txBody>
                    <a:bodyPr/>
                    <a:lstStyle/>
                    <a:p>
                      <a:r>
                        <a:rPr lang="en-US" sz="1200"/>
                        <a:t>6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ICA Component 1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Z-score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fast_ampd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10.82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3528900"/>
                  </a:ext>
                </a:extLst>
              </a:tr>
              <a:tr h="484493">
                <a:tc>
                  <a:txBody>
                    <a:bodyPr/>
                    <a:lstStyle/>
                    <a:p>
                      <a:r>
                        <a:rPr lang="en-US" sz="1200"/>
                        <a:t>7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ICA Component 2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fast_ampd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11.92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584559"/>
                  </a:ext>
                </a:extLst>
              </a:tr>
              <a:tr h="484493">
                <a:tc>
                  <a:txBody>
                    <a:bodyPr/>
                    <a:lstStyle/>
                    <a:p>
                      <a:r>
                        <a:rPr lang="en-US" sz="1200"/>
                        <a:t>8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Green_Channel_Signal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fast_ampd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12.00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5160440"/>
                  </a:ext>
                </a:extLst>
              </a:tr>
              <a:tr h="484493">
                <a:tc>
                  <a:txBody>
                    <a:bodyPr/>
                    <a:lstStyle/>
                    <a:p>
                      <a:r>
                        <a:rPr lang="en-US" sz="1200"/>
                        <a:t>9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PCA Component 2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Threshold filtered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fast_ampd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12.01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617062"/>
                  </a:ext>
                </a:extLst>
              </a:tr>
              <a:tr h="484493">
                <a:tc>
                  <a:txBody>
                    <a:bodyPr/>
                    <a:lstStyle/>
                    <a:p>
                      <a:r>
                        <a:rPr lang="en-US" sz="1200"/>
                        <a:t>10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PCA Component 2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Normal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fast_ampd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12.14</a:t>
                      </a:r>
                    </a:p>
                  </a:txBody>
                  <a:tcPr marL="56886" marR="56886" marT="28443" marB="28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532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2253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306140" y="159153"/>
            <a:ext cx="8568952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All ROI + 300 Frames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pic>
        <p:nvPicPr>
          <p:cNvPr id="10" name="Picture 9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81141551-5D5A-02FA-C3AE-EFA7E8546B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2" y="972319"/>
            <a:ext cx="10693400" cy="45828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C658D74-7CFA-B0B9-CE27-6CDB3EE807D6}"/>
              </a:ext>
            </a:extLst>
          </p:cNvPr>
          <p:cNvSpPr txBox="1"/>
          <p:nvPr/>
        </p:nvSpPr>
        <p:spPr>
          <a:xfrm>
            <a:off x="450156" y="5555205"/>
            <a:ext cx="54717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AVG MAE: 8.60</a:t>
            </a:r>
          </a:p>
        </p:txBody>
      </p:sp>
    </p:spTree>
    <p:extLst>
      <p:ext uri="{BB962C8B-B14F-4D97-AF65-F5344CB8AC3E}">
        <p14:creationId xmlns:p14="http://schemas.microsoft.com/office/powerpoint/2010/main" val="646669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306140" y="159153"/>
            <a:ext cx="8568952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All ROI + 300 Frames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C658D74-7CFA-B0B9-CE27-6CDB3EE807D6}"/>
              </a:ext>
            </a:extLst>
          </p:cNvPr>
          <p:cNvSpPr txBox="1"/>
          <p:nvPr/>
        </p:nvSpPr>
        <p:spPr>
          <a:xfrm>
            <a:off x="450156" y="5555205"/>
            <a:ext cx="54717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AVG MAE: 9.55</a:t>
            </a:r>
          </a:p>
        </p:txBody>
      </p:sp>
      <p:pic>
        <p:nvPicPr>
          <p:cNvPr id="4" name="Picture 3" descr="A graph of a number of red and green bars&#10;&#10;AI-generated content may be incorrect.">
            <a:extLst>
              <a:ext uri="{FF2B5EF4-FFF2-40B4-BE49-F238E27FC236}">
                <a16:creationId xmlns:a16="http://schemas.microsoft.com/office/drawing/2014/main" id="{3DF7580E-EBC5-5686-EB66-ED04982286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378" y="1044327"/>
            <a:ext cx="10693400" cy="458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31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306140" y="159153"/>
            <a:ext cx="8568952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All ROI + 300 Frames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C658D74-7CFA-B0B9-CE27-6CDB3EE807D6}"/>
              </a:ext>
            </a:extLst>
          </p:cNvPr>
          <p:cNvSpPr txBox="1"/>
          <p:nvPr/>
        </p:nvSpPr>
        <p:spPr>
          <a:xfrm>
            <a:off x="450156" y="5555205"/>
            <a:ext cx="54717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AVG MAE: 9.62</a:t>
            </a:r>
          </a:p>
        </p:txBody>
      </p:sp>
      <p:pic>
        <p:nvPicPr>
          <p:cNvPr id="4" name="Picture 3" descr="A graph with red and green bars&#10;&#10;AI-generated content may be incorrect.">
            <a:extLst>
              <a:ext uri="{FF2B5EF4-FFF2-40B4-BE49-F238E27FC236}">
                <a16:creationId xmlns:a16="http://schemas.microsoft.com/office/drawing/2014/main" id="{EE63B039-5AE4-5A78-7247-C9CF9EA212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" y="972319"/>
            <a:ext cx="10693400" cy="458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070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306140" y="159153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Window Wise Comparison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FAA180-3A87-480D-0449-7D0BBF59E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00511"/>
            <a:ext cx="10693400" cy="35189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8D91D7D-E37A-36DA-21E1-403FFF35C307}"/>
              </a:ext>
            </a:extLst>
          </p:cNvPr>
          <p:cNvSpPr txBox="1"/>
          <p:nvPr/>
        </p:nvSpPr>
        <p:spPr>
          <a:xfrm>
            <a:off x="162124" y="972319"/>
            <a:ext cx="626469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Peak Detection Algorithm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: </a:t>
            </a:r>
            <a:r>
              <a:rPr lang="en-US" b="0" i="0" dirty="0" err="1">
                <a:effectLst/>
                <a:latin typeface="Consolas" panose="020B0609020204030204" pitchFamily="49" charset="0"/>
              </a:rPr>
              <a:t>fast_ampd</a:t>
            </a:r>
            <a:endParaRPr lang="en-US" b="0" i="0" dirty="0">
              <a:effectLst/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Signal Channel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: Green</a:t>
            </a:r>
          </a:p>
          <a:p>
            <a:r>
              <a:rPr lang="en-US" b="0" i="0" dirty="0" err="1">
                <a:effectLst/>
                <a:latin typeface="Consolas" panose="020B0609020204030204" pitchFamily="49" charset="0"/>
              </a:rPr>
              <a:t>roi_mode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 = "forehead"</a:t>
            </a:r>
          </a:p>
          <a:p>
            <a:r>
              <a:rPr lang="en-US" dirty="0">
                <a:latin typeface="Consolas" panose="020B0609020204030204" pitchFamily="49" charset="0"/>
              </a:rPr>
              <a:t>Subject: 1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F98C1B-0BD1-40B0-3120-615C35BC690F}"/>
              </a:ext>
            </a:extLst>
          </p:cNvPr>
          <p:cNvSpPr txBox="1"/>
          <p:nvPr/>
        </p:nvSpPr>
        <p:spPr>
          <a:xfrm>
            <a:off x="162124" y="6586716"/>
            <a:ext cx="62646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effectLst/>
                <a:latin typeface="Consolas" panose="020B0609020204030204" pitchFamily="49" charset="0"/>
              </a:rPr>
              <a:t>gt_hr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: 98.22667</a:t>
            </a:r>
          </a:p>
          <a:p>
            <a:r>
              <a:rPr lang="en-US" b="0" i="0" dirty="0" err="1">
                <a:effectLst/>
                <a:latin typeface="Consolas" panose="020B0609020204030204" pitchFamily="49" charset="0"/>
              </a:rPr>
              <a:t>est_hr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: 101.40845070422534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02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306140" y="159153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Window Wise Comparison For Subject 1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8D91D7D-E37A-36DA-21E1-403FFF35C307}"/>
              </a:ext>
            </a:extLst>
          </p:cNvPr>
          <p:cNvSpPr txBox="1"/>
          <p:nvPr/>
        </p:nvSpPr>
        <p:spPr>
          <a:xfrm>
            <a:off x="90116" y="6326937"/>
            <a:ext cx="62646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effectLst/>
                <a:latin typeface="Consolas" panose="020B0609020204030204" pitchFamily="49" charset="0"/>
              </a:rPr>
              <a:t>gt_hr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: 99.2025</a:t>
            </a:r>
          </a:p>
          <a:p>
            <a:r>
              <a:rPr lang="en-US" b="0" i="0" dirty="0" err="1">
                <a:effectLst/>
                <a:latin typeface="Consolas" panose="020B0609020204030204" pitchFamily="49" charset="0"/>
              </a:rPr>
              <a:t>est_hr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: 101.12359550561797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DA57CC-508C-18C1-F705-5C6BC12E8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00511"/>
            <a:ext cx="10693400" cy="35189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D144BC-5F51-54D8-CF6C-18747C4000D2}"/>
              </a:ext>
            </a:extLst>
          </p:cNvPr>
          <p:cNvSpPr txBox="1"/>
          <p:nvPr/>
        </p:nvSpPr>
        <p:spPr>
          <a:xfrm>
            <a:off x="162124" y="972319"/>
            <a:ext cx="626469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Peak Detection Algorithm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: </a:t>
            </a:r>
            <a:r>
              <a:rPr lang="en-US" b="0" i="0" dirty="0" err="1">
                <a:effectLst/>
                <a:latin typeface="Consolas" panose="020B0609020204030204" pitchFamily="49" charset="0"/>
              </a:rPr>
              <a:t>fast_ampd</a:t>
            </a:r>
            <a:endParaRPr lang="en-US" b="0" i="0" dirty="0">
              <a:effectLst/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Signal Channel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: Green</a:t>
            </a:r>
          </a:p>
          <a:p>
            <a:r>
              <a:rPr lang="en-US" b="0" i="0" dirty="0" err="1">
                <a:effectLst/>
                <a:latin typeface="Consolas" panose="020B0609020204030204" pitchFamily="49" charset="0"/>
              </a:rPr>
              <a:t>roi_mode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 = "forehead"</a:t>
            </a:r>
          </a:p>
          <a:p>
            <a:r>
              <a:rPr lang="en-US" dirty="0">
                <a:latin typeface="Consolas" panose="020B0609020204030204" pitchFamily="49" charset="0"/>
              </a:rPr>
              <a:t>Subject: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379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306140" y="159153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Window Wise Comparison For Subject 1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8D91D7D-E37A-36DA-21E1-403FFF35C307}"/>
              </a:ext>
            </a:extLst>
          </p:cNvPr>
          <p:cNvSpPr txBox="1"/>
          <p:nvPr/>
        </p:nvSpPr>
        <p:spPr>
          <a:xfrm>
            <a:off x="162124" y="6444927"/>
            <a:ext cx="62646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effectLst/>
                <a:latin typeface="Consolas" panose="020B0609020204030204" pitchFamily="49" charset="0"/>
              </a:rPr>
              <a:t>gt_hr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: 97.0</a:t>
            </a:r>
          </a:p>
          <a:p>
            <a:r>
              <a:rPr lang="en-US" b="0" i="0" dirty="0" err="1">
                <a:effectLst/>
                <a:latin typeface="Consolas" panose="020B0609020204030204" pitchFamily="49" charset="0"/>
              </a:rPr>
              <a:t>est_hr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: 97.29729729729729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86EA5C-30BF-1590-747A-4E9D67AD95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44527"/>
            <a:ext cx="10693400" cy="35189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988DC8-9ABB-3061-3486-FD4440F771AE}"/>
              </a:ext>
            </a:extLst>
          </p:cNvPr>
          <p:cNvSpPr txBox="1"/>
          <p:nvPr/>
        </p:nvSpPr>
        <p:spPr>
          <a:xfrm>
            <a:off x="162124" y="972319"/>
            <a:ext cx="626469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Peak Detection Algorithm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: </a:t>
            </a:r>
            <a:r>
              <a:rPr lang="en-US" b="0" i="0" dirty="0" err="1">
                <a:effectLst/>
                <a:latin typeface="Consolas" panose="020B0609020204030204" pitchFamily="49" charset="0"/>
              </a:rPr>
              <a:t>fast_ampd</a:t>
            </a:r>
            <a:endParaRPr lang="en-US" b="0" i="0" dirty="0">
              <a:effectLst/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Signal Channel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: Green</a:t>
            </a:r>
          </a:p>
          <a:p>
            <a:r>
              <a:rPr lang="en-US" b="0" i="0" dirty="0" err="1">
                <a:effectLst/>
                <a:latin typeface="Consolas" panose="020B0609020204030204" pitchFamily="49" charset="0"/>
              </a:rPr>
              <a:t>roi_mode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 = "forehead"</a:t>
            </a:r>
          </a:p>
          <a:p>
            <a:r>
              <a:rPr lang="en-US" dirty="0">
                <a:latin typeface="Consolas" panose="020B0609020204030204" pitchFamily="49" charset="0"/>
              </a:rPr>
              <a:t>Subject: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624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306140" y="159153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solidFill>
                  <a:srgbClr val="000000"/>
                </a:solidFill>
                <a:latin typeface="Caladea"/>
                <a:ea typeface="HY견고딕" pitchFamily="18" charset="-127"/>
              </a:rPr>
              <a:t>Fixing the Peaks  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29F8B5-6754-8091-7115-B9DC9CA4A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47972"/>
            <a:ext cx="10693400" cy="35118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E8E3DA-CF53-4B89-6BC7-740B85B215CD}"/>
              </a:ext>
            </a:extLst>
          </p:cNvPr>
          <p:cNvSpPr txBox="1"/>
          <p:nvPr/>
        </p:nvSpPr>
        <p:spPr>
          <a:xfrm>
            <a:off x="220192" y="4559774"/>
            <a:ext cx="913878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 err="1">
                <a:effectLst/>
                <a:latin typeface="Consolas" panose="020B0609020204030204" pitchFamily="49" charset="0"/>
              </a:rPr>
              <a:t>local_maxima</a:t>
            </a:r>
            <a:r>
              <a:rPr lang="en-US" sz="1400" b="0" i="0" dirty="0">
                <a:effectLst/>
                <a:latin typeface="Consolas" panose="020B0609020204030204" pitchFamily="49" charset="0"/>
              </a:rPr>
              <a:t>: Frames([13, 21, 32, 39, 55, 72, 89])</a:t>
            </a:r>
          </a:p>
          <a:p>
            <a:r>
              <a:rPr lang="en-US" sz="1400" b="0" i="0" dirty="0" err="1">
                <a:effectLst/>
                <a:latin typeface="Consolas" panose="020B0609020204030204" pitchFamily="49" charset="0"/>
              </a:rPr>
              <a:t>accepted_peaks</a:t>
            </a:r>
            <a:r>
              <a:rPr lang="en-US" sz="1400" b="0" i="0" dirty="0">
                <a:effectLst/>
                <a:latin typeface="Consolas" panose="020B0609020204030204" pitchFamily="49" charset="0"/>
              </a:rPr>
              <a:t>: Frames([21, 39, 55, 72, 89])</a:t>
            </a:r>
          </a:p>
          <a:p>
            <a:r>
              <a:rPr lang="en-US" sz="1400" b="0" i="0" dirty="0" err="1">
                <a:effectLst/>
                <a:latin typeface="Consolas" panose="020B0609020204030204" pitchFamily="49" charset="0"/>
              </a:rPr>
              <a:t>rejected_peaks</a:t>
            </a:r>
            <a:r>
              <a:rPr lang="en-US" sz="1400" b="0" i="0" dirty="0">
                <a:effectLst/>
                <a:latin typeface="Consolas" panose="020B0609020204030204" pitchFamily="49" charset="0"/>
              </a:rPr>
              <a:t>: Frames([13, 32])</a:t>
            </a:r>
          </a:p>
          <a:p>
            <a:endParaRPr lang="en-US" sz="1400" b="0" i="0" dirty="0">
              <a:effectLst/>
              <a:latin typeface="Consolas" panose="020B0609020204030204" pitchFamily="49" charset="0"/>
            </a:endParaRPr>
          </a:p>
          <a:p>
            <a:r>
              <a:rPr lang="en-US" sz="1400" b="0" i="0" dirty="0">
                <a:effectLst/>
                <a:latin typeface="Consolas" panose="020B0609020204030204" pitchFamily="49" charset="0"/>
              </a:rPr>
              <a:t>prominences: 1.085, 0.928, 1.246, 0.594, 0.638 </a:t>
            </a:r>
          </a:p>
        </p:txBody>
      </p:sp>
    </p:spTree>
    <p:extLst>
      <p:ext uri="{BB962C8B-B14F-4D97-AF65-F5344CB8AC3E}">
        <p14:creationId xmlns:p14="http://schemas.microsoft.com/office/powerpoint/2010/main" val="3558386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306140" y="159153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solidFill>
                  <a:srgbClr val="000000"/>
                </a:solidFill>
                <a:latin typeface="Caladea"/>
                <a:ea typeface="HY견고딕" pitchFamily="18" charset="-127"/>
              </a:rPr>
              <a:t>Fixing the Peaks  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3C6EA31-D512-378D-E5D5-E847229672B2}"/>
              </a:ext>
            </a:extLst>
          </p:cNvPr>
          <p:cNvSpPr txBox="1"/>
          <p:nvPr/>
        </p:nvSpPr>
        <p:spPr>
          <a:xfrm>
            <a:off x="315574" y="5363547"/>
            <a:ext cx="94925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Prominence: The vertical distance between the peak and its lowest surrounding valley (left or right) before a higher peak appears.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31C6DD-EBEA-9B71-2044-24507D7D6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20" y="986948"/>
            <a:ext cx="10333360" cy="426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4293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306140" y="159153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Wrapper Algorithm For Fixing the Peak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219815-2AC8-CF89-BB31-225BA9C388C6}"/>
              </a:ext>
            </a:extLst>
          </p:cNvPr>
          <p:cNvSpPr txBox="1"/>
          <p:nvPr/>
        </p:nvSpPr>
        <p:spPr>
          <a:xfrm>
            <a:off x="76517" y="3947017"/>
            <a:ext cx="10531276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aladea" panose="020B0600000101010101"/>
              </a:rPr>
              <a:t>1. Finding All Local Maxima</a:t>
            </a:r>
          </a:p>
          <a:p>
            <a:endParaRPr lang="en-US" sz="1600" dirty="0">
              <a:latin typeface="Caladea" panose="020B0600000101010101"/>
            </a:endParaRPr>
          </a:p>
          <a:p>
            <a:r>
              <a:rPr lang="en-US" sz="1600" dirty="0">
                <a:latin typeface="Caladea" panose="020B0600000101010101"/>
              </a:rPr>
              <a:t>2. Comparing Each Pair of Neighboring Peaks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aladea" panose="020B0600000101010101"/>
              </a:rPr>
              <a:t>     </a:t>
            </a:r>
            <a:r>
              <a:rPr lang="en-US" sz="1400" b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p1, p2 = peaks[</a:t>
            </a:r>
            <a:r>
              <a:rPr lang="en-US" sz="1400" b="0" dirty="0" err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], peaks[</a:t>
            </a:r>
            <a:r>
              <a:rPr lang="en-US" sz="1400" b="0" dirty="0" err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 + 1]</a:t>
            </a:r>
          </a:p>
          <a:p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600" dirty="0">
                <a:latin typeface="Caladea" panose="020B0600000101010101"/>
              </a:rPr>
              <a:t>3. Checking if These Peaks Are Too Close</a:t>
            </a:r>
            <a:br>
              <a:rPr lang="en-US" sz="1400" dirty="0"/>
            </a:br>
            <a:r>
              <a:rPr lang="en-US" sz="1400" dirty="0"/>
              <a:t>   </a:t>
            </a:r>
            <a:r>
              <a:rPr lang="en-US" sz="1400" b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close = (p2 - p1) &lt; min_distance_frames(10)</a:t>
            </a:r>
          </a:p>
          <a:p>
            <a:endParaRPr lang="en-US" sz="1400" dirty="0"/>
          </a:p>
          <a:p>
            <a:r>
              <a:rPr lang="en-US" sz="1600" dirty="0">
                <a:latin typeface="Caladea" panose="020B0600000101010101"/>
              </a:rPr>
              <a:t>4. Checking if Their Heights or Prominences Are Similar</a:t>
            </a:r>
            <a:br>
              <a:rPr lang="en-US" sz="1400" dirty="0"/>
            </a:b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</a:t>
            </a:r>
            <a:r>
              <a:rPr lang="en-US" sz="1400" b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similar_prominence = max(prom1, prom2) / min(prom1, prom2) &lt;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prominence_ratio_thresh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(1.5)</a:t>
            </a:r>
          </a:p>
          <a:p>
            <a:r>
              <a:rPr lang="en-US" sz="1400" b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  similar_amplitude = abs(amp1 - amp2) &lt;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amplitude_diff_thresh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(0.2)</a:t>
            </a:r>
          </a:p>
          <a:p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600" dirty="0">
                <a:latin typeface="Caladea" panose="020B0600000101010101"/>
                <a:ea typeface="Verdana" panose="020B0604030504040204" pitchFamily="34" charset="0"/>
              </a:rPr>
              <a:t>5. Finding The Mid:</a:t>
            </a:r>
            <a:b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mid = int((p1 + p2) / 2)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66E277-D60D-6B6B-81D3-C4808C176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85" y="958892"/>
            <a:ext cx="8327848" cy="2937829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B549A9-E1B2-B4B0-5E7A-27E2DFCF8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543623"/>
              </p:ext>
            </p:extLst>
          </p:nvPr>
        </p:nvGraphicFramePr>
        <p:xfrm>
          <a:off x="8463650" y="1211147"/>
          <a:ext cx="1956128" cy="2304253"/>
        </p:xfrm>
        <a:graphic>
          <a:graphicData uri="http://schemas.openxmlformats.org/drawingml/2006/table">
            <a:tbl>
              <a:tblPr/>
              <a:tblGrid>
                <a:gridCol w="978064">
                  <a:extLst>
                    <a:ext uri="{9D8B030D-6E8A-4147-A177-3AD203B41FA5}">
                      <a16:colId xmlns:a16="http://schemas.microsoft.com/office/drawing/2014/main" val="3107938711"/>
                    </a:ext>
                  </a:extLst>
                </a:gridCol>
                <a:gridCol w="978064">
                  <a:extLst>
                    <a:ext uri="{9D8B030D-6E8A-4147-A177-3AD203B41FA5}">
                      <a16:colId xmlns:a16="http://schemas.microsoft.com/office/drawing/2014/main" val="3152779927"/>
                    </a:ext>
                  </a:extLst>
                </a:gridCol>
              </a:tblGrid>
              <a:tr h="4454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dirty="0">
                          <a:effectLst/>
                        </a:rPr>
                        <a:t>All Local </a:t>
                      </a:r>
                    </a:p>
                    <a:p>
                      <a:pPr algn="ctr" fontAlgn="ctr"/>
                      <a:r>
                        <a:rPr lang="en-US" sz="1050" dirty="0">
                          <a:effectLst/>
                        </a:rPr>
                        <a:t>Maxima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dirty="0">
                          <a:effectLst/>
                        </a:rPr>
                        <a:t>Fixed Peaks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404781"/>
                  </a:ext>
                </a:extLst>
              </a:tr>
              <a:tr h="26554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effectLst/>
                        </a:rPr>
                        <a:t>13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effectLst/>
                        </a:rPr>
                        <a:t>13.0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672170"/>
                  </a:ext>
                </a:extLst>
              </a:tr>
              <a:tr h="26554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effectLst/>
                        </a:rPr>
                        <a:t>21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effectLst/>
                        </a:rPr>
                        <a:t>21.0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571689"/>
                  </a:ext>
                </a:extLst>
              </a:tr>
              <a:tr h="26554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effectLst/>
                        </a:rPr>
                        <a:t>32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effectLst/>
                        </a:rPr>
                        <a:t>35.0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978423"/>
                  </a:ext>
                </a:extLst>
              </a:tr>
              <a:tr h="26554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effectLst/>
                        </a:rPr>
                        <a:t>39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effectLst/>
                        </a:rPr>
                        <a:t>55.0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589554"/>
                  </a:ext>
                </a:extLst>
              </a:tr>
              <a:tr h="26554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effectLst/>
                        </a:rPr>
                        <a:t>55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effectLst/>
                        </a:rPr>
                        <a:t>72.0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405220"/>
                  </a:ext>
                </a:extLst>
              </a:tr>
              <a:tr h="26554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effectLst/>
                        </a:rPr>
                        <a:t>72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effectLst/>
                        </a:rPr>
                        <a:t>89.0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414903"/>
                  </a:ext>
                </a:extLst>
              </a:tr>
              <a:tr h="26554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effectLst/>
                        </a:rPr>
                        <a:t>89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>
                          <a:effectLst/>
                        </a:rPr>
                        <a:t>NaN</a:t>
                      </a:r>
                      <a:endParaRPr lang="en-US" sz="1050" dirty="0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83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7076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306140" y="159153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Algorithm For Fixing the Peak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219815-2AC8-CF89-BB31-225BA9C388C6}"/>
              </a:ext>
            </a:extLst>
          </p:cNvPr>
          <p:cNvSpPr txBox="1"/>
          <p:nvPr/>
        </p:nvSpPr>
        <p:spPr>
          <a:xfrm>
            <a:off x="0" y="1015616"/>
            <a:ext cx="105312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aladea" panose="020B0600000101010101"/>
              </a:rPr>
              <a:t>6. </a:t>
            </a:r>
            <a:r>
              <a:rPr lang="en-US" sz="1600" dirty="0" err="1">
                <a:latin typeface="Caladea" panose="020B0600000101010101"/>
              </a:rPr>
              <a:t>Ploting</a:t>
            </a:r>
            <a:r>
              <a:rPr lang="en-US" sz="1600" dirty="0">
                <a:latin typeface="Caladea" panose="020B0600000101010101"/>
              </a:rPr>
              <a:t> the new Signal (for only visualizations)</a:t>
            </a:r>
          </a:p>
          <a:p>
            <a:endParaRPr lang="en-US" sz="1600" dirty="0">
              <a:latin typeface="Caladea" panose="020B0600000101010101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F7E7E9-A71D-3C68-A738-E839CD7DD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20391"/>
            <a:ext cx="10661580" cy="350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43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306140" y="159153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Task Pending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219815-2AC8-CF89-BB31-225BA9C388C6}"/>
              </a:ext>
            </a:extLst>
          </p:cNvPr>
          <p:cNvSpPr txBox="1"/>
          <p:nvPr/>
        </p:nvSpPr>
        <p:spPr>
          <a:xfrm>
            <a:off x="0" y="1015616"/>
            <a:ext cx="1053127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>
                <a:latin typeface="Caladea" panose="020B0600000101010101"/>
              </a:rPr>
              <a:t>Now </a:t>
            </a:r>
            <a:r>
              <a:rPr lang="en-US" sz="1600" dirty="0" err="1">
                <a:latin typeface="Caladea" panose="020B0600000101010101"/>
              </a:rPr>
              <a:t>Comparision</a:t>
            </a:r>
            <a:r>
              <a:rPr lang="en-US" sz="1600" dirty="0">
                <a:latin typeface="Caladea" panose="020B0600000101010101"/>
              </a:rPr>
              <a:t> using FFT Vs Current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Caladea" panose="020B0600000101010101"/>
              </a:rPr>
              <a:t>FFT vs Median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Caladea" panose="020B0600000101010101"/>
              </a:rPr>
              <a:t>FFT vs </a:t>
            </a:r>
            <a:r>
              <a:rPr lang="en-US" sz="1600" dirty="0" err="1">
                <a:latin typeface="Caladea" panose="020B0600000101010101"/>
              </a:rPr>
              <a:t>Hestoric</a:t>
            </a:r>
            <a:r>
              <a:rPr lang="en-US" sz="1600" dirty="0">
                <a:latin typeface="Caladea" panose="020B0600000101010101"/>
              </a:rPr>
              <a:t> wrapper…historic is the method to remove the unusual HR </a:t>
            </a:r>
            <a:r>
              <a:rPr lang="en-US" sz="1600">
                <a:latin typeface="Caladea" panose="020B0600000101010101"/>
              </a:rPr>
              <a:t>from the dataset…</a:t>
            </a:r>
            <a:endParaRPr lang="en-US" sz="1600" dirty="0">
              <a:latin typeface="Caladea" panose="020B0600000101010101"/>
            </a:endParaRPr>
          </a:p>
          <a:p>
            <a:endParaRPr lang="en-US" sz="1600" dirty="0">
              <a:latin typeface="Caladea" panose="020B060000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2310199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4923</TotalTime>
  <Words>1362</Words>
  <Application>Microsoft Office PowerPoint</Application>
  <PresentationFormat>Custom</PresentationFormat>
  <Paragraphs>483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Caladea</vt:lpstr>
      <vt:lpstr>HY견고딕</vt:lpstr>
      <vt:lpstr>HY중고딕</vt:lpstr>
      <vt:lpstr>맑은 고딕</vt:lpstr>
      <vt:lpstr>Arial</vt:lpstr>
      <vt:lpstr>Consolas</vt:lpstr>
      <vt:lpstr>Verdana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XP SP3 FINAL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Rafsan Jany</cp:lastModifiedBy>
  <cp:revision>73</cp:revision>
  <cp:lastPrinted>2012-01-03T07:03:32Z</cp:lastPrinted>
  <dcterms:created xsi:type="dcterms:W3CDTF">2011-12-29T06:45:05Z</dcterms:created>
  <dcterms:modified xsi:type="dcterms:W3CDTF">2025-07-01T06:36:07Z</dcterms:modified>
</cp:coreProperties>
</file>