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6" r:id="rId2"/>
    <p:sldId id="647" r:id="rId3"/>
    <p:sldId id="649" r:id="rId4"/>
    <p:sldId id="648" r:id="rId5"/>
    <p:sldId id="650" r:id="rId6"/>
    <p:sldId id="651" r:id="rId7"/>
    <p:sldId id="652" r:id="rId8"/>
    <p:sldId id="625" r:id="rId9"/>
  </p:sldIdLst>
  <p:sldSz cx="10693400" cy="7561263"/>
  <p:notesSz cx="9874250" cy="6797675"/>
  <p:defaultTextStyle>
    <a:defPPr>
      <a:defRPr lang="ko-KR"/>
    </a:defPPr>
    <a:lvl1pPr marL="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84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69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53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38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22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07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4916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2761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2">
          <p15:clr>
            <a:srgbClr val="A4A3A4"/>
          </p15:clr>
        </p15:guide>
        <p15:guide id="2" pos="336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7405"/>
    <a:srgbClr val="E78B03"/>
    <a:srgbClr val="FF05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47" autoAdjust="0"/>
  </p:normalViewPr>
  <p:slideViewPr>
    <p:cSldViewPr>
      <p:cViewPr varScale="1">
        <p:scale>
          <a:sx n="81" d="100"/>
          <a:sy n="81" d="100"/>
        </p:scale>
        <p:origin x="60" y="174"/>
      </p:cViewPr>
      <p:guideLst>
        <p:guide orient="horz" pos="2382"/>
        <p:guide pos="3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592027" y="0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C65444-5612-4993-A297-66E4EA569180}" type="datetime1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56699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592027" y="6456699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B70AE1-31D9-4381-959D-9050CC0FE9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483060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593126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3867D-DA73-4C30-B686-2D05E2BBC364}" type="datetime1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33725" y="509588"/>
            <a:ext cx="3606800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87426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93126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0A336D-49A4-4170-8C35-7E5BA4D4E5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146915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37444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27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003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31963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61816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2266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998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C5369-3E1F-C091-1516-51CC4584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F8664E-2EE1-B59B-DFB3-D239703D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433833-092A-2B17-35C2-9AD5EB64C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71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23EF1-6E1E-49A8-89C7-5D842E70784B}" type="datetime1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06140" y="91456"/>
            <a:ext cx="8496944" cy="736847"/>
          </a:xfrm>
          <a:prstGeom prst="rect">
            <a:avLst/>
          </a:prstGeom>
        </p:spPr>
        <p:txBody>
          <a:bodyPr anchor="ctr"/>
          <a:lstStyle>
            <a:lvl1pPr algn="l">
              <a:defRPr sz="3000" b="0">
                <a:latin typeface="HY견고딕" pitchFamily="18" charset="-127"/>
                <a:ea typeface="HY견고딕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r>
              <a:rPr lang="en-US" altLang="ko-KR" dirty="0"/>
              <a:t>(HY</a:t>
            </a:r>
            <a:r>
              <a:rPr lang="ko-KR" altLang="en-US" dirty="0"/>
              <a:t>견고딕</a:t>
            </a:r>
            <a:r>
              <a:rPr lang="en-US" altLang="ko-KR" dirty="0"/>
              <a:t>, 30)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9D9B9-AAC4-4186-832C-ACCB8141D63A}" type="datetime1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40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4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06140" y="91456"/>
            <a:ext cx="8496944" cy="736847"/>
          </a:xfrm>
          <a:prstGeom prst="rect">
            <a:avLst/>
          </a:prstGeom>
        </p:spPr>
        <p:txBody>
          <a:bodyPr anchor="ctr"/>
          <a:lstStyle>
            <a:lvl1pPr algn="l">
              <a:defRPr sz="3000" b="0">
                <a:latin typeface="HY견고딕" pitchFamily="18" charset="-127"/>
                <a:ea typeface="HY견고딕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r>
              <a:rPr lang="en-US" altLang="ko-KR" dirty="0"/>
              <a:t>(HY</a:t>
            </a:r>
            <a:r>
              <a:rPr lang="ko-KR" altLang="en-US" dirty="0"/>
              <a:t>견고딕</a:t>
            </a:r>
            <a:r>
              <a:rPr lang="en-US" altLang="ko-KR" dirty="0"/>
              <a:t>, 30)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9D9B9-AAC4-4186-832C-ACCB8141D63A}" type="datetime1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781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4670" y="7008172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6FB339-8C5D-44DF-A368-296A032EEE0C}" type="datetime1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653579" y="7008172"/>
            <a:ext cx="3386243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663603" y="7008172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hf hdr="0" ftr="0" dt="0"/>
  <p:txStyles>
    <p:titleStyle>
      <a:lvl1pPr algn="ctr" defTabSz="995690" rtl="0" eaLnBrk="1" latinLnBrk="1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384" indent="-373384" algn="l" defTabSz="995690" rtl="0" eaLnBrk="1" latinLnBrk="1" hangingPunct="1">
        <a:spcBef>
          <a:spcPct val="20000"/>
        </a:spcBef>
        <a:buFont typeface="Arial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8998" indent="-311153" algn="l" defTabSz="995690" rtl="0" eaLnBrk="1" latinLnBrk="1" hangingPunct="1">
        <a:spcBef>
          <a:spcPct val="20000"/>
        </a:spcBef>
        <a:buFont typeface="Arial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61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458" indent="-248923" algn="l" defTabSz="995690" rtl="0" eaLnBrk="1" latinLnBrk="1" hangingPunct="1">
        <a:spcBef>
          <a:spcPct val="20000"/>
        </a:spcBef>
        <a:buFont typeface="Arial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303" indent="-248923" algn="l" defTabSz="995690" rtl="0" eaLnBrk="1" latinLnBrk="1" hangingPunct="1">
        <a:spcBef>
          <a:spcPct val="20000"/>
        </a:spcBef>
        <a:buFont typeface="Arial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148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599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3838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168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84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69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53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38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22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07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4916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2761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91559" y="3204567"/>
            <a:ext cx="5688632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500" dirty="0">
                <a:latin typeface="Caladea" panose="020B0600000101010101" charset="0"/>
                <a:ea typeface="HY중고딕" pitchFamily="18" charset="-127"/>
              </a:rPr>
              <a:t>Rafsan</a:t>
            </a:r>
            <a:r>
              <a:rPr lang="ko-KR" altLang="en-US" sz="2500" dirty="0">
                <a:latin typeface="Caladea" panose="020B0600000101010101" charset="0"/>
                <a:ea typeface="HY중고딕" pitchFamily="18" charset="-127"/>
              </a:rPr>
              <a:t> </a:t>
            </a:r>
            <a:r>
              <a:rPr lang="en-US" altLang="ko-KR" sz="2500" dirty="0">
                <a:latin typeface="Caladea" panose="020B0600000101010101" charset="0"/>
                <a:ea typeface="HY중고딕" pitchFamily="18" charset="-127"/>
              </a:rPr>
              <a:t>Jany</a:t>
            </a: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adea" panose="020B0600000101010101" charset="0"/>
                <a:cs typeface="Assistant" pitchFamily="2" charset="-79"/>
              </a:rPr>
              <a:t>Korean Convergence Medical Science</a:t>
            </a:r>
            <a:endParaRPr lang="en-US" sz="2400" b="0" dirty="0">
              <a:effectLst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7BFA47E-2C3C-B12E-FF19-4D5F348668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948" y="6804967"/>
            <a:ext cx="1836174" cy="8735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BF09D3-D4B7-A175-D7F1-10A5F9BC1834}"/>
              </a:ext>
            </a:extLst>
          </p:cNvPr>
          <p:cNvSpPr txBox="1"/>
          <p:nvPr/>
        </p:nvSpPr>
        <p:spPr>
          <a:xfrm>
            <a:off x="810195" y="1980431"/>
            <a:ext cx="9251361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800">
                <a:solidFill>
                  <a:srgbClr val="000000"/>
                </a:solidFill>
                <a:latin typeface="Caladea" panose="020B0600000101010101" charset="0"/>
                <a:ea typeface="HY견고딕" pitchFamily="18" charset="-127"/>
                <a:cs typeface="Cavolini" panose="03000502040302020204" pitchFamily="66" charset="0"/>
              </a:rPr>
              <a:t>Temporal Alignment Analysis of the UBFC rPPG Dataset</a:t>
            </a:r>
            <a:endParaRPr lang="en-US" altLang="ko-KR" sz="2800" dirty="0">
              <a:solidFill>
                <a:srgbClr val="000000"/>
              </a:solidFill>
              <a:latin typeface="Caladea" panose="020B0600000101010101" charset="0"/>
              <a:ea typeface="HY견고딕" pitchFamily="18" charset="-127"/>
              <a:cs typeface="Cavolini" panose="0300050204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2923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1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Raw Code for UBFC 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ADB30AC-F724-5D9B-7C4B-5A7716E20675}"/>
              </a:ext>
            </a:extLst>
          </p:cNvPr>
          <p:cNvGrpSpPr/>
          <p:nvPr/>
        </p:nvGrpSpPr>
        <p:grpSpPr>
          <a:xfrm>
            <a:off x="62191" y="1404367"/>
            <a:ext cx="1296144" cy="936104"/>
            <a:chOff x="450156" y="1332359"/>
            <a:chExt cx="1296144" cy="93610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ACDE175-4C90-0CF2-A125-44966F23FD98}"/>
                </a:ext>
              </a:extLst>
            </p:cNvPr>
            <p:cNvSpPr/>
            <p:nvPr/>
          </p:nvSpPr>
          <p:spPr>
            <a:xfrm>
              <a:off x="450156" y="1552014"/>
              <a:ext cx="1296144" cy="71644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</a:rPr>
                <a:t>UBFC Dataset</a:t>
              </a:r>
            </a:p>
            <a:p>
              <a:pPr algn="ctr"/>
              <a:r>
                <a:rPr lang="en-US" sz="900" dirty="0">
                  <a:solidFill>
                    <a:schemeClr val="tx1"/>
                  </a:solidFill>
                </a:rPr>
                <a:t>(video.avi + gt.txt)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8517EFE-AEBE-C9E9-3176-5852B425AC2F}"/>
                </a:ext>
              </a:extLst>
            </p:cNvPr>
            <p:cNvSpPr/>
            <p:nvPr/>
          </p:nvSpPr>
          <p:spPr>
            <a:xfrm>
              <a:off x="450156" y="1332359"/>
              <a:ext cx="1296144" cy="390734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406E0FA-ABF9-6E67-208C-B7F0DA159F01}"/>
                </a:ext>
              </a:extLst>
            </p:cNvPr>
            <p:cNvSpPr/>
            <p:nvPr/>
          </p:nvSpPr>
          <p:spPr>
            <a:xfrm>
              <a:off x="594172" y="1404367"/>
              <a:ext cx="1008112" cy="216024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E50A05AB-2EEC-AAF4-DA31-F81D89CA99E0}"/>
              </a:ext>
            </a:extLst>
          </p:cNvPr>
          <p:cNvSpPr/>
          <p:nvPr/>
        </p:nvSpPr>
        <p:spPr>
          <a:xfrm>
            <a:off x="1885752" y="1707033"/>
            <a:ext cx="2414017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solidFill>
                  <a:schemeClr val="tx1"/>
                </a:solidFill>
              </a:rPr>
              <a:t>Load video + nominal FPS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2ED3FB-96C1-9735-6091-E2C7B9A81BA1}"/>
              </a:ext>
            </a:extLst>
          </p:cNvPr>
          <p:cNvSpPr/>
          <p:nvPr/>
        </p:nvSpPr>
        <p:spPr>
          <a:xfrm>
            <a:off x="4801593" y="1707033"/>
            <a:ext cx="2495127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solidFill>
                  <a:schemeClr val="tx1"/>
                </a:solidFill>
              </a:rPr>
              <a:t>Build video time axis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BD4D57-3FD4-2142-B1DA-A852C0FBCF39}"/>
              </a:ext>
            </a:extLst>
          </p:cNvPr>
          <p:cNvSpPr/>
          <p:nvPr/>
        </p:nvSpPr>
        <p:spPr>
          <a:xfrm>
            <a:off x="7716663" y="1707033"/>
            <a:ext cx="2703475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Define 8-second start 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and 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end windows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9D5E54-C443-0275-ADCF-5468F5799C7C}"/>
              </a:ext>
            </a:extLst>
          </p:cNvPr>
          <p:cNvSpPr/>
          <p:nvPr/>
        </p:nvSpPr>
        <p:spPr>
          <a:xfrm>
            <a:off x="7769106" y="4153997"/>
            <a:ext cx="2598588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Extract ROI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Compute </a:t>
            </a:r>
            <a:r>
              <a:rPr lang="en-US" sz="800" dirty="0" err="1">
                <a:solidFill>
                  <a:schemeClr val="tx1"/>
                </a:solidFill>
              </a:rPr>
              <a:t>rPPG</a:t>
            </a:r>
            <a:r>
              <a:rPr lang="en-US" sz="800" dirty="0">
                <a:solidFill>
                  <a:schemeClr val="tx1"/>
                </a:solidFill>
              </a:rPr>
              <a:t> using CHROM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2A3518C-479A-2F4E-CF8D-C4708CA32ECE}"/>
              </a:ext>
            </a:extLst>
          </p:cNvPr>
          <p:cNvSpPr/>
          <p:nvPr/>
        </p:nvSpPr>
        <p:spPr>
          <a:xfrm>
            <a:off x="3978548" y="4165640"/>
            <a:ext cx="2598588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Estimate lag via cross-correlation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D767FC2-6DBD-2060-7951-D23DE0E07317}"/>
              </a:ext>
            </a:extLst>
          </p:cNvPr>
          <p:cNvSpPr/>
          <p:nvPr/>
        </p:nvSpPr>
        <p:spPr>
          <a:xfrm>
            <a:off x="494172" y="4165640"/>
            <a:ext cx="2598588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800">
                <a:solidFill>
                  <a:schemeClr val="tx1"/>
                </a:solidFill>
              </a:rPr>
              <a:t>Compute drift = |lag_end – lag_start|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9B89D35-5D0F-9059-737B-635F0219EAE5}"/>
              </a:ext>
            </a:extLst>
          </p:cNvPr>
          <p:cNvSpPr/>
          <p:nvPr/>
        </p:nvSpPr>
        <p:spPr>
          <a:xfrm>
            <a:off x="494172" y="5158073"/>
            <a:ext cx="2598588" cy="5890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>
                <a:solidFill>
                  <a:schemeClr val="tx1"/>
                </a:solidFill>
              </a:rPr>
              <a:t>Test FPS correction</a:t>
            </a:r>
            <a:endParaRPr lang="en-US" sz="800" dirty="0">
              <a:solidFill>
                <a:schemeClr val="tx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6678280-D586-0BEF-62D9-AE2915E2BEE3}"/>
              </a:ext>
            </a:extLst>
          </p:cNvPr>
          <p:cNvCxnSpPr>
            <a:stCxn id="9" idx="3"/>
            <a:endCxn id="20" idx="1"/>
          </p:cNvCxnSpPr>
          <p:nvPr/>
        </p:nvCxnSpPr>
        <p:spPr>
          <a:xfrm>
            <a:off x="1358335" y="1982247"/>
            <a:ext cx="527417" cy="193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B29E3A5-2CDB-9C2C-1FCF-15230FC34B8E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4299769" y="2001570"/>
            <a:ext cx="50182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0423824-B08B-B0E6-AA5E-3601A50A8C27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7296720" y="2001570"/>
            <a:ext cx="41994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7EE1DE7-D169-D815-5FFD-14A9B5589751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9068400" y="2296106"/>
            <a:ext cx="1" cy="185789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548FC22-AF4C-811D-1746-8A69CA989CBA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6577136" y="4448534"/>
            <a:ext cx="1191970" cy="116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96DED0C-50DC-7B45-DBA6-3E44C6FF2768}"/>
              </a:ext>
            </a:extLst>
          </p:cNvPr>
          <p:cNvCxnSpPr>
            <a:cxnSpLocks/>
            <a:stCxn id="25" idx="1"/>
            <a:endCxn id="26" idx="3"/>
          </p:cNvCxnSpPr>
          <p:nvPr/>
        </p:nvCxnSpPr>
        <p:spPr>
          <a:xfrm flipH="1">
            <a:off x="3092760" y="4460177"/>
            <a:ext cx="88578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B14C5CE-EFFF-C52E-A4AA-0ED440D064ED}"/>
              </a:ext>
            </a:extLst>
          </p:cNvPr>
          <p:cNvCxnSpPr>
            <a:cxnSpLocks/>
            <a:stCxn id="26" idx="2"/>
            <a:endCxn id="28" idx="0"/>
          </p:cNvCxnSpPr>
          <p:nvPr/>
        </p:nvCxnSpPr>
        <p:spPr>
          <a:xfrm>
            <a:off x="1793466" y="4754713"/>
            <a:ext cx="0" cy="40336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1279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Verify gt.txt structure and timing for one UBFC Subject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F339B-A750-38BB-0832-4898CA0BD415}"/>
              </a:ext>
            </a:extLst>
          </p:cNvPr>
          <p:cNvSpPr txBox="1"/>
          <p:nvPr/>
        </p:nvSpPr>
        <p:spPr>
          <a:xfrm>
            <a:off x="53658" y="1110669"/>
            <a:ext cx="5184576" cy="533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latin typeface="Consolas" panose="020B0609020204030204" pitchFamily="49" charset="0"/>
              </a:rPr>
              <a:t>Check GT and Video timing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Video No: 01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GT loaded successfully: 1547 PPG samples, 1547 timestamps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PPG samples and timestamps are 1:1 aligned (same length)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GT PPG duration: 52.691 s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GT  fps: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	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endParaRPr lang="en-US" sz="1100" dirty="0">
              <a:latin typeface="Consolas" panose="020B0609020204030204" pitchFamily="49" charset="0"/>
            </a:endParaRP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Video info: 1547 frames @ 29.264 fps → 52.863 s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Duration difference (video − GT): 0.172 s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Problematic Zone: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b="1" dirty="0">
                <a:latin typeface="Consolas" panose="020B0609020204030204" pitchFamily="49" charset="0"/>
              </a:rPr>
              <a:t>PPG: 0 → 52.691 s</a:t>
            </a:r>
          </a:p>
          <a:p>
            <a:r>
              <a:rPr lang="en-US" sz="1100" b="1" dirty="0">
                <a:latin typeface="Consolas" panose="020B0609020204030204" pitchFamily="49" charset="0"/>
              </a:rPr>
              <a:t>Video: 0 → 52.863 s</a:t>
            </a:r>
          </a:p>
          <a:p>
            <a:endParaRPr lang="en-US" sz="1100" b="1" dirty="0">
              <a:latin typeface="Consolas" panose="020B0609020204030204" pitchFamily="49" charset="0"/>
            </a:endParaRPr>
          </a:p>
          <a:p>
            <a:r>
              <a:rPr lang="en-US" sz="1100" b="1" dirty="0">
                <a:latin typeface="Consolas" panose="020B0609020204030204" pitchFamily="49" charset="0"/>
              </a:rPr>
              <a:t>That’s a 0.172 s offset (≈5 frames @ 29.3 fps).</a:t>
            </a:r>
          </a:p>
          <a:p>
            <a:endParaRPr lang="en-US" sz="1100" b="1" dirty="0">
              <a:latin typeface="Consolas" panose="020B0609020204030204" pitchFamily="49" charset="0"/>
            </a:endParaRPr>
          </a:p>
          <a:p>
            <a:r>
              <a:rPr lang="en-US" sz="1100" b="1" i="1" dirty="0">
                <a:latin typeface="Consolas" panose="020B0609020204030204" pitchFamily="49" charset="0"/>
              </a:rPr>
              <a:t>So, even though there are 1547 PPG values and 1547 frames, </a:t>
            </a:r>
          </a:p>
          <a:p>
            <a:r>
              <a:rPr lang="en-US" sz="1100" b="1" i="1" dirty="0">
                <a:latin typeface="Consolas" panose="020B0609020204030204" pitchFamily="49" charset="0"/>
              </a:rPr>
              <a:t>the last few video frames occur after the PPG stopped recording.</a:t>
            </a:r>
          </a:p>
          <a:p>
            <a:endParaRPr lang="en-US" sz="1100" dirty="0">
              <a:latin typeface="Consolas" panose="020B0609020204030204" pitchFamily="49" charset="0"/>
            </a:endParaRP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17B890-C84D-96AD-F0C7-5803D77258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188" y="2772519"/>
            <a:ext cx="1721546" cy="43204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81F74A3-6841-F972-EB4A-025756C65F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6048" y="1985166"/>
            <a:ext cx="6354812" cy="222418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E178727-28DE-74BF-4D3C-49DC2D7764F4}"/>
              </a:ext>
            </a:extLst>
          </p:cNvPr>
          <p:cNvSpPr txBox="1"/>
          <p:nvPr/>
        </p:nvSpPr>
        <p:spPr>
          <a:xfrm>
            <a:off x="5250313" y="4203823"/>
            <a:ext cx="529877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latin typeface="Consolas" panose="020B0609020204030204" pitchFamily="49" charset="0"/>
              </a:rPr>
              <a:t>Visualize GT/Video timing</a:t>
            </a:r>
          </a:p>
          <a:p>
            <a:endParaRPr lang="en-US" sz="1000" b="1" i="1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Loaded GT: 1547 samples</a:t>
            </a: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1 duplicated or non-increasing timestamps found at indices [494]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→ Adjusted duplicated timestamps by +1e-6 s increments.</a:t>
            </a: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Video info: 1547 frames @ 29.264 fps → 52.863 s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GT PPG duration: 52.691 s</a:t>
            </a: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Duration difference (video − GT): 0.172 s ≈ 5.04 frames (0.33 % of duration)</a:t>
            </a: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Frames within overlap: 1542 (5 trimmed)</a:t>
            </a:r>
          </a:p>
        </p:txBody>
      </p:sp>
    </p:spTree>
    <p:extLst>
      <p:ext uri="{BB962C8B-B14F-4D97-AF65-F5344CB8AC3E}">
        <p14:creationId xmlns:p14="http://schemas.microsoft.com/office/powerpoint/2010/main" val="668660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Measurements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F339B-A750-38BB-0832-4898CA0BD415}"/>
              </a:ext>
            </a:extLst>
          </p:cNvPr>
          <p:cNvSpPr txBox="1"/>
          <p:nvPr/>
        </p:nvSpPr>
        <p:spPr>
          <a:xfrm>
            <a:off x="137488" y="1116335"/>
            <a:ext cx="873760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latin typeface="Consolas" panose="020B0609020204030204" pitchFamily="49" charset="0"/>
              </a:rPr>
              <a:t>Phase-Lag Estimation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To quantify alignment quality, a sign-invariant cross-correlation method is used.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i="1" dirty="0" err="1">
                <a:latin typeface="Consolas" panose="020B0609020204030204" pitchFamily="49" charset="0"/>
              </a:rPr>
              <a:t>s</a:t>
            </a:r>
            <a:r>
              <a:rPr lang="en-US" sz="1400" i="1" baseline="-25000" dirty="0" err="1">
                <a:latin typeface="Consolas" panose="020B0609020204030204" pitchFamily="49" charset="0"/>
              </a:rPr>
              <a:t>r</a:t>
            </a:r>
            <a:r>
              <a:rPr lang="en-US" sz="1400" i="1" dirty="0">
                <a:latin typeface="Consolas" panose="020B0609020204030204" pitchFamily="49" charset="0"/>
              </a:rPr>
              <a:t>(t) → filtered, normalized </a:t>
            </a:r>
            <a:r>
              <a:rPr lang="en-US" sz="1400" i="1" dirty="0" err="1">
                <a:latin typeface="Consolas" panose="020B0609020204030204" pitchFamily="49" charset="0"/>
              </a:rPr>
              <a:t>rPPG</a:t>
            </a:r>
            <a:r>
              <a:rPr lang="en-US" sz="1400" i="1" dirty="0">
                <a:latin typeface="Consolas" panose="020B0609020204030204" pitchFamily="49" charset="0"/>
              </a:rPr>
              <a:t> signal</a:t>
            </a:r>
          </a:p>
          <a:p>
            <a:r>
              <a:rPr lang="en-US" sz="1400" i="1" dirty="0">
                <a:latin typeface="Consolas" panose="020B0609020204030204" pitchFamily="49" charset="0"/>
              </a:rPr>
              <a:t>s</a:t>
            </a:r>
            <a:r>
              <a:rPr lang="en-US" sz="1400" i="1" baseline="-25000" dirty="0">
                <a:latin typeface="Consolas" panose="020B0609020204030204" pitchFamily="49" charset="0"/>
              </a:rPr>
              <a:t>g</a:t>
            </a:r>
            <a:r>
              <a:rPr lang="en-US" sz="1400" i="1" dirty="0">
                <a:latin typeface="Consolas" panose="020B0609020204030204" pitchFamily="49" charset="0"/>
              </a:rPr>
              <a:t>(t) → filtered, normalized ground-truth PPG signal</a:t>
            </a:r>
          </a:p>
          <a:p>
            <a:endParaRPr lang="en-US" sz="1400" b="1" dirty="0">
              <a:latin typeface="Consolas" panose="020B0609020204030204" pitchFamily="49" charset="0"/>
            </a:endParaRP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C4A57-63CF-C431-F782-5D697CEEFC49}"/>
              </a:ext>
            </a:extLst>
          </p:cNvPr>
          <p:cNvSpPr txBox="1"/>
          <p:nvPr/>
        </p:nvSpPr>
        <p:spPr>
          <a:xfrm>
            <a:off x="137488" y="3251316"/>
            <a:ext cx="84363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latin typeface="Consolas" panose="020B0609020204030204" pitchFamily="49" charset="0"/>
              </a:rPr>
              <a:t>Drift Measurement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The drift across the recording is defined as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CD5AEA-4E92-0019-3511-673C0CCA1BE7}"/>
              </a:ext>
            </a:extLst>
          </p:cNvPr>
          <p:cNvSpPr txBox="1"/>
          <p:nvPr/>
        </p:nvSpPr>
        <p:spPr>
          <a:xfrm>
            <a:off x="120484" y="4845913"/>
            <a:ext cx="975753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latin typeface="Consolas" panose="020B0609020204030204" pitchFamily="49" charset="0"/>
              </a:rPr>
              <a:t>Ground Truth FPS Correction Mechanism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 corrected FPS is estimated using the duration of the ground-truth PPG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The entire lag estimation process is repeated with this corrected frame timeline. For each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sequence, the drift before and after FPS correction,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90B70F-5761-1427-FC3C-96413689B8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4687" y="2451631"/>
            <a:ext cx="2811602" cy="4187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D487AD-5C02-3EE1-8AF7-22A04CC1FF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097" y="3837289"/>
            <a:ext cx="2461334" cy="4246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095F93-14C4-8BD4-5C71-17EB96CA94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1764" y="5482335"/>
            <a:ext cx="1861844" cy="54303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4A790F-6981-66B6-655F-29C4804DC3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69410" y="6714335"/>
            <a:ext cx="1804198" cy="421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126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Edge-Lag and Decision Summary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F339B-A750-38BB-0832-4898CA0BD415}"/>
              </a:ext>
            </a:extLst>
          </p:cNvPr>
          <p:cNvSpPr txBox="1"/>
          <p:nvPr/>
        </p:nvSpPr>
        <p:spPr>
          <a:xfrm>
            <a:off x="244128" y="1116335"/>
            <a:ext cx="9883243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Consolas" panose="020B0609020204030204" pitchFamily="49" charset="0"/>
              </a:rPr>
              <a:t>| seq id | delta </a:t>
            </a:r>
            <a:r>
              <a:rPr lang="en-US" sz="1100" dirty="0" err="1">
                <a:latin typeface="Consolas" panose="020B0609020204030204" pitchFamily="49" charset="0"/>
              </a:rPr>
              <a:t>fr</a:t>
            </a:r>
            <a:r>
              <a:rPr lang="en-US" sz="1100" dirty="0">
                <a:latin typeface="Consolas" panose="020B0609020204030204" pitchFamily="49" charset="0"/>
              </a:rPr>
              <a:t> | remain </a:t>
            </a:r>
            <a:r>
              <a:rPr lang="en-US" sz="1100" dirty="0" err="1">
                <a:latin typeface="Consolas" panose="020B0609020204030204" pitchFamily="49" charset="0"/>
              </a:rPr>
              <a:t>fr</a:t>
            </a:r>
            <a:r>
              <a:rPr lang="en-US" sz="1100" dirty="0">
                <a:latin typeface="Consolas" panose="020B0609020204030204" pitchFamily="49" charset="0"/>
              </a:rPr>
              <a:t> | decision     || seq id | delta </a:t>
            </a:r>
            <a:r>
              <a:rPr lang="en-US" sz="1100" dirty="0" err="1">
                <a:latin typeface="Consolas" panose="020B0609020204030204" pitchFamily="49" charset="0"/>
              </a:rPr>
              <a:t>fr</a:t>
            </a:r>
            <a:r>
              <a:rPr lang="en-US" sz="1100" dirty="0">
                <a:latin typeface="Consolas" panose="020B0609020204030204" pitchFamily="49" charset="0"/>
              </a:rPr>
              <a:t> | remain </a:t>
            </a:r>
            <a:r>
              <a:rPr lang="en-US" sz="1100" dirty="0" err="1">
                <a:latin typeface="Consolas" panose="020B0609020204030204" pitchFamily="49" charset="0"/>
              </a:rPr>
              <a:t>fr</a:t>
            </a:r>
            <a:r>
              <a:rPr lang="en-US" sz="1100" dirty="0">
                <a:latin typeface="Consolas" panose="020B0609020204030204" pitchFamily="49" charset="0"/>
              </a:rPr>
              <a:t> | decision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|--------|----------|-----------|--------------||--------|----------|-----------|--------------|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FFC000"/>
                </a:solidFill>
                <a:latin typeface="Consolas" panose="020B0609020204030204" pitchFamily="49" charset="0"/>
              </a:rPr>
              <a:t>vid 1  | 6.000    | 4.045     | FPS ADJUST   </a:t>
            </a:r>
            <a:r>
              <a:rPr lang="en-US" sz="1100" dirty="0">
                <a:latin typeface="Consolas" panose="020B0609020204030204" pitchFamily="49" charset="0"/>
              </a:rPr>
              <a:t>|| vid 33 | 23.000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10 | 1.000    | 0.000     | TRIM         </a:t>
            </a:r>
            <a:r>
              <a:rPr lang="en-US" sz="1100" dirty="0">
                <a:latin typeface="Consolas" panose="020B0609020204030204" pitchFamily="49" charset="0"/>
              </a:rPr>
              <a:t>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34 | 1.000    | 0.000     | TRIM   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11 | 5.000    | 0.000     | UNCERTAIN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35 | 2.000    | 0.601     | TRIM   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12 | 8.000    | 2.457     | UNCERTAIN    || vid 37 | 11.000   | 0.704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13 | 11.000   | 0.000     | UNCERTAIN    || vid 38 | 34.000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14 | 44.000   | 0.000     | UNCERTAIN    || vid 39 | 8.000    | 0.979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15 | 48.000   | 0.000     | UNCERTAIN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4  | 2.000    | 0.000     | TRIM   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16 | 8.000    | 0.016     | UNCERTAIN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40 | 0.000    | 0.000     | TRIM   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FFC000"/>
                </a:solidFill>
                <a:latin typeface="Consolas" panose="020B0609020204030204" pitchFamily="49" charset="0"/>
              </a:rPr>
              <a:t>vid 17 | 4.000    | 2.622     | FPS ADJUST   </a:t>
            </a:r>
            <a:r>
              <a:rPr lang="en-US" sz="1100" dirty="0">
                <a:latin typeface="Consolas" panose="020B0609020204030204" pitchFamily="49" charset="0"/>
              </a:rPr>
              <a:t>|| vid 41 | 42.000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18 | 11.000   | 0.000     | UNCERTAIN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42 | 1.000    | 0.000     | TRIM   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20 | 77.000   | 0.000     | UNCERTAIN    || vid 43 | 5.000 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22 | 0.000    | 0.000     | TRIM         </a:t>
            </a:r>
            <a:r>
              <a:rPr lang="en-US" sz="1100" dirty="0">
                <a:latin typeface="Consolas" panose="020B0609020204030204" pitchFamily="49" charset="0"/>
              </a:rPr>
              <a:t>|| vid 44 | 9.000    | 1.865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23 | 21.000   | 0.000     | UNCERTAIN    || vid 45 | 11.000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24 | 20.000   | 0.000     | UNCERTAIN    || vid 46 | 35.000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25 | 6.000    | 0.000     | UNCERTAIN    || vid 47 | 10.000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26 | 11.000   | 0.470     | UNCERTAIN    || vid 48 | 5.000 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3  | 1.000    | 0.000     | TRIM         </a:t>
            </a:r>
            <a:r>
              <a:rPr lang="en-US" sz="1100" dirty="0">
                <a:latin typeface="Consolas" panose="020B0609020204030204" pitchFamily="49" charset="0"/>
              </a:rPr>
              <a:t>|| vid 49 | 12.000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30 | 26.000   | 0.000     | UNCERTAIN    || vid 5  | 4.000    | 0.000     | UNCERTAIN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31 | 39.000   | 0.000     | UNCERTAIN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8  | 2.000    | 0.000     | TRIM   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32 | 3.000    | 0.000     | UNCERTAIN    || vid 9  | 35.000   | 0.000     | UNCERTAIN    |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endParaRPr lang="en-US" sz="1100" dirty="0">
              <a:latin typeface="Consolas" panose="020B06090202040302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onsolas" panose="020B0609020204030204" pitchFamily="49" charset="0"/>
              </a:rPr>
              <a:t>delta </a:t>
            </a:r>
            <a:r>
              <a:rPr lang="en-US" sz="1100" dirty="0" err="1">
                <a:latin typeface="Consolas" panose="020B0609020204030204" pitchFamily="49" charset="0"/>
              </a:rPr>
              <a:t>fr</a:t>
            </a:r>
            <a:r>
              <a:rPr lang="en-US" sz="1100" dirty="0">
                <a:latin typeface="Consolas" panose="020B0609020204030204" pitchFamily="49" charset="0"/>
              </a:rPr>
              <a:t>: timing drift expressed in number of video frames.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onsolas" panose="020B0609020204030204" pitchFamily="49" charset="0"/>
              </a:rPr>
              <a:t>remain </a:t>
            </a:r>
            <a:r>
              <a:rPr lang="en-US" sz="1100" dirty="0" err="1">
                <a:latin typeface="Consolas" panose="020B0609020204030204" pitchFamily="49" charset="0"/>
              </a:rPr>
              <a:t>fr</a:t>
            </a:r>
            <a:r>
              <a:rPr lang="en-US" sz="1100" dirty="0">
                <a:latin typeface="Consolas" panose="020B0609020204030204" pitchFamily="49" charset="0"/>
              </a:rPr>
              <a:t>: number of leftover frames that do not fit into the analysis windows.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endParaRPr lang="en-US" sz="13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Stable (TRIM)				Correctable (FPS ADJUST)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Minimal drift				Drift attributed to FPS mismatch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Usable with small truncation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/>
              <a:t>Problematic (UNCERTAIN)</a:t>
            </a:r>
            <a:endParaRPr lang="en-US" sz="1100" dirty="0">
              <a:latin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</a:rPr>
              <a:t>Significant drift not explained by metadata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840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Edge-Lag and Decision Summary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F339B-A750-38BB-0832-4898CA0BD415}"/>
              </a:ext>
            </a:extLst>
          </p:cNvPr>
          <p:cNvSpPr txBox="1"/>
          <p:nvPr/>
        </p:nvSpPr>
        <p:spPr>
          <a:xfrm>
            <a:off x="29225" y="4637512"/>
            <a:ext cx="3824872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latin typeface="Consolas" panose="020B0609020204030204" pitchFamily="49" charset="0"/>
              </a:rPr>
              <a:t>Statistical Overview for UBFC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Mean drift: 15.05 frames.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Standard deviation: 16.86 frames.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Minimum drift: 0 frames.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Maximum drift: 77 frames.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68897E-90F4-0D6C-76F7-EC73747CE6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0499"/>
            <a:ext cx="10693400" cy="35644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653409-1FD3-8D23-2E76-92DB3D89E45E}"/>
              </a:ext>
            </a:extLst>
          </p:cNvPr>
          <p:cNvSpPr txBox="1"/>
          <p:nvPr/>
        </p:nvSpPr>
        <p:spPr>
          <a:xfrm>
            <a:off x="4015372" y="5110580"/>
            <a:ext cx="547452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Remaining-frame statistics: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Mean: 0.344 frames.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Standard deviation: 0.867 frames.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Maximum: 4.045 frames.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75B2E7-CD91-5EA9-43FF-4B5223979860}"/>
              </a:ext>
            </a:extLst>
          </p:cNvPr>
          <p:cNvSpPr txBox="1"/>
          <p:nvPr/>
        </p:nvSpPr>
        <p:spPr>
          <a:xfrm>
            <a:off x="49418" y="6324888"/>
            <a:ext cx="547452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Decision distribution: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TRIM: 9 sequences.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FPS adjustment suggested: 2 sequences.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• UNCERTAIN: 29 sequences</a:t>
            </a:r>
          </a:p>
        </p:txBody>
      </p:sp>
    </p:spTree>
    <p:extLst>
      <p:ext uri="{BB962C8B-B14F-4D97-AF65-F5344CB8AC3E}">
        <p14:creationId xmlns:p14="http://schemas.microsoft.com/office/powerpoint/2010/main" val="3000420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>
                <a:solidFill>
                  <a:schemeClr val="accent6"/>
                </a:solidFill>
                <a:latin typeface="Caladea"/>
                <a:ea typeface="HY견고딕" pitchFamily="18" charset="-127"/>
              </a:rPr>
              <a:t>UBFC: FPS Correction Effectiveness</a:t>
            </a:r>
            <a:endParaRPr lang="en-US" altLang="ko-KR" sz="2400" dirty="0">
              <a:solidFill>
                <a:schemeClr val="accent6"/>
              </a:solidFill>
              <a:latin typeface="Caladea"/>
              <a:ea typeface="HY견고딕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F339B-A750-38BB-0832-4898CA0BD415}"/>
              </a:ext>
            </a:extLst>
          </p:cNvPr>
          <p:cNvSpPr txBox="1"/>
          <p:nvPr/>
        </p:nvSpPr>
        <p:spPr>
          <a:xfrm>
            <a:off x="244128" y="1116335"/>
            <a:ext cx="9883243" cy="5663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Consolas" panose="020B0609020204030204" pitchFamily="49" charset="0"/>
              </a:rPr>
              <a:t>| seq id | </a:t>
            </a:r>
            <a:r>
              <a:rPr lang="el-GR" sz="1100" dirty="0">
                <a:latin typeface="Consolas" panose="020B0609020204030204" pitchFamily="49" charset="0"/>
              </a:rPr>
              <a:t>Δ</a:t>
            </a:r>
            <a:r>
              <a:rPr lang="en-US" sz="1100" dirty="0" err="1">
                <a:latin typeface="Consolas" panose="020B0609020204030204" pitchFamily="49" charset="0"/>
              </a:rPr>
              <a:t>orig</a:t>
            </a:r>
            <a:r>
              <a:rPr lang="en-US" sz="1100" dirty="0">
                <a:latin typeface="Consolas" panose="020B0609020204030204" pitchFamily="49" charset="0"/>
              </a:rPr>
              <a:t>  | </a:t>
            </a:r>
            <a:r>
              <a:rPr lang="el-GR" sz="1100" dirty="0">
                <a:latin typeface="Consolas" panose="020B0609020204030204" pitchFamily="49" charset="0"/>
              </a:rPr>
              <a:t>Δ</a:t>
            </a:r>
            <a:r>
              <a:rPr lang="en-US" sz="1100" dirty="0" err="1">
                <a:latin typeface="Consolas" panose="020B0609020204030204" pitchFamily="49" charset="0"/>
              </a:rPr>
              <a:t>corr</a:t>
            </a:r>
            <a:r>
              <a:rPr lang="en-US" sz="1100" dirty="0">
                <a:latin typeface="Consolas" panose="020B0609020204030204" pitchFamily="49" charset="0"/>
              </a:rPr>
              <a:t>  | Improved? || seq id | </a:t>
            </a:r>
            <a:r>
              <a:rPr lang="el-GR" sz="1100" dirty="0">
                <a:latin typeface="Consolas" panose="020B0609020204030204" pitchFamily="49" charset="0"/>
              </a:rPr>
              <a:t>Δ</a:t>
            </a:r>
            <a:r>
              <a:rPr lang="en-US" sz="1100" dirty="0" err="1">
                <a:latin typeface="Consolas" panose="020B0609020204030204" pitchFamily="49" charset="0"/>
              </a:rPr>
              <a:t>orig</a:t>
            </a:r>
            <a:r>
              <a:rPr lang="en-US" sz="1100" dirty="0">
                <a:latin typeface="Consolas" panose="020B0609020204030204" pitchFamily="49" charset="0"/>
              </a:rPr>
              <a:t>  | </a:t>
            </a:r>
            <a:r>
              <a:rPr lang="el-GR" sz="1100" dirty="0">
                <a:latin typeface="Consolas" panose="020B0609020204030204" pitchFamily="49" charset="0"/>
              </a:rPr>
              <a:t>Δ</a:t>
            </a:r>
            <a:r>
              <a:rPr lang="en-US" sz="1100" dirty="0" err="1">
                <a:latin typeface="Consolas" panose="020B0609020204030204" pitchFamily="49" charset="0"/>
              </a:rPr>
              <a:t>corr</a:t>
            </a:r>
            <a:r>
              <a:rPr lang="en-US" sz="1100" dirty="0">
                <a:latin typeface="Consolas" panose="020B0609020204030204" pitchFamily="49" charset="0"/>
              </a:rPr>
              <a:t>  | Improved?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|--------|--------|--------|-----------||--------|--------|--------|-----------|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1  | 6.00   | 2.00   | True      </a:t>
            </a:r>
            <a:r>
              <a:rPr lang="en-US" sz="1100" dirty="0">
                <a:latin typeface="Consolas" panose="020B0609020204030204" pitchFamily="49" charset="0"/>
              </a:rPr>
              <a:t>|| vid 33 | 23.00  | 24.00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10 | 1.00   | 0.00   | True      </a:t>
            </a:r>
            <a:r>
              <a:rPr lang="en-US" sz="1100" dirty="0">
                <a:latin typeface="Consolas" panose="020B0609020204030204" pitchFamily="49" charset="0"/>
              </a:rPr>
              <a:t>|| vid 34 | 1.00   | 2.00 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11 | 5.00   | 5.00   | False     || vid 35 | 2.00   | 3.00 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12 | 8.00   | 10.00  | False 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37 | 11.00  | 10.00  | True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13 | 11.00  | 2.00   | True      </a:t>
            </a:r>
            <a:r>
              <a:rPr lang="en-US" sz="1100" dirty="0">
                <a:latin typeface="Consolas" panose="020B0609020204030204" pitchFamily="49" charset="0"/>
              </a:rPr>
              <a:t>|| vid 38 | 34.00  | 34.00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14 | 44.00  | 45.00  | False 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39 | 8.00   | 7.00   | True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15 | 48.00  | 64.00  | False 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4  | 2.00   | 1.00   | True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16 | 8.00   | 7.00   | True      </a:t>
            </a:r>
            <a:r>
              <a:rPr lang="en-US" sz="1100" dirty="0">
                <a:latin typeface="Consolas" panose="020B0609020204030204" pitchFamily="49" charset="0"/>
              </a:rPr>
              <a:t>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40 | 0.00   | 0.00   | True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17 | 4.00   | 21.00  | False     || vid 41 | 42.00  | 50.00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18 | 11.00  | 11.00  | False     || vid 42 | 1.00   | 1.00 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20 | 77.00  | 77.00  | False     || vid 43 | 5.00   | 6.00 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22 | 0.00   | 0.00   | False 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44 | 9.00   | 6.00   | True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23 | 21.00  | 20.00  | True      </a:t>
            </a:r>
            <a:r>
              <a:rPr lang="en-US" sz="1100" dirty="0">
                <a:latin typeface="Consolas" panose="020B0609020204030204" pitchFamily="49" charset="0"/>
              </a:rPr>
              <a:t>|| vid 45 | 11.00  | 12.00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24 | 20.00  | 21.00  | False 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46 | 35.00  | 34.00  | True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25 | 6.00   | 10.00  | False 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47 | 10.00  | 10.00  | True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26 | 11.00  | 10.00  | True      </a:t>
            </a:r>
            <a:r>
              <a:rPr lang="en-US" sz="1100" dirty="0">
                <a:latin typeface="Consolas" panose="020B0609020204030204" pitchFamily="49" charset="0"/>
              </a:rPr>
              <a:t>|| vid 48 | 5.00   | 23.00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3  | 1.00   | 2.00   | False     || vid 49 | 12.00  | 12.00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30 | 26.00  | 27.00  | False     || </a:t>
            </a:r>
            <a:r>
              <a:rPr lang="en-US" sz="1100" dirty="0">
                <a:solidFill>
                  <a:srgbClr val="00B050"/>
                </a:solidFill>
                <a:latin typeface="Consolas" panose="020B0609020204030204" pitchFamily="49" charset="0"/>
              </a:rPr>
              <a:t>vid 5  | 4.00   | 1.00   | True      </a:t>
            </a:r>
            <a:r>
              <a:rPr lang="en-US" sz="1100" dirty="0">
                <a:latin typeface="Consolas" panose="020B0609020204030204" pitchFamily="49" charset="0"/>
              </a:rPr>
              <a:t>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31 | 39.00  | 39.00  | False     || vid 8  | 2.00   | 2.00   | False    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vid 32 | 3.00   | 3.00   | False     || vid 9  | 35.00  | 35.00  | False     |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endParaRPr lang="en-US" sz="1100" dirty="0">
              <a:latin typeface="Consolas" panose="020B06090202040302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onsolas" panose="020B0609020204030204" pitchFamily="49" charset="0"/>
              </a:rPr>
              <a:t>∆</a:t>
            </a:r>
            <a:r>
              <a:rPr lang="en-US" sz="1100" baseline="-25000" dirty="0" err="1">
                <a:latin typeface="Consolas" panose="020B0609020204030204" pitchFamily="49" charset="0"/>
              </a:rPr>
              <a:t>orig</a:t>
            </a:r>
            <a:r>
              <a:rPr lang="en-US" sz="1100" dirty="0">
                <a:latin typeface="Consolas" panose="020B0609020204030204" pitchFamily="49" charset="0"/>
              </a:rPr>
              <a:t>: drift before FPS correction.</a:t>
            </a:r>
          </a:p>
          <a:p>
            <a:endParaRPr lang="en-US" sz="1100" dirty="0">
              <a:latin typeface="Consolas" panose="020B06090202040302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onsolas" panose="020B0609020204030204" pitchFamily="49" charset="0"/>
              </a:rPr>
              <a:t>∆</a:t>
            </a:r>
            <a:r>
              <a:rPr lang="en-US" sz="1100" baseline="-25000" dirty="0" err="1">
                <a:latin typeface="Consolas" panose="020B0609020204030204" pitchFamily="49" charset="0"/>
              </a:rPr>
              <a:t>corr</a:t>
            </a:r>
            <a:r>
              <a:rPr lang="en-US" sz="1100" dirty="0">
                <a:latin typeface="Consolas" panose="020B0609020204030204" pitchFamily="49" charset="0"/>
              </a:rPr>
              <a:t>: drift after FPS correction</a:t>
            </a:r>
          </a:p>
          <a:p>
            <a:endParaRPr lang="en-US" sz="1300" dirty="0">
              <a:latin typeface="Consolas" panose="020B0609020204030204" pitchFamily="49" charset="0"/>
            </a:endParaRPr>
          </a:p>
          <a:p>
            <a:r>
              <a:rPr lang="en-US" sz="1300" dirty="0">
                <a:latin typeface="Consolas" panose="020B0609020204030204" pitchFamily="49" charset="0"/>
              </a:rPr>
              <a:t>Summary for UBFC: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• Total sequences </a:t>
            </a:r>
            <a:r>
              <a:rPr lang="en-US" sz="1300" dirty="0" err="1">
                <a:latin typeface="Consolas" panose="020B0609020204030204" pitchFamily="49" charset="0"/>
              </a:rPr>
              <a:t>analysed</a:t>
            </a:r>
            <a:r>
              <a:rPr lang="en-US" sz="1300" dirty="0">
                <a:latin typeface="Consolas" panose="020B0609020204030204" pitchFamily="49" charset="0"/>
              </a:rPr>
              <a:t>: 40.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• FPS correction improved drift in 14 sequences.</a:t>
            </a:r>
          </a:p>
          <a:p>
            <a:r>
              <a:rPr lang="en-US" sz="1300" dirty="0">
                <a:latin typeface="Consolas" panose="020B0609020204030204" pitchFamily="49" charset="0"/>
              </a:rPr>
              <a:t>• FPS correction did not help in 26 sequences.</a:t>
            </a:r>
          </a:p>
        </p:txBody>
      </p:sp>
      <p:sp>
        <p:nvSpPr>
          <p:cNvPr id="15" name="AutoShape 4" descr="Output image">
            <a:extLst>
              <a:ext uri="{FF2B5EF4-FFF2-40B4-BE49-F238E27FC236}">
                <a16:creationId xmlns:a16="http://schemas.microsoft.com/office/drawing/2014/main" id="{6D6FBE01-F851-694A-905C-7E34796C1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0500" y="152400"/>
            <a:ext cx="10617200" cy="756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114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697D-9580-B24A-F1FC-3CF451DE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945CC2-28F9-4A66-91B1-DC51417A1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917" y="-107801"/>
            <a:ext cx="1571625" cy="747713"/>
          </a:xfrm>
          <a:prstGeom prst="rect">
            <a:avLst/>
          </a:prstGeom>
        </p:spPr>
      </p:pic>
      <p:sp>
        <p:nvSpPr>
          <p:cNvPr id="64" name="슬라이드 번호 개체 틀 2">
            <a:extLst>
              <a:ext uri="{FF2B5EF4-FFF2-40B4-BE49-F238E27FC236}">
                <a16:creationId xmlns:a16="http://schemas.microsoft.com/office/drawing/2014/main" id="{E24F6677-9527-B590-58C4-88BA25798912}"/>
              </a:ext>
            </a:extLst>
          </p:cNvPr>
          <p:cNvSpPr txBox="1">
            <a:spLocks/>
          </p:cNvSpPr>
          <p:nvPr/>
        </p:nvSpPr>
        <p:spPr>
          <a:xfrm>
            <a:off x="7925012" y="7042731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defPPr>
              <a:defRPr lang="ko-KR"/>
            </a:defPPr>
            <a:lvl1pPr marL="0" algn="r" defTabSz="995690" rtl="0" eaLnBrk="1" latinLnBrk="1" hangingPunct="1"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784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9569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9353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9138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89225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87070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84916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82761" algn="l" defTabSz="995690" rtl="0" eaLnBrk="1" latinLnBrk="1" hangingPunct="1"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597EC8-03FB-421D-BA76-5865596B8B77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3D9315-840B-297E-6DF5-E7088C14CDC7}"/>
              </a:ext>
            </a:extLst>
          </p:cNvPr>
          <p:cNvSpPr txBox="1"/>
          <p:nvPr/>
        </p:nvSpPr>
        <p:spPr>
          <a:xfrm>
            <a:off x="162124" y="115965"/>
            <a:ext cx="8327848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chemeClr val="accent6"/>
                </a:solidFill>
                <a:latin typeface="Caladea"/>
                <a:ea typeface="HY견고딕" pitchFamily="18" charset="-127"/>
              </a:rPr>
              <a:t>Appendix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2023B25-A938-3C4F-8BC6-DB8A2AC5B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1219310"/>
              </p:ext>
            </p:extLst>
          </p:nvPr>
        </p:nvGraphicFramePr>
        <p:xfrm>
          <a:off x="162124" y="1044327"/>
          <a:ext cx="10369152" cy="5933275"/>
        </p:xfrm>
        <a:graphic>
          <a:graphicData uri="http://schemas.openxmlformats.org/drawingml/2006/table">
            <a:tbl>
              <a:tblPr/>
              <a:tblGrid>
                <a:gridCol w="1296144">
                  <a:extLst>
                    <a:ext uri="{9D8B030D-6E8A-4147-A177-3AD203B41FA5}">
                      <a16:colId xmlns:a16="http://schemas.microsoft.com/office/drawing/2014/main" val="23407837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782779315"/>
                    </a:ext>
                  </a:extLst>
                </a:gridCol>
                <a:gridCol w="3744416">
                  <a:extLst>
                    <a:ext uri="{9D8B030D-6E8A-4147-A177-3AD203B41FA5}">
                      <a16:colId xmlns:a16="http://schemas.microsoft.com/office/drawing/2014/main" val="2716765803"/>
                    </a:ext>
                  </a:extLst>
                </a:gridCol>
                <a:gridCol w="3528392">
                  <a:extLst>
                    <a:ext uri="{9D8B030D-6E8A-4147-A177-3AD203B41FA5}">
                      <a16:colId xmlns:a16="http://schemas.microsoft.com/office/drawing/2014/main" val="3656439436"/>
                    </a:ext>
                  </a:extLst>
                </a:gridCol>
              </a:tblGrid>
              <a:tr h="157935">
                <a:tc>
                  <a:txBody>
                    <a:bodyPr/>
                    <a:lstStyle/>
                    <a:p>
                      <a:r>
                        <a:rPr lang="en-US" sz="800" b="1" dirty="0"/>
                        <a:t>Abbreviation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Full Form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Meaning / Description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Context in Discussion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727380"/>
                  </a:ext>
                </a:extLst>
              </a:tr>
              <a:tr h="491375">
                <a:tc>
                  <a:txBody>
                    <a:bodyPr/>
                    <a:lstStyle/>
                    <a:p>
                      <a:r>
                        <a:rPr lang="en-US" sz="800" b="1" dirty="0"/>
                        <a:t>BCG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Ballistocardiography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Measurement of tiny body movements caused by cardiac ejection of blood (mechanical action of the heart).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Used as the </a:t>
                      </a:r>
                      <a:r>
                        <a:rPr lang="en-US" sz="800" b="1"/>
                        <a:t>start reference signal</a:t>
                      </a:r>
                      <a:r>
                        <a:rPr lang="en-US" sz="800"/>
                        <a:t> in Yoshioka et al. (2020) via 24 GHz radar to compute PTT.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795554"/>
                  </a:ext>
                </a:extLst>
              </a:tr>
              <a:tr h="491375">
                <a:tc>
                  <a:txBody>
                    <a:bodyPr/>
                    <a:lstStyle/>
                    <a:p>
                      <a:r>
                        <a:rPr lang="en-US" sz="800" b="1" dirty="0"/>
                        <a:t>PPG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Photoplethysmography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Optical measurement of blood volume changes in tissue using a light source and detector (usually contact-based).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Conventional </a:t>
                      </a:r>
                      <a:r>
                        <a:rPr lang="en-US" sz="800" b="1"/>
                        <a:t>contact sensor</a:t>
                      </a:r>
                      <a:r>
                        <a:rPr lang="en-US" sz="800"/>
                        <a:t> reference for pulse arrival.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09777"/>
                  </a:ext>
                </a:extLst>
              </a:tr>
              <a:tr h="424063">
                <a:tc>
                  <a:txBody>
                    <a:bodyPr/>
                    <a:lstStyle/>
                    <a:p>
                      <a:r>
                        <a:rPr lang="en-US" sz="800" b="1"/>
                        <a:t>iPPG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/>
                        <a:t>Imaging Photoplethysmography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PPG signal extracted from </a:t>
                      </a:r>
                      <a:r>
                        <a:rPr lang="en-US" sz="800" b="1" dirty="0"/>
                        <a:t>video frames</a:t>
                      </a:r>
                      <a:r>
                        <a:rPr lang="en-US" sz="800" dirty="0"/>
                        <a:t> (facial brightness changes), without physical contact.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Used in Yoshioka et al. (2020) for </a:t>
                      </a:r>
                      <a:r>
                        <a:rPr lang="en-US" sz="800" b="1"/>
                        <a:t>noncontact pulse detection</a:t>
                      </a:r>
                      <a:r>
                        <a:rPr lang="en-US" sz="800"/>
                        <a:t>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4610254"/>
                  </a:ext>
                </a:extLst>
              </a:tr>
              <a:tr h="424063">
                <a:tc>
                  <a:txBody>
                    <a:bodyPr/>
                    <a:lstStyle/>
                    <a:p>
                      <a:r>
                        <a:rPr lang="en-US" sz="800" b="1"/>
                        <a:t>rPPG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/>
                        <a:t>Remote Photoplethysmography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General term for noncontact PPG obtained from camera images (essentially same as iPPG).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The main signal type in current research focus.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0466269"/>
                  </a:ext>
                </a:extLst>
              </a:tr>
              <a:tr h="424063">
                <a:tc>
                  <a:txBody>
                    <a:bodyPr/>
                    <a:lstStyle/>
                    <a:p>
                      <a:r>
                        <a:rPr lang="en-US" sz="800" b="1"/>
                        <a:t>PTT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/>
                        <a:t>Pulse Transit Time</a:t>
                      </a:r>
                      <a:endParaRPr lang="en-US" sz="800" dirty="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Time taken for the arterial pulse wave to travel between two sites (from heart to face).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Key physiological metric; shorter PTT means higher arterial stiffness or BP.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8078146"/>
                  </a:ext>
                </a:extLst>
              </a:tr>
              <a:tr h="491375">
                <a:tc>
                  <a:txBody>
                    <a:bodyPr/>
                    <a:lstStyle/>
                    <a:p>
                      <a:r>
                        <a:rPr lang="en-US" sz="800" b="1"/>
                        <a:t>PAT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Pulse Arrival Time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Time between ECG R-wave (electrical heart activation) and PPG pulse arrival; includes </a:t>
                      </a:r>
                      <a:r>
                        <a:rPr lang="en-US" sz="800" b="1" dirty="0"/>
                        <a:t>pre-ejection period (PEP)</a:t>
                      </a:r>
                      <a:r>
                        <a:rPr lang="en-US" sz="800" dirty="0"/>
                        <a:t>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Used in both papers as a </a:t>
                      </a:r>
                      <a:r>
                        <a:rPr lang="en-US" sz="800" b="1"/>
                        <a:t>surrogate</a:t>
                      </a:r>
                      <a:r>
                        <a:rPr lang="en-US" sz="800"/>
                        <a:t> of true PTT.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554595"/>
                  </a:ext>
                </a:extLst>
              </a:tr>
              <a:tr h="424063">
                <a:tc>
                  <a:txBody>
                    <a:bodyPr/>
                    <a:lstStyle/>
                    <a:p>
                      <a:r>
                        <a:rPr lang="en-US" sz="800" b="1"/>
                        <a:t>PEP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Pre-Ejection Period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Time between the ECG R-wave and the actual mechanical ejection of blood from the heart.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Present in PAT, but </a:t>
                      </a:r>
                      <a:r>
                        <a:rPr lang="en-US" sz="800" b="1"/>
                        <a:t>not</a:t>
                      </a:r>
                      <a:r>
                        <a:rPr lang="en-US" sz="800"/>
                        <a:t> in PTT (BCG avoids this).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3921848"/>
                  </a:ext>
                </a:extLst>
              </a:tr>
              <a:tr h="356752">
                <a:tc>
                  <a:txBody>
                    <a:bodyPr/>
                    <a:lstStyle/>
                    <a:p>
                      <a:r>
                        <a:rPr lang="en-US" sz="800" b="1"/>
                        <a:t>ECG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Electrocardiography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Electrical recording of heart activity, especially used to detect the R-wave for timing.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Contact reference for PAT in Block et al. (2020).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5453763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en-US" sz="800" b="1"/>
                        <a:t>BP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Blood Pressure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Force exerted by circulating blood on arterial walls.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Physiological parameter correlated </a:t>
                      </a:r>
                      <a:r>
                        <a:rPr lang="en-US" sz="800" b="1"/>
                        <a:t>inversely</a:t>
                      </a:r>
                      <a:r>
                        <a:rPr lang="en-US" sz="800"/>
                        <a:t> with PTT.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7934973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en-US" sz="800" b="1"/>
                        <a:t>SBP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Systolic Blood Pressure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Maximum arterial pressure during heart contraction.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Strongly correlated with PTT (R ≈ −0.6).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6631409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en-US" sz="800" b="1"/>
                        <a:t>DBP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Diastolic Blood Pressure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Minimum arterial pressure during heart relaxation.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Weak correlation with PTT (R ≈ −0.2).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4002393"/>
                  </a:ext>
                </a:extLst>
              </a:tr>
              <a:tr h="356752">
                <a:tc>
                  <a:txBody>
                    <a:bodyPr/>
                    <a:lstStyle/>
                    <a:p>
                      <a:r>
                        <a:rPr lang="en-US" sz="800" b="1"/>
                        <a:t>ROI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Region of Interest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Specific area in an image or video used for signal extraction (e.g., cheek or forehead).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In iPPG, face ROI used for green-channel brightness analysis.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9235589"/>
                  </a:ext>
                </a:extLst>
              </a:tr>
              <a:tr h="289441">
                <a:tc>
                  <a:txBody>
                    <a:bodyPr/>
                    <a:lstStyle/>
                    <a:p>
                      <a:r>
                        <a:rPr lang="en-US" sz="800" b="1"/>
                        <a:t>FIR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Finite Impulse Response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Type of digital filter used for signal smoothing and noise reduction.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Applied to iPPG signals before peak detection in Yoshioka et al. (2020).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8163924"/>
                  </a:ext>
                </a:extLst>
              </a:tr>
              <a:tr h="289441">
                <a:tc>
                  <a:txBody>
                    <a:bodyPr/>
                    <a:lstStyle/>
                    <a:p>
                      <a:r>
                        <a:rPr lang="en-US" sz="800" b="1"/>
                        <a:t>cPTT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Conventional Pulse Transit Time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PTT derived from </a:t>
                      </a:r>
                      <a:r>
                        <a:rPr lang="en-US" sz="800" b="1"/>
                        <a:t>ECG–PPG</a:t>
                      </a:r>
                      <a:r>
                        <a:rPr lang="en-US" sz="800"/>
                        <a:t> or </a:t>
                      </a:r>
                      <a:r>
                        <a:rPr lang="en-US" sz="800" b="1"/>
                        <a:t>PPG–PPG</a:t>
                      </a:r>
                      <a:r>
                        <a:rPr lang="en-US" sz="800"/>
                        <a:t> pairs using contact sensors.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Defined in Block et al. (2020) as traditional, contact-based methods.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2911810"/>
                  </a:ext>
                </a:extLst>
              </a:tr>
              <a:tr h="289441">
                <a:tc>
                  <a:txBody>
                    <a:bodyPr/>
                    <a:lstStyle/>
                    <a:p>
                      <a:r>
                        <a:rPr lang="en-US" sz="800" b="1"/>
                        <a:t>dPTT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Differential Pulse Transit Time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Time difference between two distal PPGs (e.g., ear–toe).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Represents the </a:t>
                      </a:r>
                      <a:r>
                        <a:rPr lang="en-US" sz="800" b="1" dirty="0"/>
                        <a:t>difference of two PTTs</a:t>
                      </a:r>
                      <a:r>
                        <a:rPr lang="en-US" sz="800" dirty="0"/>
                        <a:t>, not a true PTT.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6564356"/>
                  </a:ext>
                </a:extLst>
              </a:tr>
              <a:tr h="356752">
                <a:tc>
                  <a:txBody>
                    <a:bodyPr/>
                    <a:lstStyle/>
                    <a:p>
                      <a:r>
                        <a:rPr lang="en-US" sz="800" b="1"/>
                        <a:t>PATfoot / PPG foot</a:t>
                      </a:r>
                      <a:endParaRPr lang="en-US" sz="800"/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—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The </a:t>
                      </a:r>
                      <a:r>
                        <a:rPr lang="en-US" sz="800" b="1"/>
                        <a:t>waveform onset</a:t>
                      </a:r>
                      <a:r>
                        <a:rPr lang="en-US" sz="800"/>
                        <a:t> (foot) used as a reliable timing marker for pulse arrival.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Identified in Block et al. (2020) as more consistent than the peak.</a:t>
                      </a:r>
                    </a:p>
                  </a:txBody>
                  <a:tcPr marL="16336" marR="16336" marT="8168" marB="81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2774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97178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19831</TotalTime>
  <Words>1879</Words>
  <Application>Microsoft Office PowerPoint</Application>
  <PresentationFormat>Custom</PresentationFormat>
  <Paragraphs>234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Caladea</vt:lpstr>
      <vt:lpstr>HY견고딕</vt:lpstr>
      <vt:lpstr>HY중고딕</vt:lpstr>
      <vt:lpstr>맑은 고딕</vt:lpstr>
      <vt:lpstr>Arial</vt:lpstr>
      <vt:lpstr>Consolas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XP SP3 FINAL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Rafsan Jany</cp:lastModifiedBy>
  <cp:revision>331</cp:revision>
  <cp:lastPrinted>2012-01-03T07:03:32Z</cp:lastPrinted>
  <dcterms:created xsi:type="dcterms:W3CDTF">2011-12-29T06:45:05Z</dcterms:created>
  <dcterms:modified xsi:type="dcterms:W3CDTF">2025-11-23T08:42:12Z</dcterms:modified>
</cp:coreProperties>
</file>